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8288000" cy="10287000"/>
  <p:notesSz cx="6858000" cy="9144000"/>
  <p:embeddedFontLst>
    <p:embeddedFont>
      <p:font typeface="Calibri (MS) Bold" panose="020B0604020202020204" charset="0"/>
      <p:regular r:id="rId45"/>
    </p:embeddedFont>
    <p:embeddedFont>
      <p:font typeface="League Spartan" panose="020B0604020202020204" charset="0"/>
      <p:regular r:id="rId46"/>
    </p:embeddedFont>
    <p:embeddedFont>
      <p:font typeface="Open Sans 1" panose="020B0604020202020204" charset="0"/>
      <p:regular r:id="rId47"/>
    </p:embeddedFont>
    <p:embeddedFont>
      <p:font typeface="Open Sans 1 Bold" panose="020B0604020202020204" charset="0"/>
      <p:regular r:id="rId48"/>
    </p:embeddedFont>
    <p:embeddedFont>
      <p:font typeface="Open Sans 2" panose="020B0604020202020204" charset="0"/>
      <p:regular r:id="rId49"/>
    </p:embeddedFont>
    <p:embeddedFont>
      <p:font typeface="Open Sans 2 Bold" panose="020B0604020202020204" charset="0"/>
      <p:regular r:id="rId50"/>
    </p:embeddedFont>
    <p:embeddedFont>
      <p:font typeface="Open Sans 2 Bold Italics" panose="020B0604020202020204" charset="0"/>
      <p:regular r:id="rId51"/>
    </p:embeddedFont>
    <p:embeddedFont>
      <p:font typeface="Raleway" pitchFamily="2" charset="0"/>
      <p:regular r:id="rId52"/>
    </p:embeddedFont>
    <p:embeddedFont>
      <p:font typeface="Raleway Bold" panose="020B0604020202020204" charset="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4.png"/><Relationship Id="rId7" Type="http://schemas.openxmlformats.org/officeDocument/2006/relationships/image" Target="../media/image17.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jpeg"/><Relationship Id="rId10" Type="http://schemas.openxmlformats.org/officeDocument/2006/relationships/image" Target="../media/image2.svg"/><Relationship Id="rId4" Type="http://schemas.openxmlformats.org/officeDocument/2006/relationships/image" Target="../media/image19.png"/><Relationship Id="rId9"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10" Type="http://schemas.openxmlformats.org/officeDocument/2006/relationships/image" Target="../media/image2.svg"/><Relationship Id="rId4" Type="http://schemas.openxmlformats.org/officeDocument/2006/relationships/image" Target="../media/image25.svg"/><Relationship Id="rId9" Type="http://schemas.openxmlformats.org/officeDocument/2006/relationships/image" Target="../media/image30.svg"/></Relationships>
</file>

<file path=ppt/slides/_rels/slide13.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4.png"/><Relationship Id="rId7" Type="http://schemas.openxmlformats.org/officeDocument/2006/relationships/image" Target="../media/image34.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 Id="rId9"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4.png"/><Relationship Id="rId7" Type="http://schemas.openxmlformats.org/officeDocument/2006/relationships/image" Target="../media/image39.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0.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20.jpe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0.jpe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61.svg"/><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7.svg"/></Relationships>
</file>

<file path=ppt/slides/_rels/slide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E1F6"/>
        </a:solidFill>
        <a:effectLst/>
      </p:bgPr>
    </p:bg>
    <p:spTree>
      <p:nvGrpSpPr>
        <p:cNvPr id="1" name=""/>
        <p:cNvGrpSpPr/>
        <p:nvPr/>
      </p:nvGrpSpPr>
      <p:grpSpPr>
        <a:xfrm>
          <a:off x="0" y="0"/>
          <a:ext cx="0" cy="0"/>
          <a:chOff x="0" y="0"/>
          <a:chExt cx="0" cy="0"/>
        </a:xfrm>
      </p:grpSpPr>
      <p:sp>
        <p:nvSpPr>
          <p:cNvPr id="2" name="Freeform 2"/>
          <p:cNvSpPr/>
          <p:nvPr/>
        </p:nvSpPr>
        <p:spPr>
          <a:xfrm>
            <a:off x="16375961" y="3791277"/>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4318561" y="636562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9925644">
            <a:off x="-1308266" y="2228127"/>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flipH="1" flipV="1">
            <a:off x="-183904" y="-164974"/>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2220604" y="3298576"/>
            <a:ext cx="13285417" cy="2085975"/>
          </a:xfrm>
          <a:prstGeom prst="rect">
            <a:avLst/>
          </a:prstGeom>
        </p:spPr>
        <p:txBody>
          <a:bodyPr lIns="0" tIns="0" rIns="0" bIns="0" rtlCol="0" anchor="t">
            <a:spAutoFit/>
          </a:bodyPr>
          <a:lstStyle/>
          <a:p>
            <a:pPr marL="0" lvl="0" indent="0" algn="ctr">
              <a:lnSpc>
                <a:spcPts val="8279"/>
              </a:lnSpc>
              <a:spcBef>
                <a:spcPct val="0"/>
              </a:spcBef>
            </a:pPr>
            <a:r>
              <a:rPr lang="en-US" sz="6899" spc="482">
                <a:solidFill>
                  <a:srgbClr val="3D5E89"/>
                </a:solidFill>
                <a:latin typeface="League Spartan"/>
                <a:ea typeface="League Spartan"/>
                <a:cs typeface="League Spartan"/>
                <a:sym typeface="League Spartan"/>
              </a:rPr>
              <a:t>PROYECTO DE GESTIÓN DE DOCUMENTOS</a:t>
            </a:r>
          </a:p>
        </p:txBody>
      </p:sp>
      <p:sp>
        <p:nvSpPr>
          <p:cNvPr id="7" name="TextBox 7"/>
          <p:cNvSpPr txBox="1"/>
          <p:nvPr/>
        </p:nvSpPr>
        <p:spPr>
          <a:xfrm>
            <a:off x="3129087" y="6869822"/>
            <a:ext cx="1863884" cy="417195"/>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3D5E89"/>
                </a:solidFill>
                <a:latin typeface="League Spartan"/>
                <a:ea typeface="League Spartan"/>
                <a:cs typeface="League Spartan"/>
                <a:sym typeface="League Spartan"/>
              </a:rPr>
              <a:t>Integrantes:</a:t>
            </a:r>
          </a:p>
        </p:txBody>
      </p:sp>
      <p:sp>
        <p:nvSpPr>
          <p:cNvPr id="8" name="Freeform 8"/>
          <p:cNvSpPr/>
          <p:nvPr/>
        </p:nvSpPr>
        <p:spPr>
          <a:xfrm>
            <a:off x="10723728" y="684357"/>
            <a:ext cx="3322190" cy="1208069"/>
          </a:xfrm>
          <a:custGeom>
            <a:avLst/>
            <a:gdLst/>
            <a:ahLst/>
            <a:cxnLst/>
            <a:rect l="l" t="t" r="r" b="b"/>
            <a:pathLst>
              <a:path w="3322190" h="1208069">
                <a:moveTo>
                  <a:pt x="0" y="0"/>
                </a:moveTo>
                <a:lnTo>
                  <a:pt x="3322191" y="0"/>
                </a:lnTo>
                <a:lnTo>
                  <a:pt x="3322191" y="1208069"/>
                </a:lnTo>
                <a:lnTo>
                  <a:pt x="0" y="1208069"/>
                </a:lnTo>
                <a:lnTo>
                  <a:pt x="0" y="0"/>
                </a:lnTo>
                <a:close/>
              </a:path>
            </a:pathLst>
          </a:custGeom>
          <a:blipFill>
            <a:blip r:embed="rId4"/>
            <a:stretch>
              <a:fillRect/>
            </a:stretch>
          </a:blipFill>
        </p:spPr>
        <p:txBody>
          <a:bodyPr/>
          <a:lstStyle/>
          <a:p>
            <a:endParaRPr lang="en-US"/>
          </a:p>
        </p:txBody>
      </p:sp>
      <p:sp>
        <p:nvSpPr>
          <p:cNvPr id="9" name="Freeform 9"/>
          <p:cNvSpPr/>
          <p:nvPr/>
        </p:nvSpPr>
        <p:spPr>
          <a:xfrm>
            <a:off x="15158913" y="988684"/>
            <a:ext cx="2281643" cy="2533941"/>
          </a:xfrm>
          <a:custGeom>
            <a:avLst/>
            <a:gdLst/>
            <a:ahLst/>
            <a:cxnLst/>
            <a:rect l="l" t="t" r="r" b="b"/>
            <a:pathLst>
              <a:path w="2281643" h="2533941">
                <a:moveTo>
                  <a:pt x="0" y="0"/>
                </a:moveTo>
                <a:lnTo>
                  <a:pt x="2281644" y="0"/>
                </a:lnTo>
                <a:lnTo>
                  <a:pt x="2281644" y="2533940"/>
                </a:lnTo>
                <a:lnTo>
                  <a:pt x="0" y="2533940"/>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5141162" y="6936497"/>
            <a:ext cx="2827395" cy="1028700"/>
          </a:xfrm>
          <a:prstGeom prst="rect">
            <a:avLst/>
          </a:prstGeom>
        </p:spPr>
        <p:txBody>
          <a:bodyPr lIns="0" tIns="0" rIns="0" bIns="0" rtlCol="0" anchor="t">
            <a:spAutoFit/>
          </a:bodyPr>
          <a:lstStyle/>
          <a:p>
            <a:pPr algn="l">
              <a:lnSpc>
                <a:spcPts val="2760"/>
              </a:lnSpc>
            </a:pPr>
            <a:r>
              <a:rPr lang="en-US" sz="2300" b="1">
                <a:solidFill>
                  <a:srgbClr val="3D5E89"/>
                </a:solidFill>
                <a:latin typeface="League Spartan"/>
                <a:ea typeface="League Spartan"/>
                <a:cs typeface="League Spartan"/>
                <a:sym typeface="League Spartan"/>
              </a:rPr>
              <a:t>Eduardo Kusar</a:t>
            </a:r>
          </a:p>
          <a:p>
            <a:pPr algn="l">
              <a:lnSpc>
                <a:spcPts val="2760"/>
              </a:lnSpc>
            </a:pPr>
            <a:r>
              <a:rPr lang="en-US" sz="2300" b="1">
                <a:solidFill>
                  <a:srgbClr val="3D5E89"/>
                </a:solidFill>
                <a:latin typeface="League Spartan"/>
                <a:ea typeface="League Spartan"/>
                <a:cs typeface="League Spartan"/>
                <a:sym typeface="League Spartan"/>
              </a:rPr>
              <a:t>Nicolas Vidal</a:t>
            </a:r>
          </a:p>
          <a:p>
            <a:pPr algn="l">
              <a:lnSpc>
                <a:spcPts val="2760"/>
              </a:lnSpc>
            </a:pPr>
            <a:r>
              <a:rPr lang="en-US" sz="2300" b="1">
                <a:solidFill>
                  <a:srgbClr val="3D5E89"/>
                </a:solidFill>
                <a:latin typeface="League Spartan"/>
                <a:ea typeface="League Spartan"/>
                <a:cs typeface="League Spartan"/>
                <a:sym typeface="League Spartan"/>
              </a:rPr>
              <a:t>Kevin Soto</a:t>
            </a:r>
          </a:p>
        </p:txBody>
      </p:sp>
      <p:sp>
        <p:nvSpPr>
          <p:cNvPr id="11" name="TextBox 11"/>
          <p:cNvSpPr txBox="1"/>
          <p:nvPr/>
        </p:nvSpPr>
        <p:spPr>
          <a:xfrm>
            <a:off x="3484746" y="8111625"/>
            <a:ext cx="1508224" cy="417195"/>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3D5E89"/>
                </a:solidFill>
                <a:latin typeface="League Spartan"/>
                <a:ea typeface="League Spartan"/>
                <a:cs typeface="League Spartan"/>
                <a:sym typeface="League Spartan"/>
              </a:rPr>
              <a:t>Profesor:</a:t>
            </a:r>
          </a:p>
        </p:txBody>
      </p:sp>
      <p:sp>
        <p:nvSpPr>
          <p:cNvPr id="12" name="TextBox 12"/>
          <p:cNvSpPr txBox="1"/>
          <p:nvPr/>
        </p:nvSpPr>
        <p:spPr>
          <a:xfrm>
            <a:off x="5112587" y="8195445"/>
            <a:ext cx="6472908" cy="342900"/>
          </a:xfrm>
          <a:prstGeom prst="rect">
            <a:avLst/>
          </a:prstGeom>
        </p:spPr>
        <p:txBody>
          <a:bodyPr lIns="0" tIns="0" rIns="0" bIns="0" rtlCol="0" anchor="t">
            <a:spAutoFit/>
          </a:bodyPr>
          <a:lstStyle/>
          <a:p>
            <a:pPr algn="l">
              <a:lnSpc>
                <a:spcPts val="2760"/>
              </a:lnSpc>
            </a:pPr>
            <a:r>
              <a:rPr lang="en-US" sz="2300" b="1">
                <a:solidFill>
                  <a:srgbClr val="3D5E89"/>
                </a:solidFill>
                <a:latin typeface="League Spartan"/>
                <a:ea typeface="League Spartan"/>
                <a:cs typeface="League Spartan"/>
                <a:sym typeface="League Spartan"/>
              </a:rPr>
              <a:t>MAURICIO CARLOS FIGUEROA COLARTE</a:t>
            </a:r>
          </a:p>
        </p:txBody>
      </p:sp>
      <p:sp>
        <p:nvSpPr>
          <p:cNvPr id="13" name="TextBox 13"/>
          <p:cNvSpPr txBox="1"/>
          <p:nvPr/>
        </p:nvSpPr>
        <p:spPr>
          <a:xfrm>
            <a:off x="3084629" y="8681220"/>
            <a:ext cx="1908341" cy="417195"/>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3D5E89"/>
                </a:solidFill>
                <a:latin typeface="League Spartan"/>
                <a:ea typeface="League Spartan"/>
                <a:cs typeface="League Spartan"/>
                <a:sym typeface="League Spartan"/>
              </a:rPr>
              <a:t>Asignatura:</a:t>
            </a:r>
          </a:p>
        </p:txBody>
      </p:sp>
      <p:sp>
        <p:nvSpPr>
          <p:cNvPr id="14" name="TextBox 14"/>
          <p:cNvSpPr txBox="1"/>
          <p:nvPr/>
        </p:nvSpPr>
        <p:spPr>
          <a:xfrm>
            <a:off x="5112587" y="8747895"/>
            <a:ext cx="6472908" cy="342900"/>
          </a:xfrm>
          <a:prstGeom prst="rect">
            <a:avLst/>
          </a:prstGeom>
        </p:spPr>
        <p:txBody>
          <a:bodyPr lIns="0" tIns="0" rIns="0" bIns="0" rtlCol="0" anchor="t">
            <a:spAutoFit/>
          </a:bodyPr>
          <a:lstStyle/>
          <a:p>
            <a:pPr algn="l">
              <a:lnSpc>
                <a:spcPts val="2760"/>
              </a:lnSpc>
            </a:pPr>
            <a:r>
              <a:rPr lang="en-US" sz="2300" b="1">
                <a:solidFill>
                  <a:srgbClr val="3D5E89"/>
                </a:solidFill>
                <a:latin typeface="League Spartan"/>
                <a:ea typeface="League Spartan"/>
                <a:cs typeface="League Spartan"/>
                <a:sym typeface="League Spartan"/>
              </a:rPr>
              <a:t>Capstone_003D</a:t>
            </a:r>
          </a:p>
        </p:txBody>
      </p:sp>
      <p:sp>
        <p:nvSpPr>
          <p:cNvPr id="15" name="TextBox 15"/>
          <p:cNvSpPr txBox="1"/>
          <p:nvPr/>
        </p:nvSpPr>
        <p:spPr>
          <a:xfrm>
            <a:off x="6889980" y="9507880"/>
            <a:ext cx="5079907" cy="685800"/>
          </a:xfrm>
          <a:prstGeom prst="rect">
            <a:avLst/>
          </a:prstGeom>
        </p:spPr>
        <p:txBody>
          <a:bodyPr lIns="0" tIns="0" rIns="0" bIns="0" rtlCol="0" anchor="t">
            <a:spAutoFit/>
          </a:bodyPr>
          <a:lstStyle/>
          <a:p>
            <a:pPr algn="ctr">
              <a:lnSpc>
                <a:spcPts val="2760"/>
              </a:lnSpc>
            </a:pPr>
            <a:r>
              <a:rPr lang="en-US" sz="2300" b="1">
                <a:solidFill>
                  <a:srgbClr val="3D5E89"/>
                </a:solidFill>
                <a:latin typeface="League Spartan"/>
                <a:ea typeface="League Spartan"/>
                <a:cs typeface="League Spartan"/>
                <a:sym typeface="League Spartan"/>
              </a:rPr>
              <a:t>Viña del Mar </a:t>
            </a:r>
          </a:p>
          <a:p>
            <a:pPr algn="ctr">
              <a:lnSpc>
                <a:spcPts val="2760"/>
              </a:lnSpc>
            </a:pPr>
            <a:r>
              <a:rPr lang="en-US" sz="2300" b="1">
                <a:solidFill>
                  <a:srgbClr val="3D5E89"/>
                </a:solidFill>
                <a:latin typeface="League Spartan"/>
                <a:ea typeface="League Spartan"/>
                <a:cs typeface="League Spartan"/>
                <a:sym typeface="League Spartan"/>
              </a:rPr>
              <a:t>6 de octubre 2026</a:t>
            </a:r>
          </a:p>
        </p:txBody>
      </p:sp>
      <p:sp>
        <p:nvSpPr>
          <p:cNvPr id="16" name="TextBox 1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E1F6"/>
        </a:solidFill>
        <a:effectLst/>
      </p:bgPr>
    </p:bg>
    <p:spTree>
      <p:nvGrpSpPr>
        <p:cNvPr id="1" name=""/>
        <p:cNvGrpSpPr/>
        <p:nvPr/>
      </p:nvGrpSpPr>
      <p:grpSpPr>
        <a:xfrm>
          <a:off x="0" y="0"/>
          <a:ext cx="0" cy="0"/>
          <a:chOff x="0" y="0"/>
          <a:chExt cx="0" cy="0"/>
        </a:xfrm>
      </p:grpSpPr>
      <p:sp>
        <p:nvSpPr>
          <p:cNvPr id="2" name="Freeform 2"/>
          <p:cNvSpPr/>
          <p:nvPr/>
        </p:nvSpPr>
        <p:spPr>
          <a:xfrm flipH="1" flipV="1">
            <a:off x="-682954" y="-135063"/>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4173200" y="748649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5373192" y="0"/>
            <a:ext cx="2914808" cy="3237118"/>
          </a:xfrm>
          <a:custGeom>
            <a:avLst/>
            <a:gdLst/>
            <a:ahLst/>
            <a:cxnLst/>
            <a:rect l="l" t="t" r="r" b="b"/>
            <a:pathLst>
              <a:path w="2914808" h="3237118">
                <a:moveTo>
                  <a:pt x="0" y="0"/>
                </a:moveTo>
                <a:lnTo>
                  <a:pt x="2914808" y="0"/>
                </a:lnTo>
                <a:lnTo>
                  <a:pt x="2914808" y="3237118"/>
                </a:lnTo>
                <a:lnTo>
                  <a:pt x="0" y="3237118"/>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7455142" y="1303212"/>
            <a:ext cx="4949755" cy="1228725"/>
          </a:xfrm>
          <a:prstGeom prst="rect">
            <a:avLst/>
          </a:prstGeom>
        </p:spPr>
        <p:txBody>
          <a:bodyPr lIns="0" tIns="0" rIns="0" bIns="0" rtlCol="0" anchor="t">
            <a:spAutoFit/>
          </a:bodyPr>
          <a:lstStyle/>
          <a:p>
            <a:pPr marL="0" lvl="0" indent="0" algn="l">
              <a:lnSpc>
                <a:spcPts val="9600"/>
              </a:lnSpc>
              <a:spcBef>
                <a:spcPct val="0"/>
              </a:spcBef>
            </a:pPr>
            <a:r>
              <a:rPr lang="en-US" sz="8000" b="1" u="none">
                <a:solidFill>
                  <a:srgbClr val="3D5E89"/>
                </a:solidFill>
                <a:latin typeface="League Spartan"/>
                <a:ea typeface="League Spartan"/>
                <a:cs typeface="League Spartan"/>
                <a:sym typeface="League Spartan"/>
              </a:rPr>
              <a:t>Índice</a:t>
            </a:r>
          </a:p>
        </p:txBody>
      </p:sp>
      <p:sp>
        <p:nvSpPr>
          <p:cNvPr id="6" name="TextBox 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02</a:t>
            </a:r>
          </a:p>
        </p:txBody>
      </p:sp>
      <p:sp>
        <p:nvSpPr>
          <p:cNvPr id="7" name="Freeform 7"/>
          <p:cNvSpPr/>
          <p:nvPr/>
        </p:nvSpPr>
        <p:spPr>
          <a:xfrm>
            <a:off x="2245916" y="32371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3114596" y="33102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Contexto</a:t>
            </a:r>
          </a:p>
        </p:txBody>
      </p:sp>
      <p:sp>
        <p:nvSpPr>
          <p:cNvPr id="9" name="TextBox 9"/>
          <p:cNvSpPr txBox="1"/>
          <p:nvPr/>
        </p:nvSpPr>
        <p:spPr>
          <a:xfrm>
            <a:off x="2275439" y="33865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a:t>
            </a:r>
          </a:p>
        </p:txBody>
      </p:sp>
      <p:sp>
        <p:nvSpPr>
          <p:cNvPr id="10" name="Freeform 10"/>
          <p:cNvSpPr/>
          <p:nvPr/>
        </p:nvSpPr>
        <p:spPr>
          <a:xfrm>
            <a:off x="2245916" y="41515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3114596" y="42246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Problema</a:t>
            </a:r>
          </a:p>
        </p:txBody>
      </p:sp>
      <p:sp>
        <p:nvSpPr>
          <p:cNvPr id="12" name="TextBox 12"/>
          <p:cNvSpPr txBox="1"/>
          <p:nvPr/>
        </p:nvSpPr>
        <p:spPr>
          <a:xfrm>
            <a:off x="2275439" y="43009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2</a:t>
            </a:r>
          </a:p>
        </p:txBody>
      </p:sp>
      <p:sp>
        <p:nvSpPr>
          <p:cNvPr id="13" name="Freeform 13"/>
          <p:cNvSpPr/>
          <p:nvPr/>
        </p:nvSpPr>
        <p:spPr>
          <a:xfrm>
            <a:off x="2245916" y="50659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3114596" y="51390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Necesidad</a:t>
            </a:r>
          </a:p>
        </p:txBody>
      </p:sp>
      <p:sp>
        <p:nvSpPr>
          <p:cNvPr id="15" name="TextBox 15"/>
          <p:cNvSpPr txBox="1"/>
          <p:nvPr/>
        </p:nvSpPr>
        <p:spPr>
          <a:xfrm>
            <a:off x="2275439" y="52153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3</a:t>
            </a:r>
          </a:p>
        </p:txBody>
      </p:sp>
      <p:sp>
        <p:nvSpPr>
          <p:cNvPr id="16" name="Freeform 16"/>
          <p:cNvSpPr/>
          <p:nvPr/>
        </p:nvSpPr>
        <p:spPr>
          <a:xfrm>
            <a:off x="2245916" y="59803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p:cNvSpPr txBox="1"/>
          <p:nvPr/>
        </p:nvSpPr>
        <p:spPr>
          <a:xfrm>
            <a:off x="3114596" y="60534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Solución</a:t>
            </a:r>
          </a:p>
        </p:txBody>
      </p:sp>
      <p:sp>
        <p:nvSpPr>
          <p:cNvPr id="18" name="TextBox 18"/>
          <p:cNvSpPr txBox="1"/>
          <p:nvPr/>
        </p:nvSpPr>
        <p:spPr>
          <a:xfrm>
            <a:off x="2275439" y="61297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4</a:t>
            </a:r>
          </a:p>
        </p:txBody>
      </p:sp>
      <p:sp>
        <p:nvSpPr>
          <p:cNvPr id="19" name="Freeform 19"/>
          <p:cNvSpPr/>
          <p:nvPr/>
        </p:nvSpPr>
        <p:spPr>
          <a:xfrm>
            <a:off x="2245916" y="68947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TextBox 20"/>
          <p:cNvSpPr txBox="1"/>
          <p:nvPr/>
        </p:nvSpPr>
        <p:spPr>
          <a:xfrm>
            <a:off x="3114596" y="69678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Requerimientos e HU</a:t>
            </a:r>
          </a:p>
        </p:txBody>
      </p:sp>
      <p:sp>
        <p:nvSpPr>
          <p:cNvPr id="21" name="TextBox 21"/>
          <p:cNvSpPr txBox="1"/>
          <p:nvPr/>
        </p:nvSpPr>
        <p:spPr>
          <a:xfrm>
            <a:off x="2275439" y="70441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5</a:t>
            </a:r>
          </a:p>
        </p:txBody>
      </p:sp>
      <p:sp>
        <p:nvSpPr>
          <p:cNvPr id="22" name="Freeform 22"/>
          <p:cNvSpPr/>
          <p:nvPr/>
        </p:nvSpPr>
        <p:spPr>
          <a:xfrm>
            <a:off x="2245916" y="78091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3" name="TextBox 23"/>
          <p:cNvSpPr txBox="1"/>
          <p:nvPr/>
        </p:nvSpPr>
        <p:spPr>
          <a:xfrm>
            <a:off x="3114596" y="78822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Arquitectura</a:t>
            </a:r>
          </a:p>
        </p:txBody>
      </p:sp>
      <p:sp>
        <p:nvSpPr>
          <p:cNvPr id="24" name="TextBox 24"/>
          <p:cNvSpPr txBox="1"/>
          <p:nvPr/>
        </p:nvSpPr>
        <p:spPr>
          <a:xfrm>
            <a:off x="2275439" y="79585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6</a:t>
            </a:r>
          </a:p>
        </p:txBody>
      </p:sp>
      <p:sp>
        <p:nvSpPr>
          <p:cNvPr id="25" name="Freeform 25"/>
          <p:cNvSpPr/>
          <p:nvPr/>
        </p:nvSpPr>
        <p:spPr>
          <a:xfrm>
            <a:off x="2245916" y="87235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6" name="TextBox 26"/>
          <p:cNvSpPr txBox="1"/>
          <p:nvPr/>
        </p:nvSpPr>
        <p:spPr>
          <a:xfrm>
            <a:off x="3114596" y="8796670"/>
            <a:ext cx="5760720" cy="581025"/>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Modelo de datos</a:t>
            </a:r>
          </a:p>
        </p:txBody>
      </p:sp>
      <p:sp>
        <p:nvSpPr>
          <p:cNvPr id="27" name="TextBox 27"/>
          <p:cNvSpPr txBox="1"/>
          <p:nvPr/>
        </p:nvSpPr>
        <p:spPr>
          <a:xfrm>
            <a:off x="2275439" y="8872922"/>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7</a:t>
            </a:r>
          </a:p>
        </p:txBody>
      </p:sp>
      <p:sp>
        <p:nvSpPr>
          <p:cNvPr id="28" name="Freeform 28"/>
          <p:cNvSpPr/>
          <p:nvPr/>
        </p:nvSpPr>
        <p:spPr>
          <a:xfrm>
            <a:off x="9012476" y="32371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9" name="TextBox 29"/>
          <p:cNvSpPr txBox="1"/>
          <p:nvPr/>
        </p:nvSpPr>
        <p:spPr>
          <a:xfrm>
            <a:off x="9881156" y="33102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Metodología</a:t>
            </a:r>
          </a:p>
        </p:txBody>
      </p:sp>
      <p:sp>
        <p:nvSpPr>
          <p:cNvPr id="30" name="TextBox 30"/>
          <p:cNvSpPr txBox="1"/>
          <p:nvPr/>
        </p:nvSpPr>
        <p:spPr>
          <a:xfrm>
            <a:off x="9031526" y="33769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8</a:t>
            </a:r>
          </a:p>
        </p:txBody>
      </p:sp>
      <p:sp>
        <p:nvSpPr>
          <p:cNvPr id="31" name="Freeform 31"/>
          <p:cNvSpPr/>
          <p:nvPr/>
        </p:nvSpPr>
        <p:spPr>
          <a:xfrm>
            <a:off x="9012476" y="41515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2" name="TextBox 32"/>
          <p:cNvSpPr txBox="1"/>
          <p:nvPr/>
        </p:nvSpPr>
        <p:spPr>
          <a:xfrm>
            <a:off x="9881156" y="42246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Roles</a:t>
            </a:r>
          </a:p>
        </p:txBody>
      </p:sp>
      <p:sp>
        <p:nvSpPr>
          <p:cNvPr id="33" name="TextBox 33"/>
          <p:cNvSpPr txBox="1"/>
          <p:nvPr/>
        </p:nvSpPr>
        <p:spPr>
          <a:xfrm>
            <a:off x="9031526" y="42913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9</a:t>
            </a:r>
          </a:p>
        </p:txBody>
      </p:sp>
      <p:sp>
        <p:nvSpPr>
          <p:cNvPr id="34" name="Freeform 34"/>
          <p:cNvSpPr/>
          <p:nvPr/>
        </p:nvSpPr>
        <p:spPr>
          <a:xfrm>
            <a:off x="9012476" y="50659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5" name="TextBox 35"/>
          <p:cNvSpPr txBox="1"/>
          <p:nvPr/>
        </p:nvSpPr>
        <p:spPr>
          <a:xfrm>
            <a:off x="9881156" y="51390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Evidencias por sprint</a:t>
            </a:r>
          </a:p>
        </p:txBody>
      </p:sp>
      <p:sp>
        <p:nvSpPr>
          <p:cNvPr id="36" name="TextBox 36"/>
          <p:cNvSpPr txBox="1"/>
          <p:nvPr/>
        </p:nvSpPr>
        <p:spPr>
          <a:xfrm>
            <a:off x="9031526" y="52057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10</a:t>
            </a:r>
          </a:p>
        </p:txBody>
      </p:sp>
      <p:sp>
        <p:nvSpPr>
          <p:cNvPr id="37" name="Freeform 37"/>
          <p:cNvSpPr/>
          <p:nvPr/>
        </p:nvSpPr>
        <p:spPr>
          <a:xfrm>
            <a:off x="9012476" y="59803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8" name="TextBox 38"/>
          <p:cNvSpPr txBox="1"/>
          <p:nvPr/>
        </p:nvSpPr>
        <p:spPr>
          <a:xfrm>
            <a:off x="9881156" y="60534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Cronograma</a:t>
            </a:r>
          </a:p>
        </p:txBody>
      </p:sp>
      <p:sp>
        <p:nvSpPr>
          <p:cNvPr id="39" name="TextBox 39"/>
          <p:cNvSpPr txBox="1"/>
          <p:nvPr/>
        </p:nvSpPr>
        <p:spPr>
          <a:xfrm>
            <a:off x="9031526" y="61201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11</a:t>
            </a:r>
          </a:p>
        </p:txBody>
      </p:sp>
      <p:sp>
        <p:nvSpPr>
          <p:cNvPr id="40" name="Freeform 40"/>
          <p:cNvSpPr/>
          <p:nvPr/>
        </p:nvSpPr>
        <p:spPr>
          <a:xfrm>
            <a:off x="9012476" y="68947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1" name="TextBox 41"/>
          <p:cNvSpPr txBox="1"/>
          <p:nvPr/>
        </p:nvSpPr>
        <p:spPr>
          <a:xfrm>
            <a:off x="9881156" y="69678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Demostración</a:t>
            </a:r>
          </a:p>
        </p:txBody>
      </p:sp>
      <p:sp>
        <p:nvSpPr>
          <p:cNvPr id="42" name="TextBox 42"/>
          <p:cNvSpPr txBox="1"/>
          <p:nvPr/>
        </p:nvSpPr>
        <p:spPr>
          <a:xfrm>
            <a:off x="9031526" y="70345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12</a:t>
            </a:r>
          </a:p>
        </p:txBody>
      </p:sp>
      <p:sp>
        <p:nvSpPr>
          <p:cNvPr id="43" name="Freeform 43"/>
          <p:cNvSpPr/>
          <p:nvPr/>
        </p:nvSpPr>
        <p:spPr>
          <a:xfrm>
            <a:off x="9012476" y="78091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4" name="TextBox 44"/>
          <p:cNvSpPr txBox="1"/>
          <p:nvPr/>
        </p:nvSpPr>
        <p:spPr>
          <a:xfrm>
            <a:off x="9881156" y="78822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Conclusiones</a:t>
            </a:r>
          </a:p>
        </p:txBody>
      </p:sp>
      <p:sp>
        <p:nvSpPr>
          <p:cNvPr id="45" name="TextBox 45"/>
          <p:cNvSpPr txBox="1"/>
          <p:nvPr/>
        </p:nvSpPr>
        <p:spPr>
          <a:xfrm>
            <a:off x="9031526" y="79489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13</a:t>
            </a:r>
          </a:p>
        </p:txBody>
      </p:sp>
      <p:sp>
        <p:nvSpPr>
          <p:cNvPr id="46" name="Freeform 46"/>
          <p:cNvSpPr/>
          <p:nvPr/>
        </p:nvSpPr>
        <p:spPr>
          <a:xfrm>
            <a:off x="9012476" y="8723518"/>
            <a:ext cx="689981" cy="689981"/>
          </a:xfrm>
          <a:custGeom>
            <a:avLst/>
            <a:gdLst/>
            <a:ahLst/>
            <a:cxnLst/>
            <a:rect l="l" t="t" r="r" b="b"/>
            <a:pathLst>
              <a:path w="689981" h="689981">
                <a:moveTo>
                  <a:pt x="0" y="0"/>
                </a:moveTo>
                <a:lnTo>
                  <a:pt x="689982" y="0"/>
                </a:lnTo>
                <a:lnTo>
                  <a:pt x="689982" y="689982"/>
                </a:lnTo>
                <a:lnTo>
                  <a:pt x="0" y="6899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7" name="TextBox 47"/>
          <p:cNvSpPr txBox="1"/>
          <p:nvPr/>
        </p:nvSpPr>
        <p:spPr>
          <a:xfrm>
            <a:off x="9881156" y="8796670"/>
            <a:ext cx="5356333" cy="581128"/>
          </a:xfrm>
          <a:prstGeom prst="rect">
            <a:avLst/>
          </a:prstGeom>
        </p:spPr>
        <p:txBody>
          <a:bodyPr lIns="0" tIns="0" rIns="0" bIns="0" rtlCol="0" anchor="t">
            <a:spAutoFit/>
          </a:bodyPr>
          <a:lstStyle/>
          <a:p>
            <a:pPr algn="l">
              <a:lnSpc>
                <a:spcPts val="4641"/>
              </a:lnSpc>
            </a:pPr>
            <a:r>
              <a:rPr lang="en-US" sz="3869" b="1">
                <a:solidFill>
                  <a:srgbClr val="3D5E89"/>
                </a:solidFill>
                <a:latin typeface="League Spartan"/>
                <a:ea typeface="League Spartan"/>
                <a:cs typeface="League Spartan"/>
                <a:sym typeface="League Spartan"/>
              </a:rPr>
              <a:t>Reflexión final</a:t>
            </a:r>
          </a:p>
        </p:txBody>
      </p:sp>
      <p:sp>
        <p:nvSpPr>
          <p:cNvPr id="48" name="TextBox 48"/>
          <p:cNvSpPr txBox="1"/>
          <p:nvPr/>
        </p:nvSpPr>
        <p:spPr>
          <a:xfrm>
            <a:off x="9031526" y="8863397"/>
            <a:ext cx="630936" cy="466725"/>
          </a:xfrm>
          <a:prstGeom prst="rect">
            <a:avLst/>
          </a:prstGeom>
        </p:spPr>
        <p:txBody>
          <a:bodyPr lIns="0" tIns="0" rIns="0" bIns="0" rtlCol="0" anchor="t">
            <a:spAutoFit/>
          </a:bodyPr>
          <a:lstStyle/>
          <a:p>
            <a:pPr algn="ctr">
              <a:lnSpc>
                <a:spcPts val="3682"/>
              </a:lnSpc>
            </a:pPr>
            <a:r>
              <a:rPr lang="en-US" sz="3069" b="1">
                <a:solidFill>
                  <a:srgbClr val="FFFFFF"/>
                </a:solidFill>
                <a:latin typeface="League Spartan"/>
                <a:ea typeface="League Spartan"/>
                <a:cs typeface="League Spartan"/>
                <a:sym typeface="League Spartan"/>
              </a:rPr>
              <a:t>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01 Contexto</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Contexto</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2101557" y="4599473"/>
            <a:ext cx="4231178" cy="3637688"/>
            <a:chOff x="0" y="0"/>
            <a:chExt cx="955167" cy="821189"/>
          </a:xfrm>
        </p:grpSpPr>
        <p:sp>
          <p:nvSpPr>
            <p:cNvPr id="6" name="Freeform 6"/>
            <p:cNvSpPr/>
            <p:nvPr/>
          </p:nvSpPr>
          <p:spPr>
            <a:xfrm>
              <a:off x="0" y="0"/>
              <a:ext cx="955167" cy="821189"/>
            </a:xfrm>
            <a:custGeom>
              <a:avLst/>
              <a:gdLst/>
              <a:ahLst/>
              <a:cxnLst/>
              <a:rect l="l" t="t" r="r" b="b"/>
              <a:pathLst>
                <a:path w="955167" h="821189">
                  <a:moveTo>
                    <a:pt x="955167" y="54892"/>
                  </a:moveTo>
                  <a:lnTo>
                    <a:pt x="955167" y="766297"/>
                  </a:lnTo>
                  <a:cubicBezTo>
                    <a:pt x="955167" y="780856"/>
                    <a:pt x="949383" y="794818"/>
                    <a:pt x="939089" y="805112"/>
                  </a:cubicBezTo>
                  <a:cubicBezTo>
                    <a:pt x="928795" y="815406"/>
                    <a:pt x="914833" y="821189"/>
                    <a:pt x="900275" y="821189"/>
                  </a:cubicBezTo>
                  <a:lnTo>
                    <a:pt x="54892" y="821189"/>
                  </a:lnTo>
                  <a:cubicBezTo>
                    <a:pt x="40334" y="821189"/>
                    <a:pt x="26372" y="815406"/>
                    <a:pt x="16077" y="805112"/>
                  </a:cubicBezTo>
                  <a:cubicBezTo>
                    <a:pt x="5783" y="794818"/>
                    <a:pt x="0" y="780856"/>
                    <a:pt x="0" y="766297"/>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7" name="TextBox 7"/>
            <p:cNvSpPr txBox="1"/>
            <p:nvPr/>
          </p:nvSpPr>
          <p:spPr>
            <a:xfrm>
              <a:off x="0" y="-38100"/>
              <a:ext cx="955167" cy="85928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158015" y="4599473"/>
            <a:ext cx="4231178" cy="3637688"/>
            <a:chOff x="0" y="0"/>
            <a:chExt cx="955167" cy="821189"/>
          </a:xfrm>
        </p:grpSpPr>
        <p:sp>
          <p:nvSpPr>
            <p:cNvPr id="9" name="Freeform 9"/>
            <p:cNvSpPr/>
            <p:nvPr/>
          </p:nvSpPr>
          <p:spPr>
            <a:xfrm>
              <a:off x="0" y="0"/>
              <a:ext cx="955167" cy="821189"/>
            </a:xfrm>
            <a:custGeom>
              <a:avLst/>
              <a:gdLst/>
              <a:ahLst/>
              <a:cxnLst/>
              <a:rect l="l" t="t" r="r" b="b"/>
              <a:pathLst>
                <a:path w="955167" h="821189">
                  <a:moveTo>
                    <a:pt x="955167" y="54892"/>
                  </a:moveTo>
                  <a:lnTo>
                    <a:pt x="955167" y="766297"/>
                  </a:lnTo>
                  <a:cubicBezTo>
                    <a:pt x="955167" y="780856"/>
                    <a:pt x="949383" y="794818"/>
                    <a:pt x="939089" y="805112"/>
                  </a:cubicBezTo>
                  <a:cubicBezTo>
                    <a:pt x="928795" y="815406"/>
                    <a:pt x="914833" y="821189"/>
                    <a:pt x="900275" y="821189"/>
                  </a:cubicBezTo>
                  <a:lnTo>
                    <a:pt x="54892" y="821189"/>
                  </a:lnTo>
                  <a:cubicBezTo>
                    <a:pt x="40334" y="821189"/>
                    <a:pt x="26372" y="815406"/>
                    <a:pt x="16077" y="805112"/>
                  </a:cubicBezTo>
                  <a:cubicBezTo>
                    <a:pt x="5783" y="794818"/>
                    <a:pt x="0" y="780856"/>
                    <a:pt x="0" y="766297"/>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10" name="TextBox 10"/>
            <p:cNvSpPr txBox="1"/>
            <p:nvPr/>
          </p:nvSpPr>
          <p:spPr>
            <a:xfrm>
              <a:off x="0" y="-38100"/>
              <a:ext cx="955167" cy="85928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211535" y="4599473"/>
            <a:ext cx="4231178" cy="3637688"/>
            <a:chOff x="0" y="0"/>
            <a:chExt cx="955167" cy="821189"/>
          </a:xfrm>
        </p:grpSpPr>
        <p:sp>
          <p:nvSpPr>
            <p:cNvPr id="12" name="Freeform 12"/>
            <p:cNvSpPr/>
            <p:nvPr/>
          </p:nvSpPr>
          <p:spPr>
            <a:xfrm>
              <a:off x="0" y="0"/>
              <a:ext cx="955167" cy="821189"/>
            </a:xfrm>
            <a:custGeom>
              <a:avLst/>
              <a:gdLst/>
              <a:ahLst/>
              <a:cxnLst/>
              <a:rect l="l" t="t" r="r" b="b"/>
              <a:pathLst>
                <a:path w="955167" h="821189">
                  <a:moveTo>
                    <a:pt x="955167" y="54892"/>
                  </a:moveTo>
                  <a:lnTo>
                    <a:pt x="955167" y="766297"/>
                  </a:lnTo>
                  <a:cubicBezTo>
                    <a:pt x="955167" y="780856"/>
                    <a:pt x="949383" y="794818"/>
                    <a:pt x="939089" y="805112"/>
                  </a:cubicBezTo>
                  <a:cubicBezTo>
                    <a:pt x="928795" y="815406"/>
                    <a:pt x="914833" y="821189"/>
                    <a:pt x="900275" y="821189"/>
                  </a:cubicBezTo>
                  <a:lnTo>
                    <a:pt x="54892" y="821189"/>
                  </a:lnTo>
                  <a:cubicBezTo>
                    <a:pt x="40334" y="821189"/>
                    <a:pt x="26372" y="815406"/>
                    <a:pt x="16077" y="805112"/>
                  </a:cubicBezTo>
                  <a:cubicBezTo>
                    <a:pt x="5783" y="794818"/>
                    <a:pt x="0" y="780856"/>
                    <a:pt x="0" y="766297"/>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13" name="TextBox 13"/>
            <p:cNvSpPr txBox="1"/>
            <p:nvPr/>
          </p:nvSpPr>
          <p:spPr>
            <a:xfrm>
              <a:off x="0" y="-38100"/>
              <a:ext cx="955167" cy="85928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101557" y="8584699"/>
            <a:ext cx="14379518" cy="1423403"/>
            <a:chOff x="0" y="0"/>
            <a:chExt cx="3246102" cy="321326"/>
          </a:xfrm>
        </p:grpSpPr>
        <p:sp>
          <p:nvSpPr>
            <p:cNvPr id="15" name="Freeform 15"/>
            <p:cNvSpPr/>
            <p:nvPr/>
          </p:nvSpPr>
          <p:spPr>
            <a:xfrm>
              <a:off x="0" y="0"/>
              <a:ext cx="3246102" cy="321326"/>
            </a:xfrm>
            <a:custGeom>
              <a:avLst/>
              <a:gdLst/>
              <a:ahLst/>
              <a:cxnLst/>
              <a:rect l="l" t="t" r="r" b="b"/>
              <a:pathLst>
                <a:path w="3246102" h="321326">
                  <a:moveTo>
                    <a:pt x="3246102" y="16152"/>
                  </a:moveTo>
                  <a:lnTo>
                    <a:pt x="3246102" y="305174"/>
                  </a:lnTo>
                  <a:cubicBezTo>
                    <a:pt x="3246102" y="309458"/>
                    <a:pt x="3244400" y="313566"/>
                    <a:pt x="3241371" y="316595"/>
                  </a:cubicBezTo>
                  <a:cubicBezTo>
                    <a:pt x="3238342" y="319624"/>
                    <a:pt x="3234234" y="321326"/>
                    <a:pt x="3229950" y="321326"/>
                  </a:cubicBezTo>
                  <a:lnTo>
                    <a:pt x="16152" y="321326"/>
                  </a:lnTo>
                  <a:cubicBezTo>
                    <a:pt x="7231" y="321326"/>
                    <a:pt x="0" y="314094"/>
                    <a:pt x="0" y="305174"/>
                  </a:cubicBezTo>
                  <a:lnTo>
                    <a:pt x="0" y="16152"/>
                  </a:lnTo>
                  <a:cubicBezTo>
                    <a:pt x="0" y="11868"/>
                    <a:pt x="1702" y="7760"/>
                    <a:pt x="4731" y="4731"/>
                  </a:cubicBezTo>
                  <a:cubicBezTo>
                    <a:pt x="7760" y="1702"/>
                    <a:pt x="11868" y="0"/>
                    <a:pt x="16152" y="0"/>
                  </a:cubicBezTo>
                  <a:lnTo>
                    <a:pt x="3229950" y="0"/>
                  </a:lnTo>
                  <a:cubicBezTo>
                    <a:pt x="3234234" y="0"/>
                    <a:pt x="3238342" y="1702"/>
                    <a:pt x="3241371" y="4731"/>
                  </a:cubicBezTo>
                  <a:cubicBezTo>
                    <a:pt x="3244400" y="7760"/>
                    <a:pt x="3246102" y="11868"/>
                    <a:pt x="3246102" y="16152"/>
                  </a:cubicBezTo>
                  <a:close/>
                </a:path>
              </a:pathLst>
            </a:custGeom>
            <a:solidFill>
              <a:srgbClr val="3B567A"/>
            </a:solidFill>
          </p:spPr>
          <p:txBody>
            <a:bodyPr/>
            <a:lstStyle/>
            <a:p>
              <a:endParaRPr lang="en-US"/>
            </a:p>
          </p:txBody>
        </p:sp>
        <p:sp>
          <p:nvSpPr>
            <p:cNvPr id="16" name="TextBox 16"/>
            <p:cNvSpPr txBox="1"/>
            <p:nvPr/>
          </p:nvSpPr>
          <p:spPr>
            <a:xfrm>
              <a:off x="0" y="-38100"/>
              <a:ext cx="3246102" cy="359426"/>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3441774" y="4689724"/>
            <a:ext cx="1694863" cy="1747281"/>
          </a:xfrm>
          <a:custGeom>
            <a:avLst/>
            <a:gdLst/>
            <a:ahLst/>
            <a:cxnLst/>
            <a:rect l="l" t="t" r="r" b="b"/>
            <a:pathLst>
              <a:path w="1694863" h="1747281">
                <a:moveTo>
                  <a:pt x="0" y="0"/>
                </a:moveTo>
                <a:lnTo>
                  <a:pt x="1694863" y="0"/>
                </a:lnTo>
                <a:lnTo>
                  <a:pt x="1694863" y="1747281"/>
                </a:lnTo>
                <a:lnTo>
                  <a:pt x="0" y="17472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a:off x="8550495" y="4802295"/>
            <a:ext cx="1481643" cy="1481643"/>
          </a:xfrm>
          <a:custGeom>
            <a:avLst/>
            <a:gdLst/>
            <a:ahLst/>
            <a:cxnLst/>
            <a:rect l="l" t="t" r="r" b="b"/>
            <a:pathLst>
              <a:path w="1481643" h="1481643">
                <a:moveTo>
                  <a:pt x="0" y="0"/>
                </a:moveTo>
                <a:lnTo>
                  <a:pt x="1481643" y="0"/>
                </a:lnTo>
                <a:lnTo>
                  <a:pt x="1481643" y="1481643"/>
                </a:lnTo>
                <a:lnTo>
                  <a:pt x="0" y="14816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a:off x="13934796" y="4680561"/>
            <a:ext cx="919354" cy="1612902"/>
          </a:xfrm>
          <a:custGeom>
            <a:avLst/>
            <a:gdLst/>
            <a:ahLst/>
            <a:cxnLst/>
            <a:rect l="l" t="t" r="r" b="b"/>
            <a:pathLst>
              <a:path w="919354" h="1612902">
                <a:moveTo>
                  <a:pt x="0" y="0"/>
                </a:moveTo>
                <a:lnTo>
                  <a:pt x="919354" y="0"/>
                </a:lnTo>
                <a:lnTo>
                  <a:pt x="919354" y="1612902"/>
                </a:lnTo>
                <a:lnTo>
                  <a:pt x="0" y="16129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0" name="TextBox 20"/>
          <p:cNvSpPr txBox="1"/>
          <p:nvPr/>
        </p:nvSpPr>
        <p:spPr>
          <a:xfrm>
            <a:off x="1665783" y="2662088"/>
            <a:ext cx="15875479" cy="1070610"/>
          </a:xfrm>
          <a:prstGeom prst="rect">
            <a:avLst/>
          </a:prstGeom>
        </p:spPr>
        <p:txBody>
          <a:bodyPr lIns="0" tIns="0" rIns="0" bIns="0" rtlCol="0" anchor="t">
            <a:spAutoFit/>
          </a:bodyPr>
          <a:lstStyle/>
          <a:p>
            <a:pPr marL="0" lvl="0" indent="0" algn="ctr">
              <a:lnSpc>
                <a:spcPts val="4349"/>
              </a:lnSpc>
              <a:spcBef>
                <a:spcPct val="0"/>
              </a:spcBef>
            </a:pPr>
            <a:r>
              <a:rPr lang="en-US" sz="2899" b="1">
                <a:solidFill>
                  <a:srgbClr val="000000"/>
                </a:solidFill>
                <a:latin typeface="Raleway Bold"/>
                <a:ea typeface="Raleway Bold"/>
                <a:cs typeface="Raleway Bold"/>
                <a:sym typeface="Raleway Bold"/>
              </a:rPr>
              <a:t>Masterbase </a:t>
            </a:r>
            <a:r>
              <a:rPr lang="en-US" sz="2899">
                <a:solidFill>
                  <a:srgbClr val="000000"/>
                </a:solidFill>
                <a:latin typeface="Raleway"/>
                <a:ea typeface="Raleway"/>
                <a:cs typeface="Raleway"/>
                <a:sym typeface="Raleway"/>
              </a:rPr>
              <a:t>es una empresa tecnológica dedicada a la </a:t>
            </a:r>
            <a:r>
              <a:rPr lang="en-US" sz="2899" b="1">
                <a:solidFill>
                  <a:srgbClr val="000000"/>
                </a:solidFill>
                <a:latin typeface="Raleway Bold"/>
                <a:ea typeface="Raleway Bold"/>
                <a:cs typeface="Raleway Bold"/>
                <a:sym typeface="Raleway Bold"/>
              </a:rPr>
              <a:t>automatización de procesos de negocio</a:t>
            </a:r>
            <a:r>
              <a:rPr lang="en-US" sz="2899">
                <a:solidFill>
                  <a:srgbClr val="000000"/>
                </a:solidFill>
                <a:latin typeface="Raleway"/>
                <a:ea typeface="Raleway"/>
                <a:cs typeface="Raleway"/>
                <a:sym typeface="Raleway"/>
              </a:rPr>
              <a:t> a través de su </a:t>
            </a:r>
            <a:r>
              <a:rPr lang="en-US" sz="2899" b="1">
                <a:solidFill>
                  <a:srgbClr val="000000"/>
                </a:solidFill>
                <a:latin typeface="Raleway Bold"/>
                <a:ea typeface="Raleway Bold"/>
                <a:cs typeface="Raleway Bold"/>
                <a:sym typeface="Raleway Bold"/>
              </a:rPr>
              <a:t>propia plataforma</a:t>
            </a:r>
          </a:p>
        </p:txBody>
      </p:sp>
      <p:sp>
        <p:nvSpPr>
          <p:cNvPr id="21" name="TextBox 21"/>
          <p:cNvSpPr txBox="1"/>
          <p:nvPr/>
        </p:nvSpPr>
        <p:spPr>
          <a:xfrm>
            <a:off x="2983501" y="6582891"/>
            <a:ext cx="2820959"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Sede central</a:t>
            </a:r>
          </a:p>
        </p:txBody>
      </p:sp>
      <p:sp>
        <p:nvSpPr>
          <p:cNvPr id="22" name="TextBox 22"/>
          <p:cNvSpPr txBox="1"/>
          <p:nvPr/>
        </p:nvSpPr>
        <p:spPr>
          <a:xfrm>
            <a:off x="7986903" y="6302988"/>
            <a:ext cx="2725803" cy="942975"/>
          </a:xfrm>
          <a:prstGeom prst="rect">
            <a:avLst/>
          </a:prstGeom>
        </p:spPr>
        <p:txBody>
          <a:bodyPr lIns="0" tIns="0" rIns="0" bIns="0" rtlCol="0" anchor="t">
            <a:spAutoFit/>
          </a:bodyPr>
          <a:lstStyle/>
          <a:p>
            <a:pPr marL="0" lvl="0" indent="0" algn="ctr">
              <a:lnSpc>
                <a:spcPts val="3711"/>
              </a:lnSpc>
              <a:spcBef>
                <a:spcPct val="0"/>
              </a:spcBef>
            </a:pPr>
            <a:r>
              <a:rPr lang="en-US" sz="3093" b="1">
                <a:solidFill>
                  <a:srgbClr val="3B567A"/>
                </a:solidFill>
                <a:latin typeface="League Spartan"/>
                <a:ea typeface="League Spartan"/>
                <a:cs typeface="League Spartan"/>
                <a:sym typeface="League Spartan"/>
              </a:rPr>
              <a:t>Presencia internacional</a:t>
            </a:r>
          </a:p>
        </p:txBody>
      </p:sp>
      <p:sp>
        <p:nvSpPr>
          <p:cNvPr id="23" name="TextBox 23"/>
          <p:cNvSpPr txBox="1"/>
          <p:nvPr/>
        </p:nvSpPr>
        <p:spPr>
          <a:xfrm>
            <a:off x="12835888" y="6349528"/>
            <a:ext cx="3155269" cy="942975"/>
          </a:xfrm>
          <a:prstGeom prst="rect">
            <a:avLst/>
          </a:prstGeom>
        </p:spPr>
        <p:txBody>
          <a:bodyPr lIns="0" tIns="0" rIns="0" bIns="0" rtlCol="0" anchor="t">
            <a:spAutoFit/>
          </a:bodyPr>
          <a:lstStyle/>
          <a:p>
            <a:pPr marL="0" lvl="0" indent="0" algn="ctr">
              <a:lnSpc>
                <a:spcPts val="3711"/>
              </a:lnSpc>
              <a:spcBef>
                <a:spcPct val="0"/>
              </a:spcBef>
            </a:pPr>
            <a:r>
              <a:rPr lang="en-US" sz="3093" b="1">
                <a:solidFill>
                  <a:srgbClr val="3B567A"/>
                </a:solidFill>
                <a:latin typeface="League Spartan"/>
                <a:ea typeface="League Spartan"/>
                <a:cs typeface="League Spartan"/>
                <a:sym typeface="League Spartan"/>
              </a:rPr>
              <a:t>Oficina en Chile</a:t>
            </a:r>
          </a:p>
        </p:txBody>
      </p:sp>
      <p:sp>
        <p:nvSpPr>
          <p:cNvPr id="24" name="TextBox 24"/>
          <p:cNvSpPr txBox="1"/>
          <p:nvPr/>
        </p:nvSpPr>
        <p:spPr>
          <a:xfrm>
            <a:off x="2341638" y="7342298"/>
            <a:ext cx="3738090" cy="4483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Tallinn, Estonia</a:t>
            </a:r>
          </a:p>
        </p:txBody>
      </p:sp>
      <p:sp>
        <p:nvSpPr>
          <p:cNvPr id="25" name="TextBox 25"/>
          <p:cNvSpPr txBox="1"/>
          <p:nvPr/>
        </p:nvSpPr>
        <p:spPr>
          <a:xfrm>
            <a:off x="7433134" y="7342298"/>
            <a:ext cx="3738090" cy="4483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Europa y America</a:t>
            </a:r>
          </a:p>
        </p:txBody>
      </p:sp>
      <p:sp>
        <p:nvSpPr>
          <p:cNvPr id="26" name="TextBox 26"/>
          <p:cNvSpPr txBox="1"/>
          <p:nvPr/>
        </p:nvSpPr>
        <p:spPr>
          <a:xfrm>
            <a:off x="12544478" y="7342298"/>
            <a:ext cx="3738090" cy="4483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Santiago</a:t>
            </a:r>
          </a:p>
        </p:txBody>
      </p:sp>
      <p:sp>
        <p:nvSpPr>
          <p:cNvPr id="27" name="TextBox 27"/>
          <p:cNvSpPr txBox="1"/>
          <p:nvPr/>
        </p:nvSpPr>
        <p:spPr>
          <a:xfrm>
            <a:off x="2341638" y="8858250"/>
            <a:ext cx="14145216" cy="895350"/>
          </a:xfrm>
          <a:prstGeom prst="rect">
            <a:avLst/>
          </a:prstGeom>
        </p:spPr>
        <p:txBody>
          <a:bodyPr lIns="0" tIns="0" rIns="0" bIns="0" rtlCol="0" anchor="t">
            <a:spAutoFit/>
          </a:bodyPr>
          <a:lstStyle/>
          <a:p>
            <a:pPr marL="0" lvl="0" indent="0" algn="l">
              <a:lnSpc>
                <a:spcPts val="3591"/>
              </a:lnSpc>
              <a:spcBef>
                <a:spcPct val="0"/>
              </a:spcBef>
            </a:pPr>
            <a:r>
              <a:rPr lang="en-US" sz="2993" b="1">
                <a:solidFill>
                  <a:srgbClr val="FFFFFF"/>
                </a:solidFill>
                <a:latin typeface="League Spartan"/>
                <a:ea typeface="League Spartan"/>
                <a:cs typeface="League Spartan"/>
                <a:sym typeface="League Spartan"/>
              </a:rPr>
              <a:t>Su negocio se enfoca en soluciones de operaciones, comunicaciones, documentos y Gestión de datos para empresas de cualquier industria</a:t>
            </a:r>
          </a:p>
        </p:txBody>
      </p:sp>
      <p:sp>
        <p:nvSpPr>
          <p:cNvPr id="28" name="Freeform 28"/>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TextBox 29"/>
          <p:cNvSpPr txBox="1"/>
          <p:nvPr/>
        </p:nvSpPr>
        <p:spPr>
          <a:xfrm>
            <a:off x="289728"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02 Problema</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Problema</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2139919" y="4280511"/>
            <a:ext cx="4231178" cy="3811869"/>
            <a:chOff x="0" y="0"/>
            <a:chExt cx="955167" cy="860510"/>
          </a:xfrm>
        </p:grpSpPr>
        <p:sp>
          <p:nvSpPr>
            <p:cNvPr id="6" name="Freeform 6"/>
            <p:cNvSpPr/>
            <p:nvPr/>
          </p:nvSpPr>
          <p:spPr>
            <a:xfrm>
              <a:off x="0" y="0"/>
              <a:ext cx="955167" cy="860510"/>
            </a:xfrm>
            <a:custGeom>
              <a:avLst/>
              <a:gdLst/>
              <a:ahLst/>
              <a:cxnLst/>
              <a:rect l="l" t="t" r="r" b="b"/>
              <a:pathLst>
                <a:path w="955167" h="860510">
                  <a:moveTo>
                    <a:pt x="955167" y="54892"/>
                  </a:moveTo>
                  <a:lnTo>
                    <a:pt x="955167" y="805618"/>
                  </a:lnTo>
                  <a:cubicBezTo>
                    <a:pt x="955167" y="835934"/>
                    <a:pt x="930591" y="860510"/>
                    <a:pt x="900275" y="860510"/>
                  </a:cubicBezTo>
                  <a:lnTo>
                    <a:pt x="54892" y="860510"/>
                  </a:lnTo>
                  <a:cubicBezTo>
                    <a:pt x="40334" y="860510"/>
                    <a:pt x="26372" y="854726"/>
                    <a:pt x="16077" y="844432"/>
                  </a:cubicBezTo>
                  <a:cubicBezTo>
                    <a:pt x="5783" y="834138"/>
                    <a:pt x="0" y="820176"/>
                    <a:pt x="0" y="805618"/>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7" name="TextBox 7"/>
            <p:cNvSpPr txBox="1"/>
            <p:nvPr/>
          </p:nvSpPr>
          <p:spPr>
            <a:xfrm>
              <a:off x="0" y="-38100"/>
              <a:ext cx="955167" cy="89861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065969" y="4280511"/>
            <a:ext cx="4514350" cy="3811869"/>
            <a:chOff x="0" y="0"/>
            <a:chExt cx="1019091" cy="860510"/>
          </a:xfrm>
        </p:grpSpPr>
        <p:sp>
          <p:nvSpPr>
            <p:cNvPr id="9" name="Freeform 9"/>
            <p:cNvSpPr/>
            <p:nvPr/>
          </p:nvSpPr>
          <p:spPr>
            <a:xfrm>
              <a:off x="0" y="0"/>
              <a:ext cx="1019091" cy="860510"/>
            </a:xfrm>
            <a:custGeom>
              <a:avLst/>
              <a:gdLst/>
              <a:ahLst/>
              <a:cxnLst/>
              <a:rect l="l" t="t" r="r" b="b"/>
              <a:pathLst>
                <a:path w="1019091" h="860510">
                  <a:moveTo>
                    <a:pt x="1019091" y="51449"/>
                  </a:moveTo>
                  <a:lnTo>
                    <a:pt x="1019091" y="809061"/>
                  </a:lnTo>
                  <a:cubicBezTo>
                    <a:pt x="1019091" y="822706"/>
                    <a:pt x="1013671" y="835792"/>
                    <a:pt x="1004022" y="845441"/>
                  </a:cubicBezTo>
                  <a:cubicBezTo>
                    <a:pt x="994374" y="855089"/>
                    <a:pt x="981288" y="860510"/>
                    <a:pt x="967643" y="860510"/>
                  </a:cubicBezTo>
                  <a:lnTo>
                    <a:pt x="51449" y="860510"/>
                  </a:lnTo>
                  <a:cubicBezTo>
                    <a:pt x="37804" y="860510"/>
                    <a:pt x="24717" y="855089"/>
                    <a:pt x="15069" y="845441"/>
                  </a:cubicBezTo>
                  <a:cubicBezTo>
                    <a:pt x="5420" y="835792"/>
                    <a:pt x="0" y="822706"/>
                    <a:pt x="0" y="809061"/>
                  </a:cubicBezTo>
                  <a:lnTo>
                    <a:pt x="0" y="51449"/>
                  </a:lnTo>
                  <a:cubicBezTo>
                    <a:pt x="0" y="37804"/>
                    <a:pt x="5420" y="24717"/>
                    <a:pt x="15069" y="15069"/>
                  </a:cubicBezTo>
                  <a:cubicBezTo>
                    <a:pt x="24717" y="5420"/>
                    <a:pt x="37804" y="0"/>
                    <a:pt x="51449" y="0"/>
                  </a:cubicBezTo>
                  <a:lnTo>
                    <a:pt x="967643" y="0"/>
                  </a:lnTo>
                  <a:cubicBezTo>
                    <a:pt x="996057" y="0"/>
                    <a:pt x="1019091" y="23034"/>
                    <a:pt x="1019091" y="51449"/>
                  </a:cubicBezTo>
                  <a:close/>
                </a:path>
              </a:pathLst>
            </a:custGeom>
            <a:solidFill>
              <a:srgbClr val="FFFFFF"/>
            </a:solidFill>
          </p:spPr>
          <p:txBody>
            <a:bodyPr/>
            <a:lstStyle/>
            <a:p>
              <a:endParaRPr lang="en-US"/>
            </a:p>
          </p:txBody>
        </p:sp>
        <p:sp>
          <p:nvSpPr>
            <p:cNvPr id="10" name="TextBox 10"/>
            <p:cNvSpPr txBox="1"/>
            <p:nvPr/>
          </p:nvSpPr>
          <p:spPr>
            <a:xfrm>
              <a:off x="0" y="-38100"/>
              <a:ext cx="1019091" cy="89861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249897" y="4280511"/>
            <a:ext cx="4231178" cy="3811869"/>
            <a:chOff x="0" y="0"/>
            <a:chExt cx="955167" cy="860510"/>
          </a:xfrm>
        </p:grpSpPr>
        <p:sp>
          <p:nvSpPr>
            <p:cNvPr id="12" name="Freeform 12"/>
            <p:cNvSpPr/>
            <p:nvPr/>
          </p:nvSpPr>
          <p:spPr>
            <a:xfrm>
              <a:off x="0" y="0"/>
              <a:ext cx="955167" cy="860510"/>
            </a:xfrm>
            <a:custGeom>
              <a:avLst/>
              <a:gdLst/>
              <a:ahLst/>
              <a:cxnLst/>
              <a:rect l="l" t="t" r="r" b="b"/>
              <a:pathLst>
                <a:path w="955167" h="860510">
                  <a:moveTo>
                    <a:pt x="955167" y="54892"/>
                  </a:moveTo>
                  <a:lnTo>
                    <a:pt x="955167" y="805618"/>
                  </a:lnTo>
                  <a:cubicBezTo>
                    <a:pt x="955167" y="835934"/>
                    <a:pt x="930591" y="860510"/>
                    <a:pt x="900275" y="860510"/>
                  </a:cubicBezTo>
                  <a:lnTo>
                    <a:pt x="54892" y="860510"/>
                  </a:lnTo>
                  <a:cubicBezTo>
                    <a:pt x="40334" y="860510"/>
                    <a:pt x="26372" y="854726"/>
                    <a:pt x="16077" y="844432"/>
                  </a:cubicBezTo>
                  <a:cubicBezTo>
                    <a:pt x="5783" y="834138"/>
                    <a:pt x="0" y="820176"/>
                    <a:pt x="0" y="805618"/>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13" name="TextBox 13"/>
            <p:cNvSpPr txBox="1"/>
            <p:nvPr/>
          </p:nvSpPr>
          <p:spPr>
            <a:xfrm>
              <a:off x="0" y="-38100"/>
              <a:ext cx="955167" cy="89861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3489088" y="4485132"/>
            <a:ext cx="1515815" cy="1515815"/>
            <a:chOff x="0" y="0"/>
            <a:chExt cx="1755648" cy="1755648"/>
          </a:xfrm>
        </p:grpSpPr>
        <p:sp>
          <p:nvSpPr>
            <p:cNvPr id="15" name="Freeform 15"/>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grpSp>
        <p:nvGrpSpPr>
          <p:cNvPr id="16" name="Group 16"/>
          <p:cNvGrpSpPr/>
          <p:nvPr/>
        </p:nvGrpSpPr>
        <p:grpSpPr>
          <a:xfrm>
            <a:off x="8602360" y="4485132"/>
            <a:ext cx="1416276" cy="1416276"/>
            <a:chOff x="0" y="0"/>
            <a:chExt cx="1755648" cy="1755648"/>
          </a:xfrm>
        </p:grpSpPr>
        <p:sp>
          <p:nvSpPr>
            <p:cNvPr id="17" name="Freeform 17"/>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grpSp>
        <p:nvGrpSpPr>
          <p:cNvPr id="18" name="Group 18"/>
          <p:cNvGrpSpPr/>
          <p:nvPr/>
        </p:nvGrpSpPr>
        <p:grpSpPr>
          <a:xfrm>
            <a:off x="8942270" y="4825042"/>
            <a:ext cx="736465" cy="736465"/>
            <a:chOff x="0" y="0"/>
            <a:chExt cx="912940" cy="912940"/>
          </a:xfrm>
        </p:grpSpPr>
        <p:sp>
          <p:nvSpPr>
            <p:cNvPr id="19" name="Freeform 19" descr="icons/organizar.png"/>
            <p:cNvSpPr/>
            <p:nvPr/>
          </p:nvSpPr>
          <p:spPr>
            <a:xfrm>
              <a:off x="0" y="0"/>
              <a:ext cx="912876" cy="912876"/>
            </a:xfrm>
            <a:custGeom>
              <a:avLst/>
              <a:gdLst/>
              <a:ahLst/>
              <a:cxnLst/>
              <a:rect l="l" t="t" r="r" b="b"/>
              <a:pathLst>
                <a:path w="912876" h="912876">
                  <a:moveTo>
                    <a:pt x="0" y="0"/>
                  </a:moveTo>
                  <a:lnTo>
                    <a:pt x="912876" y="0"/>
                  </a:lnTo>
                  <a:lnTo>
                    <a:pt x="912876" y="912876"/>
                  </a:lnTo>
                  <a:lnTo>
                    <a:pt x="0" y="912876"/>
                  </a:lnTo>
                  <a:lnTo>
                    <a:pt x="0" y="0"/>
                  </a:lnTo>
                  <a:close/>
                </a:path>
              </a:pathLst>
            </a:custGeom>
            <a:blipFill>
              <a:blip r:embed="rId4"/>
              <a:stretch>
                <a:fillRect r="-6" b="-6"/>
              </a:stretch>
            </a:blipFill>
          </p:spPr>
          <p:txBody>
            <a:bodyPr/>
            <a:lstStyle/>
            <a:p>
              <a:endParaRPr lang="en-US"/>
            </a:p>
          </p:txBody>
        </p:sp>
      </p:grpSp>
      <p:grpSp>
        <p:nvGrpSpPr>
          <p:cNvPr id="20" name="Group 20"/>
          <p:cNvGrpSpPr/>
          <p:nvPr/>
        </p:nvGrpSpPr>
        <p:grpSpPr>
          <a:xfrm>
            <a:off x="3519900" y="4558164"/>
            <a:ext cx="1457543" cy="1457543"/>
            <a:chOff x="0" y="0"/>
            <a:chExt cx="1755648" cy="1755648"/>
          </a:xfrm>
        </p:grpSpPr>
        <p:sp>
          <p:nvSpPr>
            <p:cNvPr id="21" name="Freeform 21"/>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grpSp>
        <p:nvGrpSpPr>
          <p:cNvPr id="22" name="Group 22"/>
          <p:cNvGrpSpPr/>
          <p:nvPr/>
        </p:nvGrpSpPr>
        <p:grpSpPr>
          <a:xfrm>
            <a:off x="3869715" y="4907979"/>
            <a:ext cx="757925" cy="757925"/>
            <a:chOff x="0" y="0"/>
            <a:chExt cx="912940" cy="912940"/>
          </a:xfrm>
        </p:grpSpPr>
        <p:sp>
          <p:nvSpPr>
            <p:cNvPr id="23" name="Freeform 23" descr="icons/registrar.png"/>
            <p:cNvSpPr/>
            <p:nvPr/>
          </p:nvSpPr>
          <p:spPr>
            <a:xfrm>
              <a:off x="0" y="0"/>
              <a:ext cx="912876" cy="912876"/>
            </a:xfrm>
            <a:custGeom>
              <a:avLst/>
              <a:gdLst/>
              <a:ahLst/>
              <a:cxnLst/>
              <a:rect l="l" t="t" r="r" b="b"/>
              <a:pathLst>
                <a:path w="912876" h="912876">
                  <a:moveTo>
                    <a:pt x="0" y="0"/>
                  </a:moveTo>
                  <a:lnTo>
                    <a:pt x="912876" y="0"/>
                  </a:lnTo>
                  <a:lnTo>
                    <a:pt x="912876" y="912876"/>
                  </a:lnTo>
                  <a:lnTo>
                    <a:pt x="0" y="912876"/>
                  </a:lnTo>
                  <a:lnTo>
                    <a:pt x="0" y="0"/>
                  </a:lnTo>
                  <a:close/>
                </a:path>
              </a:pathLst>
            </a:custGeom>
            <a:blipFill>
              <a:blip r:embed="rId5"/>
              <a:stretch>
                <a:fillRect r="-6" b="-6"/>
              </a:stretch>
            </a:blipFill>
          </p:spPr>
          <p:txBody>
            <a:bodyPr/>
            <a:lstStyle/>
            <a:p>
              <a:endParaRPr lang="en-US"/>
            </a:p>
          </p:txBody>
        </p:sp>
      </p:grpSp>
      <p:sp>
        <p:nvSpPr>
          <p:cNvPr id="24" name="Freeform 24"/>
          <p:cNvSpPr/>
          <p:nvPr/>
        </p:nvSpPr>
        <p:spPr>
          <a:xfrm>
            <a:off x="13708026" y="4764603"/>
            <a:ext cx="1135088" cy="987527"/>
          </a:xfrm>
          <a:custGeom>
            <a:avLst/>
            <a:gdLst/>
            <a:ahLst/>
            <a:cxnLst/>
            <a:rect l="l" t="t" r="r" b="b"/>
            <a:pathLst>
              <a:path w="1135088" h="987527">
                <a:moveTo>
                  <a:pt x="0" y="0"/>
                </a:moveTo>
                <a:lnTo>
                  <a:pt x="1135088" y="0"/>
                </a:lnTo>
                <a:lnTo>
                  <a:pt x="1135088" y="987527"/>
                </a:lnTo>
                <a:lnTo>
                  <a:pt x="0" y="98752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5" name="TextBox 25"/>
          <p:cNvSpPr txBox="1"/>
          <p:nvPr/>
        </p:nvSpPr>
        <p:spPr>
          <a:xfrm>
            <a:off x="3300331" y="2837366"/>
            <a:ext cx="12020332" cy="1139190"/>
          </a:xfrm>
          <a:prstGeom prst="rect">
            <a:avLst/>
          </a:prstGeom>
        </p:spPr>
        <p:txBody>
          <a:bodyPr lIns="0" tIns="0" rIns="0" bIns="0" rtlCol="0" anchor="t">
            <a:spAutoFit/>
          </a:bodyPr>
          <a:lstStyle/>
          <a:p>
            <a:pPr marL="0" lvl="0" indent="0" algn="ctr">
              <a:lnSpc>
                <a:spcPts val="4649"/>
              </a:lnSpc>
              <a:spcBef>
                <a:spcPct val="0"/>
              </a:spcBef>
            </a:pPr>
            <a:r>
              <a:rPr lang="en-US" sz="3099">
                <a:solidFill>
                  <a:srgbClr val="000000"/>
                </a:solidFill>
                <a:latin typeface="Raleway"/>
                <a:ea typeface="Raleway"/>
                <a:cs typeface="Raleway"/>
                <a:sym typeface="Raleway"/>
              </a:rPr>
              <a:t>La </a:t>
            </a:r>
            <a:r>
              <a:rPr lang="en-US" sz="3099" b="1">
                <a:solidFill>
                  <a:srgbClr val="000000"/>
                </a:solidFill>
                <a:latin typeface="Raleway Bold"/>
                <a:ea typeface="Raleway Bold"/>
                <a:cs typeface="Raleway Bold"/>
                <a:sym typeface="Raleway Bold"/>
              </a:rPr>
              <a:t>gestión documental </a:t>
            </a:r>
            <a:r>
              <a:rPr lang="en-US" sz="3099">
                <a:solidFill>
                  <a:srgbClr val="000000"/>
                </a:solidFill>
                <a:latin typeface="Raleway"/>
                <a:ea typeface="Raleway"/>
                <a:cs typeface="Raleway"/>
                <a:sym typeface="Raleway"/>
              </a:rPr>
              <a:t>en las organizaciones presenta varios </a:t>
            </a:r>
            <a:r>
              <a:rPr lang="en-US" sz="3099" b="1">
                <a:solidFill>
                  <a:srgbClr val="000000"/>
                </a:solidFill>
                <a:latin typeface="Raleway Bold"/>
                <a:ea typeface="Raleway Bold"/>
                <a:cs typeface="Raleway Bold"/>
                <a:sym typeface="Raleway Bold"/>
              </a:rPr>
              <a:t>desafios</a:t>
            </a:r>
            <a:r>
              <a:rPr lang="en-US" sz="3099">
                <a:solidFill>
                  <a:srgbClr val="000000"/>
                </a:solidFill>
                <a:latin typeface="Raleway"/>
                <a:ea typeface="Raleway"/>
                <a:cs typeface="Raleway"/>
                <a:sym typeface="Raleway"/>
              </a:rPr>
              <a:t>:</a:t>
            </a:r>
          </a:p>
        </p:txBody>
      </p:sp>
      <p:sp>
        <p:nvSpPr>
          <p:cNvPr id="26" name="TextBox 26"/>
          <p:cNvSpPr txBox="1"/>
          <p:nvPr/>
        </p:nvSpPr>
        <p:spPr>
          <a:xfrm>
            <a:off x="2625980" y="6151125"/>
            <a:ext cx="3475022"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Gestión manual</a:t>
            </a:r>
          </a:p>
        </p:txBody>
      </p:sp>
      <p:sp>
        <p:nvSpPr>
          <p:cNvPr id="27" name="TextBox 27"/>
          <p:cNvSpPr txBox="1"/>
          <p:nvPr/>
        </p:nvSpPr>
        <p:spPr>
          <a:xfrm>
            <a:off x="7187180" y="6151125"/>
            <a:ext cx="4361587"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Información dispersa</a:t>
            </a:r>
          </a:p>
        </p:txBody>
      </p:sp>
      <p:sp>
        <p:nvSpPr>
          <p:cNvPr id="28" name="TextBox 28"/>
          <p:cNvSpPr txBox="1"/>
          <p:nvPr/>
        </p:nvSpPr>
        <p:spPr>
          <a:xfrm>
            <a:off x="12684073" y="6151125"/>
            <a:ext cx="3416763"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Sin trazabilidad</a:t>
            </a:r>
          </a:p>
        </p:txBody>
      </p:sp>
      <p:sp>
        <p:nvSpPr>
          <p:cNvPr id="29" name="TextBox 29"/>
          <p:cNvSpPr txBox="1"/>
          <p:nvPr/>
        </p:nvSpPr>
        <p:spPr>
          <a:xfrm>
            <a:off x="2464798" y="6589275"/>
            <a:ext cx="3738090"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Tareas y aprobaciones gestionadas de forma manual.</a:t>
            </a:r>
          </a:p>
        </p:txBody>
      </p:sp>
      <p:sp>
        <p:nvSpPr>
          <p:cNvPr id="30" name="TextBox 30"/>
          <p:cNvSpPr txBox="1"/>
          <p:nvPr/>
        </p:nvSpPr>
        <p:spPr>
          <a:xfrm>
            <a:off x="7412464" y="6570225"/>
            <a:ext cx="4003565" cy="9055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Documentos en distintos canales y áreas</a:t>
            </a:r>
          </a:p>
        </p:txBody>
      </p:sp>
      <p:sp>
        <p:nvSpPr>
          <p:cNvPr id="31" name="TextBox 31"/>
          <p:cNvSpPr txBox="1"/>
          <p:nvPr/>
        </p:nvSpPr>
        <p:spPr>
          <a:xfrm>
            <a:off x="12523410" y="6589275"/>
            <a:ext cx="3738090" cy="9055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No hay control formal de cambios</a:t>
            </a:r>
          </a:p>
        </p:txBody>
      </p:sp>
      <p:grpSp>
        <p:nvGrpSpPr>
          <p:cNvPr id="32" name="Group 32"/>
          <p:cNvGrpSpPr/>
          <p:nvPr/>
        </p:nvGrpSpPr>
        <p:grpSpPr>
          <a:xfrm>
            <a:off x="2101557" y="8584699"/>
            <a:ext cx="14379518" cy="1423403"/>
            <a:chOff x="0" y="0"/>
            <a:chExt cx="3246102" cy="321326"/>
          </a:xfrm>
        </p:grpSpPr>
        <p:sp>
          <p:nvSpPr>
            <p:cNvPr id="33" name="Freeform 33"/>
            <p:cNvSpPr/>
            <p:nvPr/>
          </p:nvSpPr>
          <p:spPr>
            <a:xfrm>
              <a:off x="0" y="0"/>
              <a:ext cx="3246102" cy="321326"/>
            </a:xfrm>
            <a:custGeom>
              <a:avLst/>
              <a:gdLst/>
              <a:ahLst/>
              <a:cxnLst/>
              <a:rect l="l" t="t" r="r" b="b"/>
              <a:pathLst>
                <a:path w="3246102" h="321326">
                  <a:moveTo>
                    <a:pt x="3246102" y="16152"/>
                  </a:moveTo>
                  <a:lnTo>
                    <a:pt x="3246102" y="305174"/>
                  </a:lnTo>
                  <a:cubicBezTo>
                    <a:pt x="3246102" y="309458"/>
                    <a:pt x="3244400" y="313566"/>
                    <a:pt x="3241371" y="316595"/>
                  </a:cubicBezTo>
                  <a:cubicBezTo>
                    <a:pt x="3238342" y="319624"/>
                    <a:pt x="3234234" y="321326"/>
                    <a:pt x="3229950" y="321326"/>
                  </a:cubicBezTo>
                  <a:lnTo>
                    <a:pt x="16152" y="321326"/>
                  </a:lnTo>
                  <a:cubicBezTo>
                    <a:pt x="7231" y="321326"/>
                    <a:pt x="0" y="314094"/>
                    <a:pt x="0" y="305174"/>
                  </a:cubicBezTo>
                  <a:lnTo>
                    <a:pt x="0" y="16152"/>
                  </a:lnTo>
                  <a:cubicBezTo>
                    <a:pt x="0" y="11868"/>
                    <a:pt x="1702" y="7760"/>
                    <a:pt x="4731" y="4731"/>
                  </a:cubicBezTo>
                  <a:cubicBezTo>
                    <a:pt x="7760" y="1702"/>
                    <a:pt x="11868" y="0"/>
                    <a:pt x="16152" y="0"/>
                  </a:cubicBezTo>
                  <a:lnTo>
                    <a:pt x="3229950" y="0"/>
                  </a:lnTo>
                  <a:cubicBezTo>
                    <a:pt x="3234234" y="0"/>
                    <a:pt x="3238342" y="1702"/>
                    <a:pt x="3241371" y="4731"/>
                  </a:cubicBezTo>
                  <a:cubicBezTo>
                    <a:pt x="3244400" y="7760"/>
                    <a:pt x="3246102" y="11868"/>
                    <a:pt x="3246102" y="16152"/>
                  </a:cubicBezTo>
                  <a:close/>
                </a:path>
              </a:pathLst>
            </a:custGeom>
            <a:solidFill>
              <a:srgbClr val="3B567A"/>
            </a:solidFill>
          </p:spPr>
          <p:txBody>
            <a:bodyPr/>
            <a:lstStyle/>
            <a:p>
              <a:endParaRPr lang="en-US"/>
            </a:p>
          </p:txBody>
        </p:sp>
        <p:sp>
          <p:nvSpPr>
            <p:cNvPr id="34" name="TextBox 34"/>
            <p:cNvSpPr txBox="1"/>
            <p:nvPr/>
          </p:nvSpPr>
          <p:spPr>
            <a:xfrm>
              <a:off x="0" y="-38100"/>
              <a:ext cx="3246102" cy="359426"/>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2464798" y="8835330"/>
            <a:ext cx="14145216" cy="895350"/>
          </a:xfrm>
          <a:prstGeom prst="rect">
            <a:avLst/>
          </a:prstGeom>
        </p:spPr>
        <p:txBody>
          <a:bodyPr lIns="0" tIns="0" rIns="0" bIns="0" rtlCol="0" anchor="t">
            <a:spAutoFit/>
          </a:bodyPr>
          <a:lstStyle/>
          <a:p>
            <a:pPr marL="0" lvl="0" indent="0" algn="l">
              <a:lnSpc>
                <a:spcPts val="3591"/>
              </a:lnSpc>
              <a:spcBef>
                <a:spcPct val="0"/>
              </a:spcBef>
            </a:pPr>
            <a:r>
              <a:rPr lang="en-US" sz="2993" b="1">
                <a:solidFill>
                  <a:srgbClr val="FFFFFF"/>
                </a:solidFill>
                <a:latin typeface="League Spartan"/>
                <a:ea typeface="League Spartan"/>
                <a:cs typeface="League Spartan"/>
                <a:sym typeface="League Spartan"/>
              </a:rPr>
              <a:t>Como resultado, se generan demoras, pérdida de información y falta de visibilidad sobre el estado de cada solicitud de revisión documental.</a:t>
            </a:r>
          </a:p>
        </p:txBody>
      </p:sp>
      <p:sp>
        <p:nvSpPr>
          <p:cNvPr id="36" name="Freeform 36"/>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7" name="TextBox 3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03 Necesidad</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Necesidad</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2139919" y="8384826"/>
            <a:ext cx="7037825" cy="1487592"/>
            <a:chOff x="0" y="0"/>
            <a:chExt cx="1557966" cy="329309"/>
          </a:xfrm>
        </p:grpSpPr>
        <p:sp>
          <p:nvSpPr>
            <p:cNvPr id="6" name="Freeform 6"/>
            <p:cNvSpPr/>
            <p:nvPr/>
          </p:nvSpPr>
          <p:spPr>
            <a:xfrm>
              <a:off x="0" y="0"/>
              <a:ext cx="1557966" cy="329309"/>
            </a:xfrm>
            <a:custGeom>
              <a:avLst/>
              <a:gdLst/>
              <a:ahLst/>
              <a:cxnLst/>
              <a:rect l="l" t="t" r="r" b="b"/>
              <a:pathLst>
                <a:path w="1557966" h="329309">
                  <a:moveTo>
                    <a:pt x="1557966" y="33001"/>
                  </a:moveTo>
                  <a:lnTo>
                    <a:pt x="1557966" y="296307"/>
                  </a:lnTo>
                  <a:cubicBezTo>
                    <a:pt x="1557966" y="305060"/>
                    <a:pt x="1554489" y="313454"/>
                    <a:pt x="1548300" y="319643"/>
                  </a:cubicBezTo>
                  <a:cubicBezTo>
                    <a:pt x="1542111" y="325832"/>
                    <a:pt x="1533717" y="329309"/>
                    <a:pt x="1524964" y="329309"/>
                  </a:cubicBezTo>
                  <a:lnTo>
                    <a:pt x="33001" y="329309"/>
                  </a:lnTo>
                  <a:cubicBezTo>
                    <a:pt x="24249" y="329309"/>
                    <a:pt x="15855" y="325832"/>
                    <a:pt x="9666" y="319643"/>
                  </a:cubicBezTo>
                  <a:cubicBezTo>
                    <a:pt x="3477" y="313454"/>
                    <a:pt x="0" y="305060"/>
                    <a:pt x="0" y="296307"/>
                  </a:cubicBezTo>
                  <a:lnTo>
                    <a:pt x="0" y="33001"/>
                  </a:lnTo>
                  <a:cubicBezTo>
                    <a:pt x="0" y="24249"/>
                    <a:pt x="3477" y="15855"/>
                    <a:pt x="9666" y="9666"/>
                  </a:cubicBezTo>
                  <a:cubicBezTo>
                    <a:pt x="15855" y="3477"/>
                    <a:pt x="24249" y="0"/>
                    <a:pt x="33001" y="0"/>
                  </a:cubicBezTo>
                  <a:lnTo>
                    <a:pt x="1524964" y="0"/>
                  </a:lnTo>
                  <a:cubicBezTo>
                    <a:pt x="1533717" y="0"/>
                    <a:pt x="1542111" y="3477"/>
                    <a:pt x="1548300" y="9666"/>
                  </a:cubicBezTo>
                  <a:cubicBezTo>
                    <a:pt x="1554489" y="15855"/>
                    <a:pt x="1557966" y="24249"/>
                    <a:pt x="1557966" y="33001"/>
                  </a:cubicBezTo>
                  <a:close/>
                </a:path>
              </a:pathLst>
            </a:custGeom>
            <a:solidFill>
              <a:srgbClr val="FFFFFF"/>
            </a:solidFill>
          </p:spPr>
          <p:txBody>
            <a:bodyPr/>
            <a:lstStyle/>
            <a:p>
              <a:endParaRPr lang="en-US"/>
            </a:p>
          </p:txBody>
        </p:sp>
        <p:sp>
          <p:nvSpPr>
            <p:cNvPr id="7" name="TextBox 7"/>
            <p:cNvSpPr txBox="1"/>
            <p:nvPr/>
          </p:nvSpPr>
          <p:spPr>
            <a:xfrm>
              <a:off x="0" y="-38100"/>
              <a:ext cx="1557966" cy="36740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652868" y="8383546"/>
            <a:ext cx="7037825" cy="1487592"/>
            <a:chOff x="0" y="0"/>
            <a:chExt cx="1557966" cy="329309"/>
          </a:xfrm>
        </p:grpSpPr>
        <p:sp>
          <p:nvSpPr>
            <p:cNvPr id="9" name="Freeform 9"/>
            <p:cNvSpPr/>
            <p:nvPr/>
          </p:nvSpPr>
          <p:spPr>
            <a:xfrm>
              <a:off x="0" y="0"/>
              <a:ext cx="1557966" cy="329309"/>
            </a:xfrm>
            <a:custGeom>
              <a:avLst/>
              <a:gdLst/>
              <a:ahLst/>
              <a:cxnLst/>
              <a:rect l="l" t="t" r="r" b="b"/>
              <a:pathLst>
                <a:path w="1557966" h="329309">
                  <a:moveTo>
                    <a:pt x="1557966" y="33001"/>
                  </a:moveTo>
                  <a:lnTo>
                    <a:pt x="1557966" y="296307"/>
                  </a:lnTo>
                  <a:cubicBezTo>
                    <a:pt x="1557966" y="305060"/>
                    <a:pt x="1554489" y="313454"/>
                    <a:pt x="1548300" y="319643"/>
                  </a:cubicBezTo>
                  <a:cubicBezTo>
                    <a:pt x="1542111" y="325832"/>
                    <a:pt x="1533717" y="329309"/>
                    <a:pt x="1524964" y="329309"/>
                  </a:cubicBezTo>
                  <a:lnTo>
                    <a:pt x="33001" y="329309"/>
                  </a:lnTo>
                  <a:cubicBezTo>
                    <a:pt x="24249" y="329309"/>
                    <a:pt x="15855" y="325832"/>
                    <a:pt x="9666" y="319643"/>
                  </a:cubicBezTo>
                  <a:cubicBezTo>
                    <a:pt x="3477" y="313454"/>
                    <a:pt x="0" y="305060"/>
                    <a:pt x="0" y="296307"/>
                  </a:cubicBezTo>
                  <a:lnTo>
                    <a:pt x="0" y="33001"/>
                  </a:lnTo>
                  <a:cubicBezTo>
                    <a:pt x="0" y="24249"/>
                    <a:pt x="3477" y="15855"/>
                    <a:pt x="9666" y="9666"/>
                  </a:cubicBezTo>
                  <a:cubicBezTo>
                    <a:pt x="15855" y="3477"/>
                    <a:pt x="24249" y="0"/>
                    <a:pt x="33001" y="0"/>
                  </a:cubicBezTo>
                  <a:lnTo>
                    <a:pt x="1524964" y="0"/>
                  </a:lnTo>
                  <a:cubicBezTo>
                    <a:pt x="1533717" y="0"/>
                    <a:pt x="1542111" y="3477"/>
                    <a:pt x="1548300" y="9666"/>
                  </a:cubicBezTo>
                  <a:cubicBezTo>
                    <a:pt x="1554489" y="15855"/>
                    <a:pt x="1557966" y="24249"/>
                    <a:pt x="1557966" y="33001"/>
                  </a:cubicBezTo>
                  <a:close/>
                </a:path>
              </a:pathLst>
            </a:custGeom>
            <a:solidFill>
              <a:srgbClr val="FFFFFF"/>
            </a:solidFill>
          </p:spPr>
          <p:txBody>
            <a:bodyPr/>
            <a:lstStyle/>
            <a:p>
              <a:endParaRPr lang="en-US"/>
            </a:p>
          </p:txBody>
        </p:sp>
        <p:sp>
          <p:nvSpPr>
            <p:cNvPr id="10" name="TextBox 10"/>
            <p:cNvSpPr txBox="1"/>
            <p:nvPr/>
          </p:nvSpPr>
          <p:spPr>
            <a:xfrm>
              <a:off x="0" y="-38100"/>
              <a:ext cx="1557966" cy="367409"/>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2432012" y="8559695"/>
            <a:ext cx="1289036" cy="1185913"/>
          </a:xfrm>
          <a:custGeom>
            <a:avLst/>
            <a:gdLst/>
            <a:ahLst/>
            <a:cxnLst/>
            <a:rect l="l" t="t" r="r" b="b"/>
            <a:pathLst>
              <a:path w="1289036" h="1185913">
                <a:moveTo>
                  <a:pt x="0" y="0"/>
                </a:moveTo>
                <a:lnTo>
                  <a:pt x="1289035" y="0"/>
                </a:lnTo>
                <a:lnTo>
                  <a:pt x="1289035" y="1185913"/>
                </a:lnTo>
                <a:lnTo>
                  <a:pt x="0" y="11859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9884034" y="8580090"/>
            <a:ext cx="1211771" cy="1145124"/>
          </a:xfrm>
          <a:custGeom>
            <a:avLst/>
            <a:gdLst/>
            <a:ahLst/>
            <a:cxnLst/>
            <a:rect l="l" t="t" r="r" b="b"/>
            <a:pathLst>
              <a:path w="1211771" h="1145124">
                <a:moveTo>
                  <a:pt x="0" y="0"/>
                </a:moveTo>
                <a:lnTo>
                  <a:pt x="1211771" y="0"/>
                </a:lnTo>
                <a:lnTo>
                  <a:pt x="1211771" y="1145123"/>
                </a:lnTo>
                <a:lnTo>
                  <a:pt x="0" y="114512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2278243" y="2512671"/>
            <a:ext cx="13983257" cy="1139190"/>
          </a:xfrm>
          <a:prstGeom prst="rect">
            <a:avLst/>
          </a:prstGeom>
        </p:spPr>
        <p:txBody>
          <a:bodyPr lIns="0" tIns="0" rIns="0" bIns="0" rtlCol="0" anchor="t">
            <a:spAutoFit/>
          </a:bodyPr>
          <a:lstStyle/>
          <a:p>
            <a:pPr marL="0" lvl="0" indent="0" algn="ctr">
              <a:lnSpc>
                <a:spcPts val="4649"/>
              </a:lnSpc>
              <a:spcBef>
                <a:spcPct val="0"/>
              </a:spcBef>
            </a:pPr>
            <a:r>
              <a:rPr lang="en-US" sz="3099">
                <a:solidFill>
                  <a:srgbClr val="000000"/>
                </a:solidFill>
                <a:latin typeface="Raleway"/>
                <a:ea typeface="Raleway"/>
                <a:cs typeface="Raleway"/>
                <a:sym typeface="Raleway"/>
              </a:rPr>
              <a:t>Frente a estos desafíos, </a:t>
            </a:r>
            <a:r>
              <a:rPr lang="en-US" sz="3099" b="1">
                <a:solidFill>
                  <a:srgbClr val="000000"/>
                </a:solidFill>
                <a:latin typeface="Raleway Bold"/>
                <a:ea typeface="Raleway Bold"/>
                <a:cs typeface="Raleway Bold"/>
                <a:sym typeface="Raleway Bold"/>
              </a:rPr>
              <a:t>Masterbase requiere una solución tecnológica </a:t>
            </a:r>
            <a:r>
              <a:rPr lang="en-US" sz="3099">
                <a:solidFill>
                  <a:srgbClr val="000000"/>
                </a:solidFill>
                <a:latin typeface="Raleway"/>
                <a:ea typeface="Raleway"/>
                <a:cs typeface="Raleway"/>
                <a:sym typeface="Raleway"/>
              </a:rPr>
              <a:t>que apoye la </a:t>
            </a:r>
            <a:r>
              <a:rPr lang="en-US" sz="3099" b="1">
                <a:solidFill>
                  <a:srgbClr val="000000"/>
                </a:solidFill>
                <a:latin typeface="Raleway Bold"/>
                <a:ea typeface="Raleway Bold"/>
                <a:cs typeface="Raleway Bold"/>
                <a:sym typeface="Raleway Bold"/>
              </a:rPr>
              <a:t>gestión de documentos y solicitudes de cambios.</a:t>
            </a:r>
          </a:p>
        </p:txBody>
      </p:sp>
      <p:sp>
        <p:nvSpPr>
          <p:cNvPr id="14" name="TextBox 14"/>
          <p:cNvSpPr txBox="1"/>
          <p:nvPr/>
        </p:nvSpPr>
        <p:spPr>
          <a:xfrm>
            <a:off x="1095504" y="7783471"/>
            <a:ext cx="3001054" cy="476250"/>
          </a:xfrm>
          <a:prstGeom prst="rect">
            <a:avLst/>
          </a:prstGeom>
        </p:spPr>
        <p:txBody>
          <a:bodyPr lIns="0" tIns="0" rIns="0" bIns="0" rtlCol="0" anchor="t">
            <a:spAutoFit/>
          </a:bodyPr>
          <a:lstStyle/>
          <a:p>
            <a:pPr marL="0" lvl="0" indent="0" algn="ctr">
              <a:lnSpc>
                <a:spcPts val="3711"/>
              </a:lnSpc>
              <a:spcBef>
                <a:spcPct val="0"/>
              </a:spcBef>
            </a:pPr>
            <a:r>
              <a:rPr lang="en-US" sz="3093" b="1">
                <a:solidFill>
                  <a:srgbClr val="3B567A"/>
                </a:solidFill>
                <a:latin typeface="League Spartan"/>
                <a:ea typeface="League Spartan"/>
                <a:cs typeface="League Spartan"/>
                <a:sym typeface="League Spartan"/>
              </a:rPr>
              <a:t>Evitando</a:t>
            </a:r>
          </a:p>
        </p:txBody>
      </p:sp>
      <p:sp>
        <p:nvSpPr>
          <p:cNvPr id="15" name="TextBox 15"/>
          <p:cNvSpPr txBox="1"/>
          <p:nvPr/>
        </p:nvSpPr>
        <p:spPr>
          <a:xfrm>
            <a:off x="3829787" y="8896348"/>
            <a:ext cx="5191001" cy="464548"/>
          </a:xfrm>
          <a:prstGeom prst="rect">
            <a:avLst/>
          </a:prstGeom>
        </p:spPr>
        <p:txBody>
          <a:bodyPr lIns="0" tIns="0" rIns="0" bIns="0" rtlCol="0" anchor="t">
            <a:spAutoFit/>
          </a:bodyPr>
          <a:lstStyle/>
          <a:p>
            <a:pPr marL="0" lvl="0" indent="0" algn="l">
              <a:lnSpc>
                <a:spcPts val="3741"/>
              </a:lnSpc>
              <a:spcBef>
                <a:spcPct val="0"/>
              </a:spcBef>
            </a:pPr>
            <a:r>
              <a:rPr lang="en-US" sz="3118" b="1">
                <a:solidFill>
                  <a:srgbClr val="3B567A"/>
                </a:solidFill>
                <a:latin typeface="League Spartan"/>
                <a:ea typeface="League Spartan"/>
                <a:cs typeface="League Spartan"/>
                <a:sym typeface="League Spartan"/>
              </a:rPr>
              <a:t>Pérdidas de información</a:t>
            </a:r>
          </a:p>
        </p:txBody>
      </p:sp>
      <p:sp>
        <p:nvSpPr>
          <p:cNvPr id="16" name="TextBox 16"/>
          <p:cNvSpPr txBox="1"/>
          <p:nvPr/>
        </p:nvSpPr>
        <p:spPr>
          <a:xfrm>
            <a:off x="11327797" y="8913748"/>
            <a:ext cx="5191001" cy="464548"/>
          </a:xfrm>
          <a:prstGeom prst="rect">
            <a:avLst/>
          </a:prstGeom>
        </p:spPr>
        <p:txBody>
          <a:bodyPr lIns="0" tIns="0" rIns="0" bIns="0" rtlCol="0" anchor="t">
            <a:spAutoFit/>
          </a:bodyPr>
          <a:lstStyle/>
          <a:p>
            <a:pPr marL="0" lvl="0" indent="0" algn="l">
              <a:lnSpc>
                <a:spcPts val="3741"/>
              </a:lnSpc>
              <a:spcBef>
                <a:spcPct val="0"/>
              </a:spcBef>
            </a:pPr>
            <a:r>
              <a:rPr lang="en-US" sz="3118" b="1">
                <a:solidFill>
                  <a:srgbClr val="3B567A"/>
                </a:solidFill>
                <a:latin typeface="League Spartan"/>
                <a:ea typeface="League Spartan"/>
                <a:cs typeface="League Spartan"/>
                <a:sym typeface="League Spartan"/>
              </a:rPr>
              <a:t>Retrasos en procesos</a:t>
            </a:r>
          </a:p>
        </p:txBody>
      </p:sp>
      <p:grpSp>
        <p:nvGrpSpPr>
          <p:cNvPr id="17" name="Group 17"/>
          <p:cNvGrpSpPr/>
          <p:nvPr/>
        </p:nvGrpSpPr>
        <p:grpSpPr>
          <a:xfrm>
            <a:off x="2139919" y="3909036"/>
            <a:ext cx="4231178" cy="3735669"/>
            <a:chOff x="0" y="0"/>
            <a:chExt cx="955167" cy="843308"/>
          </a:xfrm>
        </p:grpSpPr>
        <p:sp>
          <p:nvSpPr>
            <p:cNvPr id="18" name="Freeform 18"/>
            <p:cNvSpPr/>
            <p:nvPr/>
          </p:nvSpPr>
          <p:spPr>
            <a:xfrm>
              <a:off x="0" y="0"/>
              <a:ext cx="955167" cy="843308"/>
            </a:xfrm>
            <a:custGeom>
              <a:avLst/>
              <a:gdLst/>
              <a:ahLst/>
              <a:cxnLst/>
              <a:rect l="l" t="t" r="r" b="b"/>
              <a:pathLst>
                <a:path w="955167" h="843308">
                  <a:moveTo>
                    <a:pt x="955167" y="54892"/>
                  </a:moveTo>
                  <a:lnTo>
                    <a:pt x="955167" y="788416"/>
                  </a:lnTo>
                  <a:cubicBezTo>
                    <a:pt x="955167" y="818732"/>
                    <a:pt x="930591" y="843308"/>
                    <a:pt x="900275" y="843308"/>
                  </a:cubicBezTo>
                  <a:lnTo>
                    <a:pt x="54892" y="843308"/>
                  </a:lnTo>
                  <a:cubicBezTo>
                    <a:pt x="40334" y="843308"/>
                    <a:pt x="26372" y="837525"/>
                    <a:pt x="16077" y="827230"/>
                  </a:cubicBezTo>
                  <a:cubicBezTo>
                    <a:pt x="5783" y="816936"/>
                    <a:pt x="0" y="802974"/>
                    <a:pt x="0" y="788416"/>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19" name="TextBox 19"/>
            <p:cNvSpPr txBox="1"/>
            <p:nvPr/>
          </p:nvSpPr>
          <p:spPr>
            <a:xfrm>
              <a:off x="0" y="-38100"/>
              <a:ext cx="955167" cy="881408"/>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065969" y="3909036"/>
            <a:ext cx="4514350" cy="3735669"/>
            <a:chOff x="0" y="0"/>
            <a:chExt cx="1019091" cy="843308"/>
          </a:xfrm>
        </p:grpSpPr>
        <p:sp>
          <p:nvSpPr>
            <p:cNvPr id="21" name="Freeform 21"/>
            <p:cNvSpPr/>
            <p:nvPr/>
          </p:nvSpPr>
          <p:spPr>
            <a:xfrm>
              <a:off x="0" y="0"/>
              <a:ext cx="1019091" cy="843308"/>
            </a:xfrm>
            <a:custGeom>
              <a:avLst/>
              <a:gdLst/>
              <a:ahLst/>
              <a:cxnLst/>
              <a:rect l="l" t="t" r="r" b="b"/>
              <a:pathLst>
                <a:path w="1019091" h="843308">
                  <a:moveTo>
                    <a:pt x="1019091" y="51449"/>
                  </a:moveTo>
                  <a:lnTo>
                    <a:pt x="1019091" y="791859"/>
                  </a:lnTo>
                  <a:cubicBezTo>
                    <a:pt x="1019091" y="805504"/>
                    <a:pt x="1013671" y="818590"/>
                    <a:pt x="1004022" y="828239"/>
                  </a:cubicBezTo>
                  <a:cubicBezTo>
                    <a:pt x="994374" y="837887"/>
                    <a:pt x="981288" y="843308"/>
                    <a:pt x="967643" y="843308"/>
                  </a:cubicBezTo>
                  <a:lnTo>
                    <a:pt x="51449" y="843308"/>
                  </a:lnTo>
                  <a:cubicBezTo>
                    <a:pt x="37804" y="843308"/>
                    <a:pt x="24717" y="837887"/>
                    <a:pt x="15069" y="828239"/>
                  </a:cubicBezTo>
                  <a:cubicBezTo>
                    <a:pt x="5420" y="818590"/>
                    <a:pt x="0" y="805504"/>
                    <a:pt x="0" y="791859"/>
                  </a:cubicBezTo>
                  <a:lnTo>
                    <a:pt x="0" y="51449"/>
                  </a:lnTo>
                  <a:cubicBezTo>
                    <a:pt x="0" y="37804"/>
                    <a:pt x="5420" y="24717"/>
                    <a:pt x="15069" y="15069"/>
                  </a:cubicBezTo>
                  <a:cubicBezTo>
                    <a:pt x="24717" y="5420"/>
                    <a:pt x="37804" y="0"/>
                    <a:pt x="51449" y="0"/>
                  </a:cubicBezTo>
                  <a:lnTo>
                    <a:pt x="967643" y="0"/>
                  </a:lnTo>
                  <a:cubicBezTo>
                    <a:pt x="996057" y="0"/>
                    <a:pt x="1019091" y="23034"/>
                    <a:pt x="1019091" y="51449"/>
                  </a:cubicBezTo>
                  <a:close/>
                </a:path>
              </a:pathLst>
            </a:custGeom>
            <a:solidFill>
              <a:srgbClr val="FFFFFF"/>
            </a:solidFill>
          </p:spPr>
          <p:txBody>
            <a:bodyPr/>
            <a:lstStyle/>
            <a:p>
              <a:endParaRPr lang="en-US"/>
            </a:p>
          </p:txBody>
        </p:sp>
        <p:sp>
          <p:nvSpPr>
            <p:cNvPr id="22" name="TextBox 22"/>
            <p:cNvSpPr txBox="1"/>
            <p:nvPr/>
          </p:nvSpPr>
          <p:spPr>
            <a:xfrm>
              <a:off x="0" y="-38100"/>
              <a:ext cx="1019091" cy="881408"/>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2249897" y="3909036"/>
            <a:ext cx="4231178" cy="3735669"/>
            <a:chOff x="0" y="0"/>
            <a:chExt cx="955167" cy="843308"/>
          </a:xfrm>
        </p:grpSpPr>
        <p:sp>
          <p:nvSpPr>
            <p:cNvPr id="24" name="Freeform 24"/>
            <p:cNvSpPr/>
            <p:nvPr/>
          </p:nvSpPr>
          <p:spPr>
            <a:xfrm>
              <a:off x="0" y="0"/>
              <a:ext cx="955167" cy="843308"/>
            </a:xfrm>
            <a:custGeom>
              <a:avLst/>
              <a:gdLst/>
              <a:ahLst/>
              <a:cxnLst/>
              <a:rect l="l" t="t" r="r" b="b"/>
              <a:pathLst>
                <a:path w="955167" h="843308">
                  <a:moveTo>
                    <a:pt x="955167" y="54892"/>
                  </a:moveTo>
                  <a:lnTo>
                    <a:pt x="955167" y="788416"/>
                  </a:lnTo>
                  <a:cubicBezTo>
                    <a:pt x="955167" y="818732"/>
                    <a:pt x="930591" y="843308"/>
                    <a:pt x="900275" y="843308"/>
                  </a:cubicBezTo>
                  <a:lnTo>
                    <a:pt x="54892" y="843308"/>
                  </a:lnTo>
                  <a:cubicBezTo>
                    <a:pt x="40334" y="843308"/>
                    <a:pt x="26372" y="837525"/>
                    <a:pt x="16077" y="827230"/>
                  </a:cubicBezTo>
                  <a:cubicBezTo>
                    <a:pt x="5783" y="816936"/>
                    <a:pt x="0" y="802974"/>
                    <a:pt x="0" y="788416"/>
                  </a:cubicBezTo>
                  <a:lnTo>
                    <a:pt x="0" y="54892"/>
                  </a:lnTo>
                  <a:cubicBezTo>
                    <a:pt x="0" y="40334"/>
                    <a:pt x="5783" y="26372"/>
                    <a:pt x="16077" y="16077"/>
                  </a:cubicBezTo>
                  <a:cubicBezTo>
                    <a:pt x="26372" y="5783"/>
                    <a:pt x="40334" y="0"/>
                    <a:pt x="54892" y="0"/>
                  </a:cubicBezTo>
                  <a:lnTo>
                    <a:pt x="900275" y="0"/>
                  </a:lnTo>
                  <a:cubicBezTo>
                    <a:pt x="914833" y="0"/>
                    <a:pt x="928795" y="5783"/>
                    <a:pt x="939089" y="16077"/>
                  </a:cubicBezTo>
                  <a:cubicBezTo>
                    <a:pt x="949383" y="26372"/>
                    <a:pt x="955167" y="40334"/>
                    <a:pt x="955167" y="54892"/>
                  </a:cubicBezTo>
                  <a:close/>
                </a:path>
              </a:pathLst>
            </a:custGeom>
            <a:solidFill>
              <a:srgbClr val="FFFFFF"/>
            </a:solidFill>
          </p:spPr>
          <p:txBody>
            <a:bodyPr/>
            <a:lstStyle/>
            <a:p>
              <a:endParaRPr lang="en-US"/>
            </a:p>
          </p:txBody>
        </p:sp>
        <p:sp>
          <p:nvSpPr>
            <p:cNvPr id="25" name="TextBox 25"/>
            <p:cNvSpPr txBox="1"/>
            <p:nvPr/>
          </p:nvSpPr>
          <p:spPr>
            <a:xfrm>
              <a:off x="0" y="-38100"/>
              <a:ext cx="955167" cy="88140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3489088" y="4037457"/>
            <a:ext cx="1515815" cy="1515815"/>
            <a:chOff x="0" y="0"/>
            <a:chExt cx="1755648" cy="1755648"/>
          </a:xfrm>
        </p:grpSpPr>
        <p:sp>
          <p:nvSpPr>
            <p:cNvPr id="27" name="Freeform 27"/>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grpSp>
        <p:nvGrpSpPr>
          <p:cNvPr id="28" name="Group 28"/>
          <p:cNvGrpSpPr/>
          <p:nvPr/>
        </p:nvGrpSpPr>
        <p:grpSpPr>
          <a:xfrm>
            <a:off x="8602360" y="4037457"/>
            <a:ext cx="1416276" cy="1416276"/>
            <a:chOff x="0" y="0"/>
            <a:chExt cx="1755648" cy="1755648"/>
          </a:xfrm>
        </p:grpSpPr>
        <p:sp>
          <p:nvSpPr>
            <p:cNvPr id="29" name="Freeform 29"/>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grpSp>
        <p:nvGrpSpPr>
          <p:cNvPr id="30" name="Group 30"/>
          <p:cNvGrpSpPr/>
          <p:nvPr/>
        </p:nvGrpSpPr>
        <p:grpSpPr>
          <a:xfrm>
            <a:off x="3519900" y="4110489"/>
            <a:ext cx="1457543" cy="1457543"/>
            <a:chOff x="0" y="0"/>
            <a:chExt cx="1755648" cy="1755648"/>
          </a:xfrm>
        </p:grpSpPr>
        <p:sp>
          <p:nvSpPr>
            <p:cNvPr id="31" name="Freeform 31"/>
            <p:cNvSpPr/>
            <p:nvPr/>
          </p:nvSpPr>
          <p:spPr>
            <a:xfrm>
              <a:off x="0" y="0"/>
              <a:ext cx="1755648" cy="1755648"/>
            </a:xfrm>
            <a:custGeom>
              <a:avLst/>
              <a:gdLst/>
              <a:ahLst/>
              <a:cxnLst/>
              <a:rect l="l" t="t" r="r" b="b"/>
              <a:pathLst>
                <a:path w="1755648" h="1755648">
                  <a:moveTo>
                    <a:pt x="0" y="877824"/>
                  </a:moveTo>
                  <a:cubicBezTo>
                    <a:pt x="0" y="393065"/>
                    <a:pt x="393065" y="0"/>
                    <a:pt x="877824" y="0"/>
                  </a:cubicBezTo>
                  <a:cubicBezTo>
                    <a:pt x="1362583" y="0"/>
                    <a:pt x="1755648" y="393065"/>
                    <a:pt x="1755648" y="877824"/>
                  </a:cubicBezTo>
                  <a:cubicBezTo>
                    <a:pt x="1755648" y="1362583"/>
                    <a:pt x="1362583" y="1755648"/>
                    <a:pt x="877824" y="1755648"/>
                  </a:cubicBezTo>
                  <a:cubicBezTo>
                    <a:pt x="393065" y="1755648"/>
                    <a:pt x="0" y="1362583"/>
                    <a:pt x="0" y="877824"/>
                  </a:cubicBezTo>
                  <a:close/>
                </a:path>
              </a:pathLst>
            </a:custGeom>
            <a:solidFill>
              <a:srgbClr val="3D5E89"/>
            </a:solidFill>
          </p:spPr>
          <p:txBody>
            <a:bodyPr/>
            <a:lstStyle/>
            <a:p>
              <a:endParaRPr lang="en-US"/>
            </a:p>
          </p:txBody>
        </p:sp>
      </p:grpSp>
      <p:sp>
        <p:nvSpPr>
          <p:cNvPr id="32" name="TextBox 32"/>
          <p:cNvSpPr txBox="1"/>
          <p:nvPr/>
        </p:nvSpPr>
        <p:spPr>
          <a:xfrm>
            <a:off x="3520219" y="5703450"/>
            <a:ext cx="1470578"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Orden</a:t>
            </a:r>
          </a:p>
        </p:txBody>
      </p:sp>
      <p:sp>
        <p:nvSpPr>
          <p:cNvPr id="33" name="TextBox 33"/>
          <p:cNvSpPr txBox="1"/>
          <p:nvPr/>
        </p:nvSpPr>
        <p:spPr>
          <a:xfrm>
            <a:off x="8602360" y="5703450"/>
            <a:ext cx="1755090"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Control</a:t>
            </a:r>
          </a:p>
        </p:txBody>
      </p:sp>
      <p:sp>
        <p:nvSpPr>
          <p:cNvPr id="34" name="TextBox 34"/>
          <p:cNvSpPr txBox="1"/>
          <p:nvPr/>
        </p:nvSpPr>
        <p:spPr>
          <a:xfrm>
            <a:off x="13232040" y="5722500"/>
            <a:ext cx="2320830"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Visibilidad</a:t>
            </a:r>
          </a:p>
        </p:txBody>
      </p:sp>
      <p:sp>
        <p:nvSpPr>
          <p:cNvPr id="35" name="TextBox 35"/>
          <p:cNvSpPr txBox="1"/>
          <p:nvPr/>
        </p:nvSpPr>
        <p:spPr>
          <a:xfrm>
            <a:off x="2293665" y="6141600"/>
            <a:ext cx="3934421"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Procesos estandarizados, sin depender de tareas manuales</a:t>
            </a:r>
          </a:p>
        </p:txBody>
      </p:sp>
      <p:sp>
        <p:nvSpPr>
          <p:cNvPr id="36" name="TextBox 36"/>
          <p:cNvSpPr txBox="1"/>
          <p:nvPr/>
        </p:nvSpPr>
        <p:spPr>
          <a:xfrm>
            <a:off x="7491649" y="6141600"/>
            <a:ext cx="3738090"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Reglas claras de aprobación y responsables definidos</a:t>
            </a:r>
          </a:p>
        </p:txBody>
      </p:sp>
      <p:sp>
        <p:nvSpPr>
          <p:cNvPr id="37" name="TextBox 37"/>
          <p:cNvSpPr txBox="1"/>
          <p:nvPr/>
        </p:nvSpPr>
        <p:spPr>
          <a:xfrm>
            <a:off x="12523410" y="6141600"/>
            <a:ext cx="3738090"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Estado de cada solicitud disponible en todo momento</a:t>
            </a:r>
          </a:p>
        </p:txBody>
      </p:sp>
      <p:sp>
        <p:nvSpPr>
          <p:cNvPr id="38" name="Freeform 38"/>
          <p:cNvSpPr/>
          <p:nvPr/>
        </p:nvSpPr>
        <p:spPr>
          <a:xfrm>
            <a:off x="3753035" y="4405942"/>
            <a:ext cx="1015681" cy="949662"/>
          </a:xfrm>
          <a:custGeom>
            <a:avLst/>
            <a:gdLst/>
            <a:ahLst/>
            <a:cxnLst/>
            <a:rect l="l" t="t" r="r" b="b"/>
            <a:pathLst>
              <a:path w="1015681" h="949662">
                <a:moveTo>
                  <a:pt x="0" y="0"/>
                </a:moveTo>
                <a:lnTo>
                  <a:pt x="1015681" y="0"/>
                </a:lnTo>
                <a:lnTo>
                  <a:pt x="1015681" y="949662"/>
                </a:lnTo>
                <a:lnTo>
                  <a:pt x="0" y="9496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9" name="Freeform 39"/>
          <p:cNvSpPr/>
          <p:nvPr/>
        </p:nvSpPr>
        <p:spPr>
          <a:xfrm>
            <a:off x="8801489" y="4236981"/>
            <a:ext cx="1043310" cy="1017227"/>
          </a:xfrm>
          <a:custGeom>
            <a:avLst/>
            <a:gdLst/>
            <a:ahLst/>
            <a:cxnLst/>
            <a:rect l="l" t="t" r="r" b="b"/>
            <a:pathLst>
              <a:path w="1043310" h="1017227">
                <a:moveTo>
                  <a:pt x="0" y="0"/>
                </a:moveTo>
                <a:lnTo>
                  <a:pt x="1043310" y="0"/>
                </a:lnTo>
                <a:lnTo>
                  <a:pt x="1043310" y="1017227"/>
                </a:lnTo>
                <a:lnTo>
                  <a:pt x="0" y="101722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0" name="Freeform 40"/>
          <p:cNvSpPr/>
          <p:nvPr/>
        </p:nvSpPr>
        <p:spPr>
          <a:xfrm>
            <a:off x="13772164" y="4364430"/>
            <a:ext cx="949662" cy="949662"/>
          </a:xfrm>
          <a:custGeom>
            <a:avLst/>
            <a:gdLst/>
            <a:ahLst/>
            <a:cxnLst/>
            <a:rect l="l" t="t" r="r" b="b"/>
            <a:pathLst>
              <a:path w="949662" h="949662">
                <a:moveTo>
                  <a:pt x="0" y="0"/>
                </a:moveTo>
                <a:lnTo>
                  <a:pt x="949662" y="0"/>
                </a:lnTo>
                <a:lnTo>
                  <a:pt x="949662" y="949662"/>
                </a:lnTo>
                <a:lnTo>
                  <a:pt x="0" y="94966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1" name="Freeform 41"/>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2" name="TextBox 42"/>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04 Solución</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Solución</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528104" y="4294841"/>
            <a:ext cx="3258295" cy="3099783"/>
            <a:chOff x="0" y="0"/>
            <a:chExt cx="3791545" cy="3607091"/>
          </a:xfrm>
        </p:grpSpPr>
        <p:sp>
          <p:nvSpPr>
            <p:cNvPr id="6" name="Freeform 6"/>
            <p:cNvSpPr/>
            <p:nvPr/>
          </p:nvSpPr>
          <p:spPr>
            <a:xfrm>
              <a:off x="0" y="0"/>
              <a:ext cx="3791545" cy="3607091"/>
            </a:xfrm>
            <a:custGeom>
              <a:avLst/>
              <a:gdLst/>
              <a:ahLst/>
              <a:cxnLst/>
              <a:rect l="l" t="t" r="r" b="b"/>
              <a:pathLst>
                <a:path w="3791545" h="3607091">
                  <a:moveTo>
                    <a:pt x="0" y="332962"/>
                  </a:moveTo>
                  <a:cubicBezTo>
                    <a:pt x="0" y="149139"/>
                    <a:pt x="104511" y="0"/>
                    <a:pt x="233326" y="0"/>
                  </a:cubicBezTo>
                  <a:lnTo>
                    <a:pt x="3558219" y="0"/>
                  </a:lnTo>
                  <a:cubicBezTo>
                    <a:pt x="3687034" y="0"/>
                    <a:pt x="3791545" y="149139"/>
                    <a:pt x="3791545" y="332962"/>
                  </a:cubicBezTo>
                  <a:lnTo>
                    <a:pt x="3791545" y="3274128"/>
                  </a:lnTo>
                  <a:cubicBezTo>
                    <a:pt x="3791545" y="3457951"/>
                    <a:pt x="3687034" y="3607091"/>
                    <a:pt x="3558219" y="3607091"/>
                  </a:cubicBezTo>
                  <a:lnTo>
                    <a:pt x="233326" y="3607091"/>
                  </a:lnTo>
                  <a:cubicBezTo>
                    <a:pt x="104511" y="3607091"/>
                    <a:pt x="0" y="3457951"/>
                    <a:pt x="0" y="3274128"/>
                  </a:cubicBezTo>
                  <a:close/>
                </a:path>
              </a:pathLst>
            </a:custGeom>
            <a:solidFill>
              <a:srgbClr val="FFFFFF"/>
            </a:solidFill>
          </p:spPr>
          <p:txBody>
            <a:bodyPr/>
            <a:lstStyle/>
            <a:p>
              <a:endParaRPr lang="en-US"/>
            </a:p>
          </p:txBody>
        </p:sp>
      </p:grpSp>
      <p:grpSp>
        <p:nvGrpSpPr>
          <p:cNvPr id="7" name="Group 7"/>
          <p:cNvGrpSpPr/>
          <p:nvPr/>
        </p:nvGrpSpPr>
        <p:grpSpPr>
          <a:xfrm>
            <a:off x="2402509" y="4466999"/>
            <a:ext cx="1327963" cy="1327963"/>
            <a:chOff x="0" y="0"/>
            <a:chExt cx="1658112" cy="1658112"/>
          </a:xfrm>
        </p:grpSpPr>
        <p:sp>
          <p:nvSpPr>
            <p:cNvPr id="8" name="Freeform 8"/>
            <p:cNvSpPr/>
            <p:nvPr/>
          </p:nvSpPr>
          <p:spPr>
            <a:xfrm>
              <a:off x="0" y="0"/>
              <a:ext cx="1658112" cy="1658112"/>
            </a:xfrm>
            <a:custGeom>
              <a:avLst/>
              <a:gdLst/>
              <a:ahLst/>
              <a:cxnLst/>
              <a:rect l="l" t="t" r="r" b="b"/>
              <a:pathLst>
                <a:path w="1658112" h="1658112">
                  <a:moveTo>
                    <a:pt x="0" y="829056"/>
                  </a:moveTo>
                  <a:cubicBezTo>
                    <a:pt x="0" y="371221"/>
                    <a:pt x="371221" y="0"/>
                    <a:pt x="829056" y="0"/>
                  </a:cubicBezTo>
                  <a:cubicBezTo>
                    <a:pt x="1286891" y="0"/>
                    <a:pt x="1658112" y="371221"/>
                    <a:pt x="1658112" y="829056"/>
                  </a:cubicBezTo>
                  <a:cubicBezTo>
                    <a:pt x="1658112" y="1286891"/>
                    <a:pt x="1286891" y="1658112"/>
                    <a:pt x="829056" y="1658112"/>
                  </a:cubicBezTo>
                  <a:cubicBezTo>
                    <a:pt x="371221" y="1658112"/>
                    <a:pt x="0" y="1286891"/>
                    <a:pt x="0" y="829056"/>
                  </a:cubicBezTo>
                  <a:close/>
                </a:path>
              </a:pathLst>
            </a:custGeom>
            <a:solidFill>
              <a:srgbClr val="3D5E89"/>
            </a:solidFill>
          </p:spPr>
          <p:txBody>
            <a:bodyPr/>
            <a:lstStyle/>
            <a:p>
              <a:endParaRPr lang="en-US"/>
            </a:p>
          </p:txBody>
        </p:sp>
      </p:grpSp>
      <p:grpSp>
        <p:nvGrpSpPr>
          <p:cNvPr id="9" name="Group 9"/>
          <p:cNvGrpSpPr/>
          <p:nvPr/>
        </p:nvGrpSpPr>
        <p:grpSpPr>
          <a:xfrm>
            <a:off x="2721216" y="4785706"/>
            <a:ext cx="690539" cy="690539"/>
            <a:chOff x="0" y="0"/>
            <a:chExt cx="862216" cy="862216"/>
          </a:xfrm>
        </p:grpSpPr>
        <p:sp>
          <p:nvSpPr>
            <p:cNvPr id="10" name="Freeform 10" descr="icons/registrar.png"/>
            <p:cNvSpPr/>
            <p:nvPr/>
          </p:nvSpPr>
          <p:spPr>
            <a:xfrm>
              <a:off x="0" y="0"/>
              <a:ext cx="862203" cy="862203"/>
            </a:xfrm>
            <a:custGeom>
              <a:avLst/>
              <a:gdLst/>
              <a:ahLst/>
              <a:cxnLst/>
              <a:rect l="l" t="t" r="r" b="b"/>
              <a:pathLst>
                <a:path w="862203" h="862203">
                  <a:moveTo>
                    <a:pt x="0" y="0"/>
                  </a:moveTo>
                  <a:lnTo>
                    <a:pt x="862203" y="0"/>
                  </a:lnTo>
                  <a:lnTo>
                    <a:pt x="862203" y="862203"/>
                  </a:lnTo>
                  <a:lnTo>
                    <a:pt x="0" y="862203"/>
                  </a:lnTo>
                  <a:lnTo>
                    <a:pt x="0" y="0"/>
                  </a:lnTo>
                  <a:close/>
                </a:path>
              </a:pathLst>
            </a:custGeom>
            <a:blipFill>
              <a:blip r:embed="rId4"/>
              <a:stretch>
                <a:fillRect r="-1" b="-1"/>
              </a:stretch>
            </a:blipFill>
          </p:spPr>
          <p:txBody>
            <a:bodyPr/>
            <a:lstStyle/>
            <a:p>
              <a:endParaRPr lang="en-US"/>
            </a:p>
          </p:txBody>
        </p:sp>
      </p:grpSp>
      <p:grpSp>
        <p:nvGrpSpPr>
          <p:cNvPr id="11" name="Group 11"/>
          <p:cNvGrpSpPr/>
          <p:nvPr/>
        </p:nvGrpSpPr>
        <p:grpSpPr>
          <a:xfrm>
            <a:off x="4777604" y="5235834"/>
            <a:ext cx="801520" cy="838184"/>
            <a:chOff x="0" y="0"/>
            <a:chExt cx="932697" cy="975360"/>
          </a:xfrm>
        </p:grpSpPr>
        <p:sp>
          <p:nvSpPr>
            <p:cNvPr id="12" name="Freeform 12"/>
            <p:cNvSpPr/>
            <p:nvPr/>
          </p:nvSpPr>
          <p:spPr>
            <a:xfrm>
              <a:off x="0" y="0"/>
              <a:ext cx="932697" cy="975360"/>
            </a:xfrm>
            <a:custGeom>
              <a:avLst/>
              <a:gdLst/>
              <a:ahLst/>
              <a:cxnLst/>
              <a:rect l="l" t="t" r="r" b="b"/>
              <a:pathLst>
                <a:path w="932697" h="975360">
                  <a:moveTo>
                    <a:pt x="0" y="0"/>
                  </a:moveTo>
                  <a:lnTo>
                    <a:pt x="932697" y="0"/>
                  </a:lnTo>
                  <a:lnTo>
                    <a:pt x="932697" y="975360"/>
                  </a:lnTo>
                  <a:lnTo>
                    <a:pt x="0" y="975360"/>
                  </a:lnTo>
                  <a:close/>
                </a:path>
              </a:pathLst>
            </a:custGeom>
            <a:blipFill>
              <a:blip r:embed="rId5">
                <a:alphaModFix amt="0"/>
              </a:blip>
              <a:stretch>
                <a:fillRect l="-105414" r="-62930"/>
              </a:stretch>
            </a:blipFill>
          </p:spPr>
          <p:txBody>
            <a:bodyPr/>
            <a:lstStyle/>
            <a:p>
              <a:endParaRPr lang="en-US"/>
            </a:p>
          </p:txBody>
        </p:sp>
        <p:sp>
          <p:nvSpPr>
            <p:cNvPr id="13" name="TextBox 13"/>
            <p:cNvSpPr txBox="1"/>
            <p:nvPr/>
          </p:nvSpPr>
          <p:spPr>
            <a:xfrm>
              <a:off x="0" y="-57150"/>
              <a:ext cx="932697" cy="1032510"/>
            </a:xfrm>
            <a:prstGeom prst="rect">
              <a:avLst/>
            </a:prstGeom>
          </p:spPr>
          <p:txBody>
            <a:bodyPr lIns="0" tIns="0" rIns="0" bIns="0" rtlCol="0" anchor="ctr"/>
            <a:lstStyle/>
            <a:p>
              <a:pPr algn="ctr">
                <a:lnSpc>
                  <a:spcPts val="3840"/>
                </a:lnSpc>
              </a:pPr>
              <a:r>
                <a:rPr lang="en-US" sz="3200" b="1">
                  <a:solidFill>
                    <a:srgbClr val="3D5E89"/>
                  </a:solidFill>
                  <a:latin typeface="Calibri (MS) Bold"/>
                  <a:ea typeface="Calibri (MS) Bold"/>
                  <a:cs typeface="Calibri (MS) Bold"/>
                  <a:sym typeface="Calibri (MS) Bold"/>
                </a:rPr>
                <a:t>→</a:t>
              </a:r>
            </a:p>
          </p:txBody>
        </p:sp>
      </p:grpSp>
      <p:grpSp>
        <p:nvGrpSpPr>
          <p:cNvPr id="14" name="Group 14"/>
          <p:cNvGrpSpPr/>
          <p:nvPr/>
        </p:nvGrpSpPr>
        <p:grpSpPr>
          <a:xfrm>
            <a:off x="15551977" y="4649754"/>
            <a:ext cx="690539" cy="690539"/>
            <a:chOff x="0" y="0"/>
            <a:chExt cx="862216" cy="862216"/>
          </a:xfrm>
        </p:grpSpPr>
        <p:sp>
          <p:nvSpPr>
            <p:cNvPr id="15" name="Freeform 15" descr="icons/seguimiento.png"/>
            <p:cNvSpPr/>
            <p:nvPr/>
          </p:nvSpPr>
          <p:spPr>
            <a:xfrm>
              <a:off x="0" y="0"/>
              <a:ext cx="862203" cy="862203"/>
            </a:xfrm>
            <a:custGeom>
              <a:avLst/>
              <a:gdLst/>
              <a:ahLst/>
              <a:cxnLst/>
              <a:rect l="l" t="t" r="r" b="b"/>
              <a:pathLst>
                <a:path w="862203" h="862203">
                  <a:moveTo>
                    <a:pt x="0" y="0"/>
                  </a:moveTo>
                  <a:lnTo>
                    <a:pt x="862203" y="0"/>
                  </a:lnTo>
                  <a:lnTo>
                    <a:pt x="862203" y="862203"/>
                  </a:lnTo>
                  <a:lnTo>
                    <a:pt x="0" y="862203"/>
                  </a:lnTo>
                  <a:lnTo>
                    <a:pt x="0" y="0"/>
                  </a:lnTo>
                  <a:close/>
                </a:path>
              </a:pathLst>
            </a:custGeom>
            <a:blipFill>
              <a:blip r:embed="rId6"/>
              <a:stretch>
                <a:fillRect r="-1" b="-1"/>
              </a:stretch>
            </a:blipFill>
          </p:spPr>
          <p:txBody>
            <a:bodyPr/>
            <a:lstStyle/>
            <a:p>
              <a:endParaRPr lang="en-US"/>
            </a:p>
          </p:txBody>
        </p:sp>
      </p:grpSp>
      <p:grpSp>
        <p:nvGrpSpPr>
          <p:cNvPr id="16" name="Group 16"/>
          <p:cNvGrpSpPr/>
          <p:nvPr/>
        </p:nvGrpSpPr>
        <p:grpSpPr>
          <a:xfrm>
            <a:off x="5589172" y="4311048"/>
            <a:ext cx="3258295" cy="3099783"/>
            <a:chOff x="0" y="0"/>
            <a:chExt cx="3791545" cy="3607091"/>
          </a:xfrm>
        </p:grpSpPr>
        <p:sp>
          <p:nvSpPr>
            <p:cNvPr id="17" name="Freeform 17"/>
            <p:cNvSpPr/>
            <p:nvPr/>
          </p:nvSpPr>
          <p:spPr>
            <a:xfrm>
              <a:off x="0" y="0"/>
              <a:ext cx="3791545" cy="3607091"/>
            </a:xfrm>
            <a:custGeom>
              <a:avLst/>
              <a:gdLst/>
              <a:ahLst/>
              <a:cxnLst/>
              <a:rect l="l" t="t" r="r" b="b"/>
              <a:pathLst>
                <a:path w="3791545" h="3607091">
                  <a:moveTo>
                    <a:pt x="0" y="332962"/>
                  </a:moveTo>
                  <a:cubicBezTo>
                    <a:pt x="0" y="149139"/>
                    <a:pt x="104511" y="0"/>
                    <a:pt x="233326" y="0"/>
                  </a:cubicBezTo>
                  <a:lnTo>
                    <a:pt x="3558219" y="0"/>
                  </a:lnTo>
                  <a:cubicBezTo>
                    <a:pt x="3687034" y="0"/>
                    <a:pt x="3791545" y="149139"/>
                    <a:pt x="3791545" y="332962"/>
                  </a:cubicBezTo>
                  <a:lnTo>
                    <a:pt x="3791545" y="3274128"/>
                  </a:lnTo>
                  <a:cubicBezTo>
                    <a:pt x="3791545" y="3457951"/>
                    <a:pt x="3687034" y="3607091"/>
                    <a:pt x="3558219" y="3607091"/>
                  </a:cubicBezTo>
                  <a:lnTo>
                    <a:pt x="233326" y="3607091"/>
                  </a:lnTo>
                  <a:cubicBezTo>
                    <a:pt x="104511" y="3607091"/>
                    <a:pt x="0" y="3457951"/>
                    <a:pt x="0" y="3274128"/>
                  </a:cubicBezTo>
                  <a:close/>
                </a:path>
              </a:pathLst>
            </a:custGeom>
            <a:solidFill>
              <a:srgbClr val="FFFFFF"/>
            </a:solidFill>
          </p:spPr>
          <p:txBody>
            <a:bodyPr/>
            <a:lstStyle/>
            <a:p>
              <a:endParaRPr lang="en-US"/>
            </a:p>
          </p:txBody>
        </p:sp>
      </p:grpSp>
      <p:grpSp>
        <p:nvGrpSpPr>
          <p:cNvPr id="18" name="Group 18"/>
          <p:cNvGrpSpPr/>
          <p:nvPr/>
        </p:nvGrpSpPr>
        <p:grpSpPr>
          <a:xfrm>
            <a:off x="6525415" y="4499038"/>
            <a:ext cx="1327963" cy="1327963"/>
            <a:chOff x="0" y="0"/>
            <a:chExt cx="1658112" cy="1658112"/>
          </a:xfrm>
        </p:grpSpPr>
        <p:sp>
          <p:nvSpPr>
            <p:cNvPr id="19" name="Freeform 19"/>
            <p:cNvSpPr/>
            <p:nvPr/>
          </p:nvSpPr>
          <p:spPr>
            <a:xfrm>
              <a:off x="0" y="0"/>
              <a:ext cx="1658112" cy="1658112"/>
            </a:xfrm>
            <a:custGeom>
              <a:avLst/>
              <a:gdLst/>
              <a:ahLst/>
              <a:cxnLst/>
              <a:rect l="l" t="t" r="r" b="b"/>
              <a:pathLst>
                <a:path w="1658112" h="1658112">
                  <a:moveTo>
                    <a:pt x="0" y="829056"/>
                  </a:moveTo>
                  <a:cubicBezTo>
                    <a:pt x="0" y="371221"/>
                    <a:pt x="371221" y="0"/>
                    <a:pt x="829056" y="0"/>
                  </a:cubicBezTo>
                  <a:cubicBezTo>
                    <a:pt x="1286891" y="0"/>
                    <a:pt x="1658112" y="371221"/>
                    <a:pt x="1658112" y="829056"/>
                  </a:cubicBezTo>
                  <a:cubicBezTo>
                    <a:pt x="1658112" y="1286891"/>
                    <a:pt x="1286891" y="1658112"/>
                    <a:pt x="829056" y="1658112"/>
                  </a:cubicBezTo>
                  <a:cubicBezTo>
                    <a:pt x="371221" y="1658112"/>
                    <a:pt x="0" y="1286891"/>
                    <a:pt x="0" y="829056"/>
                  </a:cubicBezTo>
                  <a:close/>
                </a:path>
              </a:pathLst>
            </a:custGeom>
            <a:solidFill>
              <a:srgbClr val="3D5E89"/>
            </a:solidFill>
          </p:spPr>
          <p:txBody>
            <a:bodyPr/>
            <a:lstStyle/>
            <a:p>
              <a:endParaRPr lang="en-US"/>
            </a:p>
          </p:txBody>
        </p:sp>
      </p:grpSp>
      <p:grpSp>
        <p:nvGrpSpPr>
          <p:cNvPr id="20" name="Group 20"/>
          <p:cNvGrpSpPr/>
          <p:nvPr/>
        </p:nvGrpSpPr>
        <p:grpSpPr>
          <a:xfrm>
            <a:off x="8828625" y="5250076"/>
            <a:ext cx="801520" cy="838184"/>
            <a:chOff x="0" y="0"/>
            <a:chExt cx="932697" cy="975360"/>
          </a:xfrm>
        </p:grpSpPr>
        <p:sp>
          <p:nvSpPr>
            <p:cNvPr id="21" name="Freeform 21"/>
            <p:cNvSpPr/>
            <p:nvPr/>
          </p:nvSpPr>
          <p:spPr>
            <a:xfrm>
              <a:off x="0" y="0"/>
              <a:ext cx="932697" cy="975360"/>
            </a:xfrm>
            <a:custGeom>
              <a:avLst/>
              <a:gdLst/>
              <a:ahLst/>
              <a:cxnLst/>
              <a:rect l="l" t="t" r="r" b="b"/>
              <a:pathLst>
                <a:path w="932697" h="975360">
                  <a:moveTo>
                    <a:pt x="0" y="0"/>
                  </a:moveTo>
                  <a:lnTo>
                    <a:pt x="932697" y="0"/>
                  </a:lnTo>
                  <a:lnTo>
                    <a:pt x="932697" y="975360"/>
                  </a:lnTo>
                  <a:lnTo>
                    <a:pt x="0" y="975360"/>
                  </a:lnTo>
                  <a:close/>
                </a:path>
              </a:pathLst>
            </a:custGeom>
            <a:blipFill>
              <a:blip r:embed="rId5">
                <a:alphaModFix amt="0"/>
              </a:blip>
              <a:stretch>
                <a:fillRect l="-105414" r="-62930"/>
              </a:stretch>
            </a:blipFill>
          </p:spPr>
          <p:txBody>
            <a:bodyPr/>
            <a:lstStyle/>
            <a:p>
              <a:endParaRPr lang="en-US"/>
            </a:p>
          </p:txBody>
        </p:sp>
        <p:sp>
          <p:nvSpPr>
            <p:cNvPr id="22" name="TextBox 22"/>
            <p:cNvSpPr txBox="1"/>
            <p:nvPr/>
          </p:nvSpPr>
          <p:spPr>
            <a:xfrm>
              <a:off x="0" y="-57150"/>
              <a:ext cx="932697" cy="1032510"/>
            </a:xfrm>
            <a:prstGeom prst="rect">
              <a:avLst/>
            </a:prstGeom>
          </p:spPr>
          <p:txBody>
            <a:bodyPr lIns="0" tIns="0" rIns="0" bIns="0" rtlCol="0" anchor="ctr"/>
            <a:lstStyle/>
            <a:p>
              <a:pPr algn="ctr">
                <a:lnSpc>
                  <a:spcPts val="3840"/>
                </a:lnSpc>
              </a:pPr>
              <a:r>
                <a:rPr lang="en-US" sz="3200" b="1">
                  <a:solidFill>
                    <a:srgbClr val="3D5E89"/>
                  </a:solidFill>
                  <a:latin typeface="Calibri (MS) Bold"/>
                  <a:ea typeface="Calibri (MS) Bold"/>
                  <a:cs typeface="Calibri (MS) Bold"/>
                  <a:sym typeface="Calibri (MS) Bold"/>
                </a:rPr>
                <a:t>→</a:t>
              </a:r>
            </a:p>
          </p:txBody>
        </p:sp>
      </p:grpSp>
      <p:grpSp>
        <p:nvGrpSpPr>
          <p:cNvPr id="23" name="Group 23"/>
          <p:cNvGrpSpPr/>
          <p:nvPr/>
        </p:nvGrpSpPr>
        <p:grpSpPr>
          <a:xfrm>
            <a:off x="9630146" y="4278635"/>
            <a:ext cx="3583265" cy="3099783"/>
            <a:chOff x="0" y="0"/>
            <a:chExt cx="4169700" cy="3607091"/>
          </a:xfrm>
        </p:grpSpPr>
        <p:sp>
          <p:nvSpPr>
            <p:cNvPr id="24" name="Freeform 24"/>
            <p:cNvSpPr/>
            <p:nvPr/>
          </p:nvSpPr>
          <p:spPr>
            <a:xfrm>
              <a:off x="0" y="0"/>
              <a:ext cx="4169700" cy="3607091"/>
            </a:xfrm>
            <a:custGeom>
              <a:avLst/>
              <a:gdLst/>
              <a:ahLst/>
              <a:cxnLst/>
              <a:rect l="l" t="t" r="r" b="b"/>
              <a:pathLst>
                <a:path w="4169700" h="3607091">
                  <a:moveTo>
                    <a:pt x="0" y="332962"/>
                  </a:moveTo>
                  <a:cubicBezTo>
                    <a:pt x="0" y="149139"/>
                    <a:pt x="114934" y="0"/>
                    <a:pt x="256597" y="0"/>
                  </a:cubicBezTo>
                  <a:lnTo>
                    <a:pt x="3913103" y="0"/>
                  </a:lnTo>
                  <a:cubicBezTo>
                    <a:pt x="4054766" y="0"/>
                    <a:pt x="4169700" y="149139"/>
                    <a:pt x="4169700" y="332962"/>
                  </a:cubicBezTo>
                  <a:lnTo>
                    <a:pt x="4169700" y="3274128"/>
                  </a:lnTo>
                  <a:cubicBezTo>
                    <a:pt x="4169700" y="3457951"/>
                    <a:pt x="4054766" y="3607091"/>
                    <a:pt x="3913103" y="3607091"/>
                  </a:cubicBezTo>
                  <a:lnTo>
                    <a:pt x="256597" y="3607091"/>
                  </a:lnTo>
                  <a:cubicBezTo>
                    <a:pt x="114934" y="3607091"/>
                    <a:pt x="0" y="3457951"/>
                    <a:pt x="0" y="3274128"/>
                  </a:cubicBezTo>
                  <a:close/>
                </a:path>
              </a:pathLst>
            </a:custGeom>
            <a:solidFill>
              <a:srgbClr val="FFFFFF"/>
            </a:solidFill>
          </p:spPr>
          <p:txBody>
            <a:bodyPr/>
            <a:lstStyle/>
            <a:p>
              <a:endParaRPr lang="en-US"/>
            </a:p>
          </p:txBody>
        </p:sp>
      </p:grpSp>
      <p:grpSp>
        <p:nvGrpSpPr>
          <p:cNvPr id="25" name="Group 25"/>
          <p:cNvGrpSpPr/>
          <p:nvPr/>
        </p:nvGrpSpPr>
        <p:grpSpPr>
          <a:xfrm>
            <a:off x="10709452" y="4499038"/>
            <a:ext cx="1327963" cy="1327963"/>
            <a:chOff x="0" y="0"/>
            <a:chExt cx="1658112" cy="1658112"/>
          </a:xfrm>
        </p:grpSpPr>
        <p:sp>
          <p:nvSpPr>
            <p:cNvPr id="26" name="Freeform 26"/>
            <p:cNvSpPr/>
            <p:nvPr/>
          </p:nvSpPr>
          <p:spPr>
            <a:xfrm>
              <a:off x="0" y="0"/>
              <a:ext cx="1658112" cy="1658112"/>
            </a:xfrm>
            <a:custGeom>
              <a:avLst/>
              <a:gdLst/>
              <a:ahLst/>
              <a:cxnLst/>
              <a:rect l="l" t="t" r="r" b="b"/>
              <a:pathLst>
                <a:path w="1658112" h="1658112">
                  <a:moveTo>
                    <a:pt x="0" y="829056"/>
                  </a:moveTo>
                  <a:cubicBezTo>
                    <a:pt x="0" y="371221"/>
                    <a:pt x="371221" y="0"/>
                    <a:pt x="829056" y="0"/>
                  </a:cubicBezTo>
                  <a:cubicBezTo>
                    <a:pt x="1286891" y="0"/>
                    <a:pt x="1658112" y="371221"/>
                    <a:pt x="1658112" y="829056"/>
                  </a:cubicBezTo>
                  <a:cubicBezTo>
                    <a:pt x="1658112" y="1286891"/>
                    <a:pt x="1286891" y="1658112"/>
                    <a:pt x="829056" y="1658112"/>
                  </a:cubicBezTo>
                  <a:cubicBezTo>
                    <a:pt x="371221" y="1658112"/>
                    <a:pt x="0" y="1286891"/>
                    <a:pt x="0" y="829056"/>
                  </a:cubicBezTo>
                  <a:close/>
                </a:path>
              </a:pathLst>
            </a:custGeom>
            <a:solidFill>
              <a:srgbClr val="3D5E89"/>
            </a:solidFill>
          </p:spPr>
          <p:txBody>
            <a:bodyPr/>
            <a:lstStyle/>
            <a:p>
              <a:endParaRPr lang="en-US"/>
            </a:p>
          </p:txBody>
        </p:sp>
      </p:grpSp>
      <p:grpSp>
        <p:nvGrpSpPr>
          <p:cNvPr id="27" name="Group 27"/>
          <p:cNvGrpSpPr/>
          <p:nvPr/>
        </p:nvGrpSpPr>
        <p:grpSpPr>
          <a:xfrm>
            <a:off x="12961590" y="5221591"/>
            <a:ext cx="801520" cy="838184"/>
            <a:chOff x="0" y="0"/>
            <a:chExt cx="932697" cy="975360"/>
          </a:xfrm>
        </p:grpSpPr>
        <p:sp>
          <p:nvSpPr>
            <p:cNvPr id="28" name="Freeform 28"/>
            <p:cNvSpPr/>
            <p:nvPr/>
          </p:nvSpPr>
          <p:spPr>
            <a:xfrm>
              <a:off x="0" y="0"/>
              <a:ext cx="932697" cy="975360"/>
            </a:xfrm>
            <a:custGeom>
              <a:avLst/>
              <a:gdLst/>
              <a:ahLst/>
              <a:cxnLst/>
              <a:rect l="l" t="t" r="r" b="b"/>
              <a:pathLst>
                <a:path w="932697" h="975360">
                  <a:moveTo>
                    <a:pt x="0" y="0"/>
                  </a:moveTo>
                  <a:lnTo>
                    <a:pt x="932697" y="0"/>
                  </a:lnTo>
                  <a:lnTo>
                    <a:pt x="932697" y="975360"/>
                  </a:lnTo>
                  <a:lnTo>
                    <a:pt x="0" y="975360"/>
                  </a:lnTo>
                  <a:close/>
                </a:path>
              </a:pathLst>
            </a:custGeom>
            <a:blipFill>
              <a:blip r:embed="rId5">
                <a:alphaModFix amt="0"/>
              </a:blip>
              <a:stretch>
                <a:fillRect l="-105414" r="-62930"/>
              </a:stretch>
            </a:blipFill>
          </p:spPr>
          <p:txBody>
            <a:bodyPr/>
            <a:lstStyle/>
            <a:p>
              <a:endParaRPr lang="en-US"/>
            </a:p>
          </p:txBody>
        </p:sp>
        <p:sp>
          <p:nvSpPr>
            <p:cNvPr id="29" name="TextBox 29"/>
            <p:cNvSpPr txBox="1"/>
            <p:nvPr/>
          </p:nvSpPr>
          <p:spPr>
            <a:xfrm>
              <a:off x="0" y="-57150"/>
              <a:ext cx="932697" cy="1032510"/>
            </a:xfrm>
            <a:prstGeom prst="rect">
              <a:avLst/>
            </a:prstGeom>
          </p:spPr>
          <p:txBody>
            <a:bodyPr lIns="0" tIns="0" rIns="0" bIns="0" rtlCol="0" anchor="ctr"/>
            <a:lstStyle/>
            <a:p>
              <a:pPr algn="ctr">
                <a:lnSpc>
                  <a:spcPts val="3840"/>
                </a:lnSpc>
              </a:pPr>
              <a:r>
                <a:rPr lang="en-US" sz="3200" b="1">
                  <a:solidFill>
                    <a:srgbClr val="3D5E89"/>
                  </a:solidFill>
                  <a:latin typeface="Calibri (MS) Bold"/>
                  <a:ea typeface="Calibri (MS) Bold"/>
                  <a:cs typeface="Calibri (MS) Bold"/>
                  <a:sym typeface="Calibri (MS) Bold"/>
                </a:rPr>
                <a:t>→</a:t>
              </a:r>
            </a:p>
          </p:txBody>
        </p:sp>
      </p:grpSp>
      <p:grpSp>
        <p:nvGrpSpPr>
          <p:cNvPr id="30" name="Group 30"/>
          <p:cNvGrpSpPr/>
          <p:nvPr/>
        </p:nvGrpSpPr>
        <p:grpSpPr>
          <a:xfrm>
            <a:off x="13793914" y="4294841"/>
            <a:ext cx="3258295" cy="3099783"/>
            <a:chOff x="0" y="0"/>
            <a:chExt cx="3791545" cy="3607091"/>
          </a:xfrm>
        </p:grpSpPr>
        <p:sp>
          <p:nvSpPr>
            <p:cNvPr id="31" name="Freeform 31"/>
            <p:cNvSpPr/>
            <p:nvPr/>
          </p:nvSpPr>
          <p:spPr>
            <a:xfrm>
              <a:off x="0" y="0"/>
              <a:ext cx="3791545" cy="3607091"/>
            </a:xfrm>
            <a:custGeom>
              <a:avLst/>
              <a:gdLst/>
              <a:ahLst/>
              <a:cxnLst/>
              <a:rect l="l" t="t" r="r" b="b"/>
              <a:pathLst>
                <a:path w="3791545" h="3607091">
                  <a:moveTo>
                    <a:pt x="0" y="332962"/>
                  </a:moveTo>
                  <a:cubicBezTo>
                    <a:pt x="0" y="149139"/>
                    <a:pt x="104511" y="0"/>
                    <a:pt x="233326" y="0"/>
                  </a:cubicBezTo>
                  <a:lnTo>
                    <a:pt x="3558219" y="0"/>
                  </a:lnTo>
                  <a:cubicBezTo>
                    <a:pt x="3687034" y="0"/>
                    <a:pt x="3791545" y="149139"/>
                    <a:pt x="3791545" y="332962"/>
                  </a:cubicBezTo>
                  <a:lnTo>
                    <a:pt x="3791545" y="3274128"/>
                  </a:lnTo>
                  <a:cubicBezTo>
                    <a:pt x="3791545" y="3457951"/>
                    <a:pt x="3687034" y="3607091"/>
                    <a:pt x="3558219" y="3607091"/>
                  </a:cubicBezTo>
                  <a:lnTo>
                    <a:pt x="233326" y="3607091"/>
                  </a:lnTo>
                  <a:cubicBezTo>
                    <a:pt x="104511" y="3607091"/>
                    <a:pt x="0" y="3457951"/>
                    <a:pt x="0" y="3274128"/>
                  </a:cubicBezTo>
                  <a:close/>
                </a:path>
              </a:pathLst>
            </a:custGeom>
            <a:solidFill>
              <a:srgbClr val="FFFFFF"/>
            </a:solidFill>
          </p:spPr>
          <p:txBody>
            <a:bodyPr/>
            <a:lstStyle/>
            <a:p>
              <a:endParaRPr lang="en-US"/>
            </a:p>
          </p:txBody>
        </p:sp>
      </p:grpSp>
      <p:grpSp>
        <p:nvGrpSpPr>
          <p:cNvPr id="32" name="Group 32"/>
          <p:cNvGrpSpPr/>
          <p:nvPr/>
        </p:nvGrpSpPr>
        <p:grpSpPr>
          <a:xfrm>
            <a:off x="14759080" y="4423877"/>
            <a:ext cx="1327963" cy="1327963"/>
            <a:chOff x="0" y="0"/>
            <a:chExt cx="1658112" cy="1658112"/>
          </a:xfrm>
        </p:grpSpPr>
        <p:sp>
          <p:nvSpPr>
            <p:cNvPr id="33" name="Freeform 33"/>
            <p:cNvSpPr/>
            <p:nvPr/>
          </p:nvSpPr>
          <p:spPr>
            <a:xfrm>
              <a:off x="0" y="0"/>
              <a:ext cx="1658112" cy="1658112"/>
            </a:xfrm>
            <a:custGeom>
              <a:avLst/>
              <a:gdLst/>
              <a:ahLst/>
              <a:cxnLst/>
              <a:rect l="l" t="t" r="r" b="b"/>
              <a:pathLst>
                <a:path w="1658112" h="1658112">
                  <a:moveTo>
                    <a:pt x="0" y="829056"/>
                  </a:moveTo>
                  <a:cubicBezTo>
                    <a:pt x="0" y="371221"/>
                    <a:pt x="371221" y="0"/>
                    <a:pt x="829056" y="0"/>
                  </a:cubicBezTo>
                  <a:cubicBezTo>
                    <a:pt x="1286891" y="0"/>
                    <a:pt x="1658112" y="371221"/>
                    <a:pt x="1658112" y="829056"/>
                  </a:cubicBezTo>
                  <a:cubicBezTo>
                    <a:pt x="1658112" y="1286891"/>
                    <a:pt x="1286891" y="1658112"/>
                    <a:pt x="829056" y="1658112"/>
                  </a:cubicBezTo>
                  <a:cubicBezTo>
                    <a:pt x="371221" y="1658112"/>
                    <a:pt x="0" y="1286891"/>
                    <a:pt x="0" y="829056"/>
                  </a:cubicBezTo>
                  <a:close/>
                </a:path>
              </a:pathLst>
            </a:custGeom>
            <a:solidFill>
              <a:srgbClr val="3D5E89"/>
            </a:solidFill>
          </p:spPr>
          <p:txBody>
            <a:bodyPr/>
            <a:lstStyle/>
            <a:p>
              <a:endParaRPr lang="en-US"/>
            </a:p>
          </p:txBody>
        </p:sp>
      </p:grpSp>
      <p:grpSp>
        <p:nvGrpSpPr>
          <p:cNvPr id="34" name="Group 34"/>
          <p:cNvGrpSpPr/>
          <p:nvPr/>
        </p:nvGrpSpPr>
        <p:grpSpPr>
          <a:xfrm>
            <a:off x="6876133" y="4836762"/>
            <a:ext cx="658249" cy="658249"/>
            <a:chOff x="0" y="0"/>
            <a:chExt cx="862216" cy="862216"/>
          </a:xfrm>
        </p:grpSpPr>
        <p:sp>
          <p:nvSpPr>
            <p:cNvPr id="35" name="Freeform 35" descr="icons/organizar.png"/>
            <p:cNvSpPr/>
            <p:nvPr/>
          </p:nvSpPr>
          <p:spPr>
            <a:xfrm>
              <a:off x="0" y="0"/>
              <a:ext cx="862203" cy="862203"/>
            </a:xfrm>
            <a:custGeom>
              <a:avLst/>
              <a:gdLst/>
              <a:ahLst/>
              <a:cxnLst/>
              <a:rect l="l" t="t" r="r" b="b"/>
              <a:pathLst>
                <a:path w="862203" h="862203">
                  <a:moveTo>
                    <a:pt x="0" y="0"/>
                  </a:moveTo>
                  <a:lnTo>
                    <a:pt x="862203" y="0"/>
                  </a:lnTo>
                  <a:lnTo>
                    <a:pt x="862203" y="862203"/>
                  </a:lnTo>
                  <a:lnTo>
                    <a:pt x="0" y="862203"/>
                  </a:lnTo>
                  <a:lnTo>
                    <a:pt x="0" y="0"/>
                  </a:lnTo>
                  <a:close/>
                </a:path>
              </a:pathLst>
            </a:custGeom>
            <a:blipFill>
              <a:blip r:embed="rId7"/>
              <a:stretch>
                <a:fillRect r="-1" b="-1"/>
              </a:stretch>
            </a:blipFill>
          </p:spPr>
          <p:txBody>
            <a:bodyPr/>
            <a:lstStyle/>
            <a:p>
              <a:endParaRPr lang="en-US"/>
            </a:p>
          </p:txBody>
        </p:sp>
      </p:grpSp>
      <p:grpSp>
        <p:nvGrpSpPr>
          <p:cNvPr id="36" name="Group 36"/>
          <p:cNvGrpSpPr/>
          <p:nvPr/>
        </p:nvGrpSpPr>
        <p:grpSpPr>
          <a:xfrm>
            <a:off x="11044309" y="4801856"/>
            <a:ext cx="658249" cy="658249"/>
            <a:chOff x="0" y="0"/>
            <a:chExt cx="862216" cy="862216"/>
          </a:xfrm>
        </p:grpSpPr>
        <p:sp>
          <p:nvSpPr>
            <p:cNvPr id="37" name="Freeform 37" descr="icons/aprobar.png"/>
            <p:cNvSpPr/>
            <p:nvPr/>
          </p:nvSpPr>
          <p:spPr>
            <a:xfrm>
              <a:off x="0" y="0"/>
              <a:ext cx="862203" cy="862203"/>
            </a:xfrm>
            <a:custGeom>
              <a:avLst/>
              <a:gdLst/>
              <a:ahLst/>
              <a:cxnLst/>
              <a:rect l="l" t="t" r="r" b="b"/>
              <a:pathLst>
                <a:path w="862203" h="862203">
                  <a:moveTo>
                    <a:pt x="0" y="0"/>
                  </a:moveTo>
                  <a:lnTo>
                    <a:pt x="862203" y="0"/>
                  </a:lnTo>
                  <a:lnTo>
                    <a:pt x="862203" y="862203"/>
                  </a:lnTo>
                  <a:lnTo>
                    <a:pt x="0" y="862203"/>
                  </a:lnTo>
                  <a:lnTo>
                    <a:pt x="0" y="0"/>
                  </a:lnTo>
                  <a:close/>
                </a:path>
              </a:pathLst>
            </a:custGeom>
            <a:blipFill>
              <a:blip r:embed="rId8"/>
              <a:stretch>
                <a:fillRect r="-1" b="-1"/>
              </a:stretch>
            </a:blipFill>
          </p:spPr>
          <p:txBody>
            <a:bodyPr/>
            <a:lstStyle/>
            <a:p>
              <a:endParaRPr lang="en-US"/>
            </a:p>
          </p:txBody>
        </p:sp>
      </p:grpSp>
      <p:sp>
        <p:nvSpPr>
          <p:cNvPr id="38" name="Freeform 38"/>
          <p:cNvSpPr/>
          <p:nvPr/>
        </p:nvSpPr>
        <p:spPr>
          <a:xfrm>
            <a:off x="14972449" y="4788747"/>
            <a:ext cx="901224" cy="644375"/>
          </a:xfrm>
          <a:custGeom>
            <a:avLst/>
            <a:gdLst/>
            <a:ahLst/>
            <a:cxnLst/>
            <a:rect l="l" t="t" r="r" b="b"/>
            <a:pathLst>
              <a:path w="901224" h="644375">
                <a:moveTo>
                  <a:pt x="0" y="0"/>
                </a:moveTo>
                <a:lnTo>
                  <a:pt x="901225" y="0"/>
                </a:lnTo>
                <a:lnTo>
                  <a:pt x="901225" y="644375"/>
                </a:lnTo>
                <a:lnTo>
                  <a:pt x="0" y="64437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9" name="TextBox 39"/>
          <p:cNvSpPr txBox="1"/>
          <p:nvPr/>
        </p:nvSpPr>
        <p:spPr>
          <a:xfrm>
            <a:off x="2074553" y="2577469"/>
            <a:ext cx="14461881" cy="1139190"/>
          </a:xfrm>
          <a:prstGeom prst="rect">
            <a:avLst/>
          </a:prstGeom>
        </p:spPr>
        <p:txBody>
          <a:bodyPr lIns="0" tIns="0" rIns="0" bIns="0" rtlCol="0" anchor="t">
            <a:spAutoFit/>
          </a:bodyPr>
          <a:lstStyle/>
          <a:p>
            <a:pPr marL="0" lvl="0" indent="0" algn="ctr">
              <a:lnSpc>
                <a:spcPts val="4649"/>
              </a:lnSpc>
              <a:spcBef>
                <a:spcPct val="0"/>
              </a:spcBef>
            </a:pPr>
            <a:r>
              <a:rPr lang="en-US" sz="3099">
                <a:solidFill>
                  <a:srgbClr val="000000"/>
                </a:solidFill>
                <a:latin typeface="Raleway"/>
                <a:ea typeface="Raleway"/>
                <a:cs typeface="Raleway"/>
                <a:sym typeface="Raleway"/>
              </a:rPr>
              <a:t>Desarrollamos una </a:t>
            </a:r>
            <a:r>
              <a:rPr lang="en-US" sz="3099" b="1">
                <a:solidFill>
                  <a:srgbClr val="000000"/>
                </a:solidFill>
                <a:latin typeface="Raleway Bold"/>
                <a:ea typeface="Raleway Bold"/>
                <a:cs typeface="Raleway Bold"/>
                <a:sym typeface="Raleway Bold"/>
              </a:rPr>
              <a:t>solución web </a:t>
            </a:r>
            <a:r>
              <a:rPr lang="en-US" sz="3099">
                <a:solidFill>
                  <a:srgbClr val="000000"/>
                </a:solidFill>
                <a:latin typeface="Raleway"/>
                <a:ea typeface="Raleway"/>
                <a:cs typeface="Raleway"/>
                <a:sym typeface="Raleway"/>
              </a:rPr>
              <a:t>de gestión de solicitudes </a:t>
            </a:r>
            <a:r>
              <a:rPr lang="en-US" sz="3099" b="1">
                <a:solidFill>
                  <a:srgbClr val="000000"/>
                </a:solidFill>
                <a:latin typeface="Raleway Bold"/>
                <a:ea typeface="Raleway Bold"/>
                <a:cs typeface="Raleway Bold"/>
                <a:sym typeface="Raleway Bold"/>
              </a:rPr>
              <a:t>configurable</a:t>
            </a:r>
            <a:r>
              <a:rPr lang="en-US" sz="3099">
                <a:solidFill>
                  <a:srgbClr val="000000"/>
                </a:solidFill>
                <a:latin typeface="Raleway"/>
                <a:ea typeface="Raleway"/>
                <a:cs typeface="Raleway"/>
                <a:sym typeface="Raleway"/>
              </a:rPr>
              <a:t>, </a:t>
            </a:r>
            <a:r>
              <a:rPr lang="en-US" sz="3099" b="1">
                <a:solidFill>
                  <a:srgbClr val="000000"/>
                </a:solidFill>
                <a:latin typeface="Raleway Bold"/>
                <a:ea typeface="Raleway Bold"/>
                <a:cs typeface="Raleway Bold"/>
                <a:sym typeface="Raleway Bold"/>
              </a:rPr>
              <a:t>inteligente </a:t>
            </a:r>
            <a:r>
              <a:rPr lang="en-US" sz="3099">
                <a:solidFill>
                  <a:srgbClr val="000000"/>
                </a:solidFill>
                <a:latin typeface="Raleway"/>
                <a:ea typeface="Raleway"/>
                <a:cs typeface="Raleway"/>
                <a:sym typeface="Raleway"/>
              </a:rPr>
              <a:t>y </a:t>
            </a:r>
            <a:r>
              <a:rPr lang="en-US" sz="3099" b="1">
                <a:solidFill>
                  <a:srgbClr val="000000"/>
                </a:solidFill>
                <a:latin typeface="Raleway Bold"/>
                <a:ea typeface="Raleway Bold"/>
                <a:cs typeface="Raleway Bold"/>
                <a:sym typeface="Raleway Bold"/>
              </a:rPr>
              <a:t>adaptable </a:t>
            </a:r>
            <a:r>
              <a:rPr lang="en-US" sz="3099">
                <a:solidFill>
                  <a:srgbClr val="000000"/>
                </a:solidFill>
                <a:latin typeface="Raleway"/>
                <a:ea typeface="Raleway"/>
                <a:cs typeface="Raleway"/>
                <a:sym typeface="Raleway"/>
              </a:rPr>
              <a:t>a </a:t>
            </a:r>
            <a:r>
              <a:rPr lang="en-US" sz="3099" b="1">
                <a:solidFill>
                  <a:srgbClr val="000000"/>
                </a:solidFill>
                <a:latin typeface="Raleway Bold"/>
                <a:ea typeface="Raleway Bold"/>
                <a:cs typeface="Raleway Bold"/>
                <a:sym typeface="Raleway Bold"/>
              </a:rPr>
              <a:t>cualquier organización</a:t>
            </a:r>
            <a:r>
              <a:rPr lang="en-US" sz="3099">
                <a:solidFill>
                  <a:srgbClr val="000000"/>
                </a:solidFill>
                <a:latin typeface="Raleway"/>
                <a:ea typeface="Raleway"/>
                <a:cs typeface="Raleway"/>
                <a:sym typeface="Raleway"/>
              </a:rPr>
              <a:t>:</a:t>
            </a:r>
          </a:p>
        </p:txBody>
      </p:sp>
      <p:sp>
        <p:nvSpPr>
          <p:cNvPr id="40" name="TextBox 40"/>
          <p:cNvSpPr txBox="1"/>
          <p:nvPr/>
        </p:nvSpPr>
        <p:spPr>
          <a:xfrm>
            <a:off x="2192928" y="5973432"/>
            <a:ext cx="2179218" cy="436134"/>
          </a:xfrm>
          <a:prstGeom prst="rect">
            <a:avLst/>
          </a:prstGeom>
        </p:spPr>
        <p:txBody>
          <a:bodyPr lIns="0" tIns="0" rIns="0" bIns="0" rtlCol="0" anchor="t">
            <a:spAutoFit/>
          </a:bodyPr>
          <a:lstStyle/>
          <a:p>
            <a:pPr marL="0" lvl="0" indent="0" algn="l">
              <a:lnSpc>
                <a:spcPts val="3412"/>
              </a:lnSpc>
              <a:spcBef>
                <a:spcPct val="0"/>
              </a:spcBef>
            </a:pPr>
            <a:r>
              <a:rPr lang="en-US" sz="2843" b="1">
                <a:solidFill>
                  <a:srgbClr val="3B567A"/>
                </a:solidFill>
                <a:latin typeface="League Spartan"/>
                <a:ea typeface="League Spartan"/>
                <a:cs typeface="League Spartan"/>
                <a:sym typeface="League Spartan"/>
              </a:rPr>
              <a:t>Registrar</a:t>
            </a:r>
          </a:p>
        </p:txBody>
      </p:sp>
      <p:sp>
        <p:nvSpPr>
          <p:cNvPr id="41" name="TextBox 41"/>
          <p:cNvSpPr txBox="1"/>
          <p:nvPr/>
        </p:nvSpPr>
        <p:spPr>
          <a:xfrm>
            <a:off x="6003605" y="6029158"/>
            <a:ext cx="2429429" cy="436134"/>
          </a:xfrm>
          <a:prstGeom prst="rect">
            <a:avLst/>
          </a:prstGeom>
        </p:spPr>
        <p:txBody>
          <a:bodyPr lIns="0" tIns="0" rIns="0" bIns="0" rtlCol="0" anchor="t">
            <a:spAutoFit/>
          </a:bodyPr>
          <a:lstStyle/>
          <a:p>
            <a:pPr marL="0" lvl="0" indent="0" algn="ctr">
              <a:lnSpc>
                <a:spcPts val="3412"/>
              </a:lnSpc>
              <a:spcBef>
                <a:spcPct val="0"/>
              </a:spcBef>
            </a:pPr>
            <a:r>
              <a:rPr lang="en-US" sz="2843" b="1">
                <a:solidFill>
                  <a:srgbClr val="3B567A"/>
                </a:solidFill>
                <a:latin typeface="League Spartan"/>
                <a:ea typeface="League Spartan"/>
                <a:cs typeface="League Spartan"/>
                <a:sym typeface="League Spartan"/>
              </a:rPr>
              <a:t>Revisar</a:t>
            </a:r>
          </a:p>
        </p:txBody>
      </p:sp>
      <p:sp>
        <p:nvSpPr>
          <p:cNvPr id="42" name="TextBox 42"/>
          <p:cNvSpPr txBox="1"/>
          <p:nvPr/>
        </p:nvSpPr>
        <p:spPr>
          <a:xfrm>
            <a:off x="10555326" y="5905562"/>
            <a:ext cx="1683206" cy="438150"/>
          </a:xfrm>
          <a:prstGeom prst="rect">
            <a:avLst/>
          </a:prstGeom>
        </p:spPr>
        <p:txBody>
          <a:bodyPr lIns="0" tIns="0" rIns="0" bIns="0" rtlCol="0" anchor="t">
            <a:spAutoFit/>
          </a:bodyPr>
          <a:lstStyle/>
          <a:p>
            <a:pPr marL="0" lvl="0" indent="0" algn="ctr">
              <a:lnSpc>
                <a:spcPts val="3412"/>
              </a:lnSpc>
              <a:spcBef>
                <a:spcPct val="0"/>
              </a:spcBef>
            </a:pPr>
            <a:r>
              <a:rPr lang="en-US" sz="2843" b="1">
                <a:solidFill>
                  <a:srgbClr val="3B567A"/>
                </a:solidFill>
                <a:latin typeface="League Spartan"/>
                <a:ea typeface="League Spartan"/>
                <a:cs typeface="League Spartan"/>
                <a:sym typeface="League Spartan"/>
              </a:rPr>
              <a:t>Decidir</a:t>
            </a:r>
          </a:p>
        </p:txBody>
      </p:sp>
      <p:sp>
        <p:nvSpPr>
          <p:cNvPr id="43" name="TextBox 43"/>
          <p:cNvSpPr txBox="1"/>
          <p:nvPr/>
        </p:nvSpPr>
        <p:spPr>
          <a:xfrm>
            <a:off x="14605959" y="5934649"/>
            <a:ext cx="1892037" cy="436134"/>
          </a:xfrm>
          <a:prstGeom prst="rect">
            <a:avLst/>
          </a:prstGeom>
        </p:spPr>
        <p:txBody>
          <a:bodyPr lIns="0" tIns="0" rIns="0" bIns="0" rtlCol="0" anchor="t">
            <a:spAutoFit/>
          </a:bodyPr>
          <a:lstStyle/>
          <a:p>
            <a:pPr marL="0" lvl="0" indent="0" algn="l">
              <a:lnSpc>
                <a:spcPts val="3412"/>
              </a:lnSpc>
              <a:spcBef>
                <a:spcPct val="0"/>
              </a:spcBef>
            </a:pPr>
            <a:r>
              <a:rPr lang="en-US" sz="2843" b="1">
                <a:solidFill>
                  <a:srgbClr val="3B567A"/>
                </a:solidFill>
                <a:latin typeface="League Spartan"/>
                <a:ea typeface="League Spartan"/>
                <a:cs typeface="League Spartan"/>
                <a:sym typeface="League Spartan"/>
              </a:rPr>
              <a:t>Notificar</a:t>
            </a:r>
          </a:p>
        </p:txBody>
      </p:sp>
      <p:sp>
        <p:nvSpPr>
          <p:cNvPr id="44" name="Freeform 44"/>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5" name="TextBox 4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10</a:t>
            </a:r>
          </a:p>
        </p:txBody>
      </p:sp>
      <p:sp>
        <p:nvSpPr>
          <p:cNvPr id="46" name="TextBox 46"/>
          <p:cNvSpPr txBox="1"/>
          <p:nvPr/>
        </p:nvSpPr>
        <p:spPr>
          <a:xfrm>
            <a:off x="14124804" y="6545476"/>
            <a:ext cx="2611947" cy="610656"/>
          </a:xfrm>
          <a:prstGeom prst="rect">
            <a:avLst/>
          </a:prstGeom>
        </p:spPr>
        <p:txBody>
          <a:bodyPr lIns="0" tIns="0" rIns="0" bIns="0" rtlCol="0" anchor="t">
            <a:spAutoFit/>
          </a:bodyPr>
          <a:lstStyle/>
          <a:p>
            <a:pPr marL="0" lvl="0" indent="0" algn="ctr">
              <a:lnSpc>
                <a:spcPts val="2434"/>
              </a:lnSpc>
              <a:spcBef>
                <a:spcPct val="0"/>
              </a:spcBef>
            </a:pPr>
            <a:r>
              <a:rPr lang="en-US" sz="2029">
                <a:solidFill>
                  <a:srgbClr val="3B567A"/>
                </a:solidFill>
                <a:latin typeface="Raleway"/>
                <a:ea typeface="Raleway"/>
                <a:cs typeface="Raleway"/>
                <a:sym typeface="Raleway"/>
              </a:rPr>
              <a:t>Alertas en tiempo real</a:t>
            </a:r>
          </a:p>
        </p:txBody>
      </p:sp>
      <p:sp>
        <p:nvSpPr>
          <p:cNvPr id="47" name="TextBox 47"/>
          <p:cNvSpPr txBox="1"/>
          <p:nvPr/>
        </p:nvSpPr>
        <p:spPr>
          <a:xfrm>
            <a:off x="1791355" y="6649892"/>
            <a:ext cx="2905815" cy="610656"/>
          </a:xfrm>
          <a:prstGeom prst="rect">
            <a:avLst/>
          </a:prstGeom>
        </p:spPr>
        <p:txBody>
          <a:bodyPr lIns="0" tIns="0" rIns="0" bIns="0" rtlCol="0" anchor="t">
            <a:spAutoFit/>
          </a:bodyPr>
          <a:lstStyle/>
          <a:p>
            <a:pPr marL="0" lvl="0" indent="0" algn="l">
              <a:lnSpc>
                <a:spcPts val="2434"/>
              </a:lnSpc>
              <a:spcBef>
                <a:spcPct val="0"/>
              </a:spcBef>
            </a:pPr>
            <a:r>
              <a:rPr lang="en-US" sz="2029">
                <a:solidFill>
                  <a:srgbClr val="3B567A"/>
                </a:solidFill>
                <a:latin typeface="Raleway"/>
                <a:ea typeface="Raleway"/>
                <a:cs typeface="Raleway"/>
                <a:sym typeface="Raleway"/>
              </a:rPr>
              <a:t>Documentos o Plantillas configurables</a:t>
            </a:r>
          </a:p>
        </p:txBody>
      </p:sp>
      <p:sp>
        <p:nvSpPr>
          <p:cNvPr id="48" name="TextBox 48"/>
          <p:cNvSpPr txBox="1"/>
          <p:nvPr/>
        </p:nvSpPr>
        <p:spPr>
          <a:xfrm>
            <a:off x="9593368" y="6545476"/>
            <a:ext cx="3454646" cy="610656"/>
          </a:xfrm>
          <a:prstGeom prst="rect">
            <a:avLst/>
          </a:prstGeom>
        </p:spPr>
        <p:txBody>
          <a:bodyPr lIns="0" tIns="0" rIns="0" bIns="0" rtlCol="0" anchor="t">
            <a:spAutoFit/>
          </a:bodyPr>
          <a:lstStyle/>
          <a:p>
            <a:pPr marL="0" lvl="0" indent="0" algn="l">
              <a:lnSpc>
                <a:spcPts val="2434"/>
              </a:lnSpc>
              <a:spcBef>
                <a:spcPct val="0"/>
              </a:spcBef>
            </a:pPr>
            <a:r>
              <a:rPr lang="en-US" sz="2029">
                <a:solidFill>
                  <a:srgbClr val="3B567A"/>
                </a:solidFill>
                <a:latin typeface="Raleway"/>
                <a:ea typeface="Raleway"/>
                <a:cs typeface="Raleway"/>
                <a:sym typeface="Raleway"/>
              </a:rPr>
              <a:t>Aprobar, rechazar o hacer observaciones para corregir.</a:t>
            </a:r>
          </a:p>
        </p:txBody>
      </p:sp>
      <p:grpSp>
        <p:nvGrpSpPr>
          <p:cNvPr id="49" name="Group 49"/>
          <p:cNvGrpSpPr/>
          <p:nvPr/>
        </p:nvGrpSpPr>
        <p:grpSpPr>
          <a:xfrm>
            <a:off x="1801145" y="8051022"/>
            <a:ext cx="14690946" cy="1454230"/>
            <a:chOff x="0" y="0"/>
            <a:chExt cx="3246102" cy="321326"/>
          </a:xfrm>
        </p:grpSpPr>
        <p:sp>
          <p:nvSpPr>
            <p:cNvPr id="50" name="Freeform 50"/>
            <p:cNvSpPr/>
            <p:nvPr/>
          </p:nvSpPr>
          <p:spPr>
            <a:xfrm>
              <a:off x="0" y="0"/>
              <a:ext cx="3246102" cy="321326"/>
            </a:xfrm>
            <a:custGeom>
              <a:avLst/>
              <a:gdLst/>
              <a:ahLst/>
              <a:cxnLst/>
              <a:rect l="l" t="t" r="r" b="b"/>
              <a:pathLst>
                <a:path w="3246102" h="321326">
                  <a:moveTo>
                    <a:pt x="3246102" y="15810"/>
                  </a:moveTo>
                  <a:lnTo>
                    <a:pt x="3246102" y="305516"/>
                  </a:lnTo>
                  <a:cubicBezTo>
                    <a:pt x="3246102" y="309709"/>
                    <a:pt x="3244436" y="313730"/>
                    <a:pt x="3241472" y="316695"/>
                  </a:cubicBezTo>
                  <a:cubicBezTo>
                    <a:pt x="3238507" y="319660"/>
                    <a:pt x="3234486" y="321326"/>
                    <a:pt x="3230293" y="321326"/>
                  </a:cubicBezTo>
                  <a:lnTo>
                    <a:pt x="15810" y="321326"/>
                  </a:lnTo>
                  <a:cubicBezTo>
                    <a:pt x="7078" y="321326"/>
                    <a:pt x="0" y="314248"/>
                    <a:pt x="0" y="305516"/>
                  </a:cubicBezTo>
                  <a:lnTo>
                    <a:pt x="0" y="15810"/>
                  </a:lnTo>
                  <a:cubicBezTo>
                    <a:pt x="0" y="7078"/>
                    <a:pt x="7078" y="0"/>
                    <a:pt x="15810" y="0"/>
                  </a:cubicBezTo>
                  <a:lnTo>
                    <a:pt x="3230293" y="0"/>
                  </a:lnTo>
                  <a:cubicBezTo>
                    <a:pt x="3234486" y="0"/>
                    <a:pt x="3238507" y="1666"/>
                    <a:pt x="3241472" y="4631"/>
                  </a:cubicBezTo>
                  <a:cubicBezTo>
                    <a:pt x="3244436" y="7595"/>
                    <a:pt x="3246102" y="11617"/>
                    <a:pt x="3246102" y="15810"/>
                  </a:cubicBezTo>
                  <a:close/>
                </a:path>
              </a:pathLst>
            </a:custGeom>
            <a:solidFill>
              <a:srgbClr val="3B567A"/>
            </a:solidFill>
          </p:spPr>
          <p:txBody>
            <a:bodyPr/>
            <a:lstStyle/>
            <a:p>
              <a:endParaRPr lang="en-US"/>
            </a:p>
          </p:txBody>
        </p:sp>
        <p:sp>
          <p:nvSpPr>
            <p:cNvPr id="51" name="TextBox 51"/>
            <p:cNvSpPr txBox="1"/>
            <p:nvPr/>
          </p:nvSpPr>
          <p:spPr>
            <a:xfrm>
              <a:off x="0" y="-38100"/>
              <a:ext cx="3246102" cy="359426"/>
            </a:xfrm>
            <a:prstGeom prst="rect">
              <a:avLst/>
            </a:prstGeom>
          </p:spPr>
          <p:txBody>
            <a:bodyPr lIns="50800" tIns="50800" rIns="50800" bIns="50800" rtlCol="0" anchor="ctr"/>
            <a:lstStyle/>
            <a:p>
              <a:pPr algn="ctr">
                <a:lnSpc>
                  <a:spcPts val="2659"/>
                </a:lnSpc>
              </a:pPr>
              <a:endParaRPr/>
            </a:p>
          </p:txBody>
        </p:sp>
      </p:grpSp>
      <p:sp>
        <p:nvSpPr>
          <p:cNvPr id="52" name="TextBox 52"/>
          <p:cNvSpPr txBox="1"/>
          <p:nvPr/>
        </p:nvSpPr>
        <p:spPr>
          <a:xfrm>
            <a:off x="2046426" y="8330497"/>
            <a:ext cx="14451570" cy="914741"/>
          </a:xfrm>
          <a:prstGeom prst="rect">
            <a:avLst/>
          </a:prstGeom>
        </p:spPr>
        <p:txBody>
          <a:bodyPr lIns="0" tIns="0" rIns="0" bIns="0" rtlCol="0" anchor="t">
            <a:spAutoFit/>
          </a:bodyPr>
          <a:lstStyle/>
          <a:p>
            <a:pPr marL="0" lvl="0" indent="0" algn="l">
              <a:lnSpc>
                <a:spcPts val="3669"/>
              </a:lnSpc>
              <a:spcBef>
                <a:spcPct val="0"/>
              </a:spcBef>
            </a:pPr>
            <a:r>
              <a:rPr lang="en-US" sz="3058" b="1">
                <a:solidFill>
                  <a:srgbClr val="FFFFFF"/>
                </a:solidFill>
                <a:latin typeface="League Spartan"/>
                <a:ea typeface="League Spartan"/>
                <a:cs typeface="League Spartan"/>
                <a:sym typeface="League Spartan"/>
              </a:rPr>
              <a:t>Así logramos mayor control documental, más eficiencia en procesos y trazabilidad completa de cada solicitud</a:t>
            </a:r>
          </a:p>
        </p:txBody>
      </p:sp>
      <p:sp>
        <p:nvSpPr>
          <p:cNvPr id="53" name="TextBox 53"/>
          <p:cNvSpPr txBox="1"/>
          <p:nvPr/>
        </p:nvSpPr>
        <p:spPr>
          <a:xfrm>
            <a:off x="6013301" y="6649892"/>
            <a:ext cx="2449255" cy="310091"/>
          </a:xfrm>
          <a:prstGeom prst="rect">
            <a:avLst/>
          </a:prstGeom>
        </p:spPr>
        <p:txBody>
          <a:bodyPr lIns="0" tIns="0" rIns="0" bIns="0" rtlCol="0" anchor="t">
            <a:spAutoFit/>
          </a:bodyPr>
          <a:lstStyle/>
          <a:p>
            <a:pPr marL="0" lvl="0" indent="0" algn="l">
              <a:lnSpc>
                <a:spcPts val="2434"/>
              </a:lnSpc>
              <a:spcBef>
                <a:spcPct val="0"/>
              </a:spcBef>
            </a:pPr>
            <a:r>
              <a:rPr lang="en-US" sz="2029">
                <a:solidFill>
                  <a:srgbClr val="3B567A"/>
                </a:solidFill>
                <a:latin typeface="Raleway"/>
                <a:ea typeface="Raleway"/>
                <a:cs typeface="Raleway"/>
                <a:sym typeface="Raleway"/>
              </a:rPr>
              <a:t>Con apoyo de la </a:t>
            </a:r>
            <a:r>
              <a:rPr lang="en-US" sz="2029" b="1">
                <a:solidFill>
                  <a:srgbClr val="3B567A"/>
                </a:solidFill>
                <a:latin typeface="Raleway Bold"/>
                <a:ea typeface="Raleway Bold"/>
                <a:cs typeface="Raleway Bold"/>
                <a:sym typeface="Raleway Bold"/>
              </a:rPr>
              <a:t>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2447925"/>
          </a:xfrm>
          <a:prstGeom prst="rect">
            <a:avLst/>
          </a:prstGeom>
        </p:spPr>
        <p:txBody>
          <a:bodyPr lIns="0" tIns="0" rIns="0" bIns="0" rtlCol="0" anchor="t">
            <a:spAutoFit/>
          </a:bodyPr>
          <a:lstStyle/>
          <a:p>
            <a:pPr algn="ctr">
              <a:lnSpc>
                <a:spcPts val="9600"/>
              </a:lnSpc>
            </a:pPr>
            <a:r>
              <a:rPr lang="en-US" sz="8000" b="1">
                <a:solidFill>
                  <a:srgbClr val="FFFFFF"/>
                </a:solidFill>
                <a:latin typeface="League Spartan"/>
                <a:ea typeface="League Spartan"/>
                <a:cs typeface="League Spartan"/>
                <a:sym typeface="League Spartan"/>
              </a:rPr>
              <a:t>05 Requisitos, Épicas</a:t>
            </a:r>
          </a:p>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e Historias de Usuario</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72982" y="1293748"/>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Requisitos Funcionales</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742654" y="3006092"/>
            <a:ext cx="7227507" cy="1968565"/>
            <a:chOff x="0" y="0"/>
            <a:chExt cx="1903541" cy="518470"/>
          </a:xfrm>
        </p:grpSpPr>
        <p:sp>
          <p:nvSpPr>
            <p:cNvPr id="6" name="Freeform 6"/>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7" name="TextBox 7"/>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2101557" y="3334493"/>
            <a:ext cx="1236264" cy="1211539"/>
          </a:xfrm>
          <a:custGeom>
            <a:avLst/>
            <a:gdLst/>
            <a:ahLst/>
            <a:cxnLst/>
            <a:rect l="l" t="t" r="r" b="b"/>
            <a:pathLst>
              <a:path w="1236264" h="1211539">
                <a:moveTo>
                  <a:pt x="0" y="0"/>
                </a:moveTo>
                <a:lnTo>
                  <a:pt x="1236264" y="0"/>
                </a:lnTo>
                <a:lnTo>
                  <a:pt x="1236264" y="1211539"/>
                </a:lnTo>
                <a:lnTo>
                  <a:pt x="0" y="12115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9" name="Group 9"/>
          <p:cNvGrpSpPr/>
          <p:nvPr/>
        </p:nvGrpSpPr>
        <p:grpSpPr>
          <a:xfrm>
            <a:off x="1742654" y="5327082"/>
            <a:ext cx="7227507" cy="1968565"/>
            <a:chOff x="0" y="0"/>
            <a:chExt cx="1903541" cy="518470"/>
          </a:xfrm>
        </p:grpSpPr>
        <p:sp>
          <p:nvSpPr>
            <p:cNvPr id="10" name="Freeform 10"/>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11" name="TextBox 11"/>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742654" y="7815908"/>
            <a:ext cx="7227507" cy="1968565"/>
            <a:chOff x="0" y="0"/>
            <a:chExt cx="1903541" cy="518470"/>
          </a:xfrm>
        </p:grpSpPr>
        <p:sp>
          <p:nvSpPr>
            <p:cNvPr id="13" name="Freeform 13"/>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14" name="TextBox 14"/>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9782828" y="5319712"/>
            <a:ext cx="7476472" cy="1968565"/>
            <a:chOff x="0" y="0"/>
            <a:chExt cx="1969112" cy="518470"/>
          </a:xfrm>
        </p:grpSpPr>
        <p:sp>
          <p:nvSpPr>
            <p:cNvPr id="16" name="Freeform 16"/>
            <p:cNvSpPr/>
            <p:nvPr/>
          </p:nvSpPr>
          <p:spPr>
            <a:xfrm>
              <a:off x="0" y="0"/>
              <a:ext cx="1969112" cy="518470"/>
            </a:xfrm>
            <a:custGeom>
              <a:avLst/>
              <a:gdLst/>
              <a:ahLst/>
              <a:cxnLst/>
              <a:rect l="l" t="t" r="r" b="b"/>
              <a:pathLst>
                <a:path w="1969112" h="518470">
                  <a:moveTo>
                    <a:pt x="1969112" y="31065"/>
                  </a:moveTo>
                  <a:lnTo>
                    <a:pt x="1969112" y="487405"/>
                  </a:lnTo>
                  <a:cubicBezTo>
                    <a:pt x="1969112" y="495644"/>
                    <a:pt x="1965839" y="503545"/>
                    <a:pt x="1960013" y="509371"/>
                  </a:cubicBezTo>
                  <a:cubicBezTo>
                    <a:pt x="1954187" y="515197"/>
                    <a:pt x="1946286" y="518470"/>
                    <a:pt x="1938047" y="518470"/>
                  </a:cubicBezTo>
                  <a:lnTo>
                    <a:pt x="31065" y="518470"/>
                  </a:lnTo>
                  <a:cubicBezTo>
                    <a:pt x="13908" y="518470"/>
                    <a:pt x="0" y="504561"/>
                    <a:pt x="0" y="487405"/>
                  </a:cubicBezTo>
                  <a:lnTo>
                    <a:pt x="0" y="31065"/>
                  </a:lnTo>
                  <a:cubicBezTo>
                    <a:pt x="0" y="22826"/>
                    <a:pt x="3273" y="14925"/>
                    <a:pt x="9099" y="9099"/>
                  </a:cubicBezTo>
                  <a:cubicBezTo>
                    <a:pt x="14925" y="3273"/>
                    <a:pt x="22826" y="0"/>
                    <a:pt x="31065" y="0"/>
                  </a:cubicBezTo>
                  <a:lnTo>
                    <a:pt x="1938047" y="0"/>
                  </a:lnTo>
                  <a:cubicBezTo>
                    <a:pt x="1946286" y="0"/>
                    <a:pt x="1954187" y="3273"/>
                    <a:pt x="1960013" y="9099"/>
                  </a:cubicBezTo>
                  <a:cubicBezTo>
                    <a:pt x="1965839" y="14925"/>
                    <a:pt x="1969112" y="22826"/>
                    <a:pt x="1969112" y="31065"/>
                  </a:cubicBezTo>
                  <a:close/>
                </a:path>
              </a:pathLst>
            </a:custGeom>
            <a:solidFill>
              <a:srgbClr val="FFFFFF"/>
            </a:solidFill>
          </p:spPr>
          <p:txBody>
            <a:bodyPr/>
            <a:lstStyle/>
            <a:p>
              <a:endParaRPr lang="en-US"/>
            </a:p>
          </p:txBody>
        </p:sp>
        <p:sp>
          <p:nvSpPr>
            <p:cNvPr id="17" name="TextBox 17"/>
            <p:cNvSpPr txBox="1"/>
            <p:nvPr/>
          </p:nvSpPr>
          <p:spPr>
            <a:xfrm>
              <a:off x="0" y="-38100"/>
              <a:ext cx="1969112" cy="55657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993794" y="5781461"/>
            <a:ext cx="1451791" cy="1059807"/>
          </a:xfrm>
          <a:custGeom>
            <a:avLst/>
            <a:gdLst/>
            <a:ahLst/>
            <a:cxnLst/>
            <a:rect l="l" t="t" r="r" b="b"/>
            <a:pathLst>
              <a:path w="1451791" h="1059807">
                <a:moveTo>
                  <a:pt x="0" y="0"/>
                </a:moveTo>
                <a:lnTo>
                  <a:pt x="1451791" y="0"/>
                </a:lnTo>
                <a:lnTo>
                  <a:pt x="1451791" y="1059807"/>
                </a:lnTo>
                <a:lnTo>
                  <a:pt x="0" y="105980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a:off x="9945278" y="5618293"/>
            <a:ext cx="1315284" cy="1315284"/>
          </a:xfrm>
          <a:custGeom>
            <a:avLst/>
            <a:gdLst/>
            <a:ahLst/>
            <a:cxnLst/>
            <a:rect l="l" t="t" r="r" b="b"/>
            <a:pathLst>
              <a:path w="1315284" h="1315284">
                <a:moveTo>
                  <a:pt x="0" y="0"/>
                </a:moveTo>
                <a:lnTo>
                  <a:pt x="1315283" y="0"/>
                </a:lnTo>
                <a:lnTo>
                  <a:pt x="1315283" y="1315283"/>
                </a:lnTo>
                <a:lnTo>
                  <a:pt x="0" y="131528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0" name="Group 20"/>
          <p:cNvGrpSpPr/>
          <p:nvPr/>
        </p:nvGrpSpPr>
        <p:grpSpPr>
          <a:xfrm>
            <a:off x="9797591" y="7438522"/>
            <a:ext cx="7476472" cy="1968565"/>
            <a:chOff x="0" y="0"/>
            <a:chExt cx="1969112" cy="518470"/>
          </a:xfrm>
        </p:grpSpPr>
        <p:sp>
          <p:nvSpPr>
            <p:cNvPr id="21" name="Freeform 21"/>
            <p:cNvSpPr/>
            <p:nvPr/>
          </p:nvSpPr>
          <p:spPr>
            <a:xfrm>
              <a:off x="0" y="0"/>
              <a:ext cx="1969112" cy="518470"/>
            </a:xfrm>
            <a:custGeom>
              <a:avLst/>
              <a:gdLst/>
              <a:ahLst/>
              <a:cxnLst/>
              <a:rect l="l" t="t" r="r" b="b"/>
              <a:pathLst>
                <a:path w="1969112" h="518470">
                  <a:moveTo>
                    <a:pt x="1969112" y="31065"/>
                  </a:moveTo>
                  <a:lnTo>
                    <a:pt x="1969112" y="487405"/>
                  </a:lnTo>
                  <a:cubicBezTo>
                    <a:pt x="1969112" y="495644"/>
                    <a:pt x="1965839" y="503545"/>
                    <a:pt x="1960013" y="509371"/>
                  </a:cubicBezTo>
                  <a:cubicBezTo>
                    <a:pt x="1954187" y="515197"/>
                    <a:pt x="1946286" y="518470"/>
                    <a:pt x="1938047" y="518470"/>
                  </a:cubicBezTo>
                  <a:lnTo>
                    <a:pt x="31065" y="518470"/>
                  </a:lnTo>
                  <a:cubicBezTo>
                    <a:pt x="13908" y="518470"/>
                    <a:pt x="0" y="504561"/>
                    <a:pt x="0" y="487405"/>
                  </a:cubicBezTo>
                  <a:lnTo>
                    <a:pt x="0" y="31065"/>
                  </a:lnTo>
                  <a:cubicBezTo>
                    <a:pt x="0" y="22826"/>
                    <a:pt x="3273" y="14925"/>
                    <a:pt x="9099" y="9099"/>
                  </a:cubicBezTo>
                  <a:cubicBezTo>
                    <a:pt x="14925" y="3273"/>
                    <a:pt x="22826" y="0"/>
                    <a:pt x="31065" y="0"/>
                  </a:cubicBezTo>
                  <a:lnTo>
                    <a:pt x="1938047" y="0"/>
                  </a:lnTo>
                  <a:cubicBezTo>
                    <a:pt x="1946286" y="0"/>
                    <a:pt x="1954187" y="3273"/>
                    <a:pt x="1960013" y="9099"/>
                  </a:cubicBezTo>
                  <a:cubicBezTo>
                    <a:pt x="1965839" y="14925"/>
                    <a:pt x="1969112" y="22826"/>
                    <a:pt x="1969112" y="31065"/>
                  </a:cubicBezTo>
                  <a:close/>
                </a:path>
              </a:pathLst>
            </a:custGeom>
            <a:solidFill>
              <a:srgbClr val="FFFFFF"/>
            </a:solidFill>
          </p:spPr>
          <p:txBody>
            <a:bodyPr/>
            <a:lstStyle/>
            <a:p>
              <a:endParaRPr lang="en-US"/>
            </a:p>
          </p:txBody>
        </p:sp>
        <p:sp>
          <p:nvSpPr>
            <p:cNvPr id="22" name="TextBox 22"/>
            <p:cNvSpPr txBox="1"/>
            <p:nvPr/>
          </p:nvSpPr>
          <p:spPr>
            <a:xfrm>
              <a:off x="0" y="-38100"/>
              <a:ext cx="1969112" cy="556570"/>
            </a:xfrm>
            <a:prstGeom prst="rect">
              <a:avLst/>
            </a:prstGeom>
          </p:spPr>
          <p:txBody>
            <a:bodyPr lIns="50800" tIns="50800" rIns="50800" bIns="50800" rtlCol="0" anchor="ctr"/>
            <a:lstStyle/>
            <a:p>
              <a:pPr algn="ctr">
                <a:lnSpc>
                  <a:spcPts val="2659"/>
                </a:lnSpc>
              </a:pPr>
              <a:endParaRPr/>
            </a:p>
          </p:txBody>
        </p:sp>
      </p:grpSp>
      <p:sp>
        <p:nvSpPr>
          <p:cNvPr id="23" name="Freeform 23"/>
          <p:cNvSpPr/>
          <p:nvPr/>
        </p:nvSpPr>
        <p:spPr>
          <a:xfrm>
            <a:off x="9945278" y="7773770"/>
            <a:ext cx="1298068" cy="1298068"/>
          </a:xfrm>
          <a:custGeom>
            <a:avLst/>
            <a:gdLst/>
            <a:ahLst/>
            <a:cxnLst/>
            <a:rect l="l" t="t" r="r" b="b"/>
            <a:pathLst>
              <a:path w="1298068" h="1298068">
                <a:moveTo>
                  <a:pt x="0" y="0"/>
                </a:moveTo>
                <a:lnTo>
                  <a:pt x="1298068" y="0"/>
                </a:lnTo>
                <a:lnTo>
                  <a:pt x="1298068" y="1298068"/>
                </a:lnTo>
                <a:lnTo>
                  <a:pt x="0" y="1298068"/>
                </a:lnTo>
                <a:lnTo>
                  <a:pt x="0" y="0"/>
                </a:lnTo>
                <a:close/>
              </a:path>
            </a:pathLst>
          </a:custGeom>
          <a:blipFill>
            <a:blip r:embed="rId7"/>
            <a:stretch>
              <a:fillRect/>
            </a:stretch>
          </a:blipFill>
        </p:spPr>
        <p:txBody>
          <a:bodyPr/>
          <a:lstStyle/>
          <a:p>
            <a:endParaRPr lang="en-US"/>
          </a:p>
        </p:txBody>
      </p:sp>
      <p:sp>
        <p:nvSpPr>
          <p:cNvPr id="24" name="TextBox 24"/>
          <p:cNvSpPr txBox="1"/>
          <p:nvPr/>
        </p:nvSpPr>
        <p:spPr>
          <a:xfrm>
            <a:off x="3580468" y="3221223"/>
            <a:ext cx="5066157"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Registro de documentos</a:t>
            </a:r>
          </a:p>
        </p:txBody>
      </p:sp>
      <p:sp>
        <p:nvSpPr>
          <p:cNvPr id="25" name="TextBox 25"/>
          <p:cNvSpPr txBox="1"/>
          <p:nvPr/>
        </p:nvSpPr>
        <p:spPr>
          <a:xfrm>
            <a:off x="3594120" y="3788782"/>
            <a:ext cx="4851083"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Registrar solicitudes con la información necesaria.</a:t>
            </a:r>
          </a:p>
        </p:txBody>
      </p:sp>
      <p:sp>
        <p:nvSpPr>
          <p:cNvPr id="26" name="TextBox 26"/>
          <p:cNvSpPr txBox="1"/>
          <p:nvPr/>
        </p:nvSpPr>
        <p:spPr>
          <a:xfrm>
            <a:off x="3591939" y="5612832"/>
            <a:ext cx="4864734"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Inventario documental</a:t>
            </a:r>
          </a:p>
        </p:txBody>
      </p:sp>
      <p:sp>
        <p:nvSpPr>
          <p:cNvPr id="27" name="TextBox 27"/>
          <p:cNvSpPr txBox="1"/>
          <p:nvPr/>
        </p:nvSpPr>
        <p:spPr>
          <a:xfrm>
            <a:off x="3605590" y="6180391"/>
            <a:ext cx="4851083" cy="13627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Gestionar y descargar documentos guardados en el sistema</a:t>
            </a:r>
          </a:p>
        </p:txBody>
      </p:sp>
      <p:grpSp>
        <p:nvGrpSpPr>
          <p:cNvPr id="28" name="Group 28"/>
          <p:cNvGrpSpPr/>
          <p:nvPr/>
        </p:nvGrpSpPr>
        <p:grpSpPr>
          <a:xfrm>
            <a:off x="9782828" y="3368323"/>
            <a:ext cx="6259346" cy="1463544"/>
            <a:chOff x="0" y="0"/>
            <a:chExt cx="8345794" cy="1951392"/>
          </a:xfrm>
        </p:grpSpPr>
        <p:sp>
          <p:nvSpPr>
            <p:cNvPr id="29" name="Freeform 29"/>
            <p:cNvSpPr/>
            <p:nvPr/>
          </p:nvSpPr>
          <p:spPr>
            <a:xfrm>
              <a:off x="0" y="112096"/>
              <a:ext cx="1535952" cy="1413076"/>
            </a:xfrm>
            <a:custGeom>
              <a:avLst/>
              <a:gdLst/>
              <a:ahLst/>
              <a:cxnLst/>
              <a:rect l="l" t="t" r="r" b="b"/>
              <a:pathLst>
                <a:path w="1535952" h="1413076">
                  <a:moveTo>
                    <a:pt x="0" y="0"/>
                  </a:moveTo>
                  <a:lnTo>
                    <a:pt x="1535952" y="0"/>
                  </a:lnTo>
                  <a:lnTo>
                    <a:pt x="1535952" y="1413076"/>
                  </a:lnTo>
                  <a:lnTo>
                    <a:pt x="0" y="141307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TextBox 30"/>
            <p:cNvSpPr txBox="1"/>
            <p:nvPr/>
          </p:nvSpPr>
          <p:spPr>
            <a:xfrm>
              <a:off x="1859482" y="-9525"/>
              <a:ext cx="6179573" cy="631825"/>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Revisión de solicitudes</a:t>
              </a:r>
            </a:p>
          </p:txBody>
        </p:sp>
        <p:sp>
          <p:nvSpPr>
            <p:cNvPr id="31" name="TextBox 31"/>
            <p:cNvSpPr txBox="1"/>
            <p:nvPr/>
          </p:nvSpPr>
          <p:spPr>
            <a:xfrm>
              <a:off x="1877683" y="763095"/>
              <a:ext cx="6468111" cy="1188297"/>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Aprobar, rechazar o hacer observaciones para mejorar.</a:t>
              </a:r>
            </a:p>
          </p:txBody>
        </p:sp>
      </p:grpSp>
      <p:grpSp>
        <p:nvGrpSpPr>
          <p:cNvPr id="32" name="Group 32"/>
          <p:cNvGrpSpPr/>
          <p:nvPr/>
        </p:nvGrpSpPr>
        <p:grpSpPr>
          <a:xfrm>
            <a:off x="1777197" y="7863338"/>
            <a:ext cx="7476472" cy="1968565"/>
            <a:chOff x="0" y="0"/>
            <a:chExt cx="9968629" cy="2624753"/>
          </a:xfrm>
        </p:grpSpPr>
        <p:grpSp>
          <p:nvGrpSpPr>
            <p:cNvPr id="33" name="Group 33"/>
            <p:cNvGrpSpPr/>
            <p:nvPr/>
          </p:nvGrpSpPr>
          <p:grpSpPr>
            <a:xfrm>
              <a:off x="0" y="0"/>
              <a:ext cx="9968629" cy="2624753"/>
              <a:chOff x="0" y="0"/>
              <a:chExt cx="1969112" cy="518470"/>
            </a:xfrm>
          </p:grpSpPr>
          <p:sp>
            <p:nvSpPr>
              <p:cNvPr id="34" name="Freeform 34"/>
              <p:cNvSpPr/>
              <p:nvPr/>
            </p:nvSpPr>
            <p:spPr>
              <a:xfrm>
                <a:off x="0" y="0"/>
                <a:ext cx="1969112" cy="518470"/>
              </a:xfrm>
              <a:custGeom>
                <a:avLst/>
                <a:gdLst/>
                <a:ahLst/>
                <a:cxnLst/>
                <a:rect l="l" t="t" r="r" b="b"/>
                <a:pathLst>
                  <a:path w="1969112" h="518470">
                    <a:moveTo>
                      <a:pt x="1969112" y="31065"/>
                    </a:moveTo>
                    <a:lnTo>
                      <a:pt x="1969112" y="487405"/>
                    </a:lnTo>
                    <a:cubicBezTo>
                      <a:pt x="1969112" y="495644"/>
                      <a:pt x="1965839" y="503545"/>
                      <a:pt x="1960013" y="509371"/>
                    </a:cubicBezTo>
                    <a:cubicBezTo>
                      <a:pt x="1954187" y="515197"/>
                      <a:pt x="1946286" y="518470"/>
                      <a:pt x="1938047" y="518470"/>
                    </a:cubicBezTo>
                    <a:lnTo>
                      <a:pt x="31065" y="518470"/>
                    </a:lnTo>
                    <a:cubicBezTo>
                      <a:pt x="13908" y="518470"/>
                      <a:pt x="0" y="504561"/>
                      <a:pt x="0" y="487405"/>
                    </a:cubicBezTo>
                    <a:lnTo>
                      <a:pt x="0" y="31065"/>
                    </a:lnTo>
                    <a:cubicBezTo>
                      <a:pt x="0" y="22826"/>
                      <a:pt x="3273" y="14925"/>
                      <a:pt x="9099" y="9099"/>
                    </a:cubicBezTo>
                    <a:cubicBezTo>
                      <a:pt x="14925" y="3273"/>
                      <a:pt x="22826" y="0"/>
                      <a:pt x="31065" y="0"/>
                    </a:cubicBezTo>
                    <a:lnTo>
                      <a:pt x="1938047" y="0"/>
                    </a:lnTo>
                    <a:cubicBezTo>
                      <a:pt x="1946286" y="0"/>
                      <a:pt x="1954187" y="3273"/>
                      <a:pt x="1960013" y="9099"/>
                    </a:cubicBezTo>
                    <a:cubicBezTo>
                      <a:pt x="1965839" y="14925"/>
                      <a:pt x="1969112" y="22826"/>
                      <a:pt x="1969112" y="31065"/>
                    </a:cubicBezTo>
                    <a:close/>
                  </a:path>
                </a:pathLst>
              </a:custGeom>
              <a:solidFill>
                <a:srgbClr val="FFFFFF"/>
              </a:solidFill>
            </p:spPr>
            <p:txBody>
              <a:bodyPr/>
              <a:lstStyle/>
              <a:p>
                <a:endParaRPr lang="en-US"/>
              </a:p>
            </p:txBody>
          </p:sp>
          <p:sp>
            <p:nvSpPr>
              <p:cNvPr id="35" name="TextBox 35"/>
              <p:cNvSpPr txBox="1"/>
              <p:nvPr/>
            </p:nvSpPr>
            <p:spPr>
              <a:xfrm>
                <a:off x="0" y="-38100"/>
                <a:ext cx="1969112" cy="556570"/>
              </a:xfrm>
              <a:prstGeom prst="rect">
                <a:avLst/>
              </a:prstGeom>
            </p:spPr>
            <p:txBody>
              <a:bodyPr lIns="50800" tIns="50800" rIns="50800" bIns="50800" rtlCol="0" anchor="ctr"/>
              <a:lstStyle/>
              <a:p>
                <a:pPr algn="ctr">
                  <a:lnSpc>
                    <a:spcPts val="2659"/>
                  </a:lnSpc>
                </a:pPr>
                <a:endParaRPr/>
              </a:p>
            </p:txBody>
          </p:sp>
        </p:grpSp>
        <p:sp>
          <p:nvSpPr>
            <p:cNvPr id="36" name="Freeform 36"/>
            <p:cNvSpPr/>
            <p:nvPr/>
          </p:nvSpPr>
          <p:spPr>
            <a:xfrm>
              <a:off x="451849" y="622018"/>
              <a:ext cx="1518462" cy="1615385"/>
            </a:xfrm>
            <a:custGeom>
              <a:avLst/>
              <a:gdLst/>
              <a:ahLst/>
              <a:cxnLst/>
              <a:rect l="l" t="t" r="r" b="b"/>
              <a:pathLst>
                <a:path w="1518462" h="1615385">
                  <a:moveTo>
                    <a:pt x="0" y="0"/>
                  </a:moveTo>
                  <a:lnTo>
                    <a:pt x="1518462" y="0"/>
                  </a:lnTo>
                  <a:lnTo>
                    <a:pt x="1518462" y="1615385"/>
                  </a:lnTo>
                  <a:lnTo>
                    <a:pt x="0" y="161538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7" name="TextBox 37"/>
            <p:cNvSpPr txBox="1"/>
            <p:nvPr/>
          </p:nvSpPr>
          <p:spPr>
            <a:xfrm>
              <a:off x="2488952" y="363459"/>
              <a:ext cx="6140865" cy="631825"/>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Historial de solicitudes</a:t>
              </a:r>
            </a:p>
          </p:txBody>
        </p:sp>
        <p:sp>
          <p:nvSpPr>
            <p:cNvPr id="38" name="TextBox 38"/>
            <p:cNvSpPr txBox="1"/>
            <p:nvPr/>
          </p:nvSpPr>
          <p:spPr>
            <a:xfrm>
              <a:off x="2507154" y="1136079"/>
              <a:ext cx="6468111" cy="1188297"/>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Consultar el historial para hacer trazabilidad.</a:t>
              </a:r>
            </a:p>
          </p:txBody>
        </p:sp>
      </p:grpSp>
      <p:sp>
        <p:nvSpPr>
          <p:cNvPr id="39" name="TextBox 39"/>
          <p:cNvSpPr txBox="1"/>
          <p:nvPr/>
        </p:nvSpPr>
        <p:spPr>
          <a:xfrm>
            <a:off x="11649542" y="5562698"/>
            <a:ext cx="4864734"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Reportes y Dashboards</a:t>
            </a:r>
          </a:p>
        </p:txBody>
      </p:sp>
      <p:sp>
        <p:nvSpPr>
          <p:cNvPr id="40" name="TextBox 40"/>
          <p:cNvSpPr txBox="1"/>
          <p:nvPr/>
        </p:nvSpPr>
        <p:spPr>
          <a:xfrm>
            <a:off x="11663193" y="6130256"/>
            <a:ext cx="5596107"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Generar reportes y visualizar información para apoyar la gestión.</a:t>
            </a:r>
          </a:p>
        </p:txBody>
      </p:sp>
      <p:sp>
        <p:nvSpPr>
          <p:cNvPr id="41" name="TextBox 41"/>
          <p:cNvSpPr txBox="1"/>
          <p:nvPr/>
        </p:nvSpPr>
        <p:spPr>
          <a:xfrm>
            <a:off x="11831554" y="7747672"/>
            <a:ext cx="5099347"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Revisión asistida por IA</a:t>
            </a:r>
          </a:p>
        </p:txBody>
      </p:sp>
      <p:sp>
        <p:nvSpPr>
          <p:cNvPr id="42" name="TextBox 42"/>
          <p:cNvSpPr txBox="1"/>
          <p:nvPr/>
        </p:nvSpPr>
        <p:spPr>
          <a:xfrm>
            <a:off x="11796543" y="8221542"/>
            <a:ext cx="5596107"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Utilizar IA para apoyar la revisión y autocompletado de documentos.</a:t>
            </a:r>
          </a:p>
        </p:txBody>
      </p:sp>
      <p:sp>
        <p:nvSpPr>
          <p:cNvPr id="43" name="Freeform 4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4" name="TextBox 44"/>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43359" y="155829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Requisitos No Funcionales</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5814265" y="3014994"/>
            <a:ext cx="7227507" cy="1968565"/>
            <a:chOff x="0" y="0"/>
            <a:chExt cx="1903541" cy="518470"/>
          </a:xfrm>
        </p:grpSpPr>
        <p:sp>
          <p:nvSpPr>
            <p:cNvPr id="6" name="Freeform 6"/>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7" name="TextBox 7"/>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916493" y="5503295"/>
            <a:ext cx="7227507" cy="1968565"/>
            <a:chOff x="0" y="0"/>
            <a:chExt cx="1903541" cy="518470"/>
          </a:xfrm>
        </p:grpSpPr>
        <p:sp>
          <p:nvSpPr>
            <p:cNvPr id="9" name="Freeform 9"/>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10" name="TextBox 10"/>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916493" y="7824284"/>
            <a:ext cx="7227507" cy="1968565"/>
            <a:chOff x="0" y="0"/>
            <a:chExt cx="1903541" cy="518470"/>
          </a:xfrm>
        </p:grpSpPr>
        <p:sp>
          <p:nvSpPr>
            <p:cNvPr id="12" name="Freeform 12"/>
            <p:cNvSpPr/>
            <p:nvPr/>
          </p:nvSpPr>
          <p:spPr>
            <a:xfrm>
              <a:off x="0" y="0"/>
              <a:ext cx="1903541" cy="518470"/>
            </a:xfrm>
            <a:custGeom>
              <a:avLst/>
              <a:gdLst/>
              <a:ahLst/>
              <a:cxnLst/>
              <a:rect l="l" t="t" r="r" b="b"/>
              <a:pathLst>
                <a:path w="1903541" h="518470">
                  <a:moveTo>
                    <a:pt x="1903541" y="32135"/>
                  </a:moveTo>
                  <a:lnTo>
                    <a:pt x="1903541" y="486334"/>
                  </a:lnTo>
                  <a:cubicBezTo>
                    <a:pt x="1903541" y="494857"/>
                    <a:pt x="1900155" y="503031"/>
                    <a:pt x="1894129" y="509058"/>
                  </a:cubicBezTo>
                  <a:cubicBezTo>
                    <a:pt x="1888102" y="515084"/>
                    <a:pt x="1879928" y="518470"/>
                    <a:pt x="1871406" y="518470"/>
                  </a:cubicBezTo>
                  <a:lnTo>
                    <a:pt x="32135" y="518470"/>
                  </a:lnTo>
                  <a:cubicBezTo>
                    <a:pt x="14387" y="518470"/>
                    <a:pt x="0" y="504082"/>
                    <a:pt x="0" y="486334"/>
                  </a:cubicBezTo>
                  <a:lnTo>
                    <a:pt x="0" y="32135"/>
                  </a:lnTo>
                  <a:cubicBezTo>
                    <a:pt x="0" y="23612"/>
                    <a:pt x="3386" y="15439"/>
                    <a:pt x="9412" y="9412"/>
                  </a:cubicBezTo>
                  <a:cubicBezTo>
                    <a:pt x="15439" y="3386"/>
                    <a:pt x="23612" y="0"/>
                    <a:pt x="32135" y="0"/>
                  </a:cubicBezTo>
                  <a:lnTo>
                    <a:pt x="1871406" y="0"/>
                  </a:lnTo>
                  <a:cubicBezTo>
                    <a:pt x="1879928" y="0"/>
                    <a:pt x="1888102" y="3386"/>
                    <a:pt x="1894129" y="9412"/>
                  </a:cubicBezTo>
                  <a:cubicBezTo>
                    <a:pt x="1900155" y="15439"/>
                    <a:pt x="1903541" y="23612"/>
                    <a:pt x="1903541" y="32135"/>
                  </a:cubicBezTo>
                  <a:close/>
                </a:path>
              </a:pathLst>
            </a:custGeom>
            <a:solidFill>
              <a:srgbClr val="FFFFFF"/>
            </a:solidFill>
          </p:spPr>
          <p:txBody>
            <a:bodyPr/>
            <a:lstStyle/>
            <a:p>
              <a:endParaRPr lang="en-US"/>
            </a:p>
          </p:txBody>
        </p:sp>
        <p:sp>
          <p:nvSpPr>
            <p:cNvPr id="13" name="TextBox 13"/>
            <p:cNvSpPr txBox="1"/>
            <p:nvPr/>
          </p:nvSpPr>
          <p:spPr>
            <a:xfrm>
              <a:off x="0" y="-38100"/>
              <a:ext cx="1903541" cy="55657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9303536" y="5503295"/>
            <a:ext cx="7476472" cy="1968565"/>
            <a:chOff x="0" y="0"/>
            <a:chExt cx="1969112" cy="518470"/>
          </a:xfrm>
        </p:grpSpPr>
        <p:sp>
          <p:nvSpPr>
            <p:cNvPr id="15" name="Freeform 15"/>
            <p:cNvSpPr/>
            <p:nvPr/>
          </p:nvSpPr>
          <p:spPr>
            <a:xfrm>
              <a:off x="0" y="0"/>
              <a:ext cx="1969112" cy="518470"/>
            </a:xfrm>
            <a:custGeom>
              <a:avLst/>
              <a:gdLst/>
              <a:ahLst/>
              <a:cxnLst/>
              <a:rect l="l" t="t" r="r" b="b"/>
              <a:pathLst>
                <a:path w="1969112" h="518470">
                  <a:moveTo>
                    <a:pt x="1969112" y="31065"/>
                  </a:moveTo>
                  <a:lnTo>
                    <a:pt x="1969112" y="487405"/>
                  </a:lnTo>
                  <a:cubicBezTo>
                    <a:pt x="1969112" y="495644"/>
                    <a:pt x="1965839" y="503545"/>
                    <a:pt x="1960013" y="509371"/>
                  </a:cubicBezTo>
                  <a:cubicBezTo>
                    <a:pt x="1954187" y="515197"/>
                    <a:pt x="1946286" y="518470"/>
                    <a:pt x="1938047" y="518470"/>
                  </a:cubicBezTo>
                  <a:lnTo>
                    <a:pt x="31065" y="518470"/>
                  </a:lnTo>
                  <a:cubicBezTo>
                    <a:pt x="13908" y="518470"/>
                    <a:pt x="0" y="504561"/>
                    <a:pt x="0" y="487405"/>
                  </a:cubicBezTo>
                  <a:lnTo>
                    <a:pt x="0" y="31065"/>
                  </a:lnTo>
                  <a:cubicBezTo>
                    <a:pt x="0" y="22826"/>
                    <a:pt x="3273" y="14925"/>
                    <a:pt x="9099" y="9099"/>
                  </a:cubicBezTo>
                  <a:cubicBezTo>
                    <a:pt x="14925" y="3273"/>
                    <a:pt x="22826" y="0"/>
                    <a:pt x="31065" y="0"/>
                  </a:cubicBezTo>
                  <a:lnTo>
                    <a:pt x="1938047" y="0"/>
                  </a:lnTo>
                  <a:cubicBezTo>
                    <a:pt x="1946286" y="0"/>
                    <a:pt x="1954187" y="3273"/>
                    <a:pt x="1960013" y="9099"/>
                  </a:cubicBezTo>
                  <a:cubicBezTo>
                    <a:pt x="1965839" y="14925"/>
                    <a:pt x="1969112" y="22826"/>
                    <a:pt x="1969112" y="31065"/>
                  </a:cubicBezTo>
                  <a:close/>
                </a:path>
              </a:pathLst>
            </a:custGeom>
            <a:solidFill>
              <a:srgbClr val="FFFFFF"/>
            </a:solidFill>
          </p:spPr>
          <p:txBody>
            <a:bodyPr/>
            <a:lstStyle/>
            <a:p>
              <a:endParaRPr lang="en-US"/>
            </a:p>
          </p:txBody>
        </p:sp>
        <p:sp>
          <p:nvSpPr>
            <p:cNvPr id="16" name="TextBox 16"/>
            <p:cNvSpPr txBox="1"/>
            <p:nvPr/>
          </p:nvSpPr>
          <p:spPr>
            <a:xfrm>
              <a:off x="0" y="-38100"/>
              <a:ext cx="1969112" cy="55657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303536" y="7824284"/>
            <a:ext cx="7476472" cy="1968565"/>
            <a:chOff x="0" y="0"/>
            <a:chExt cx="1969112" cy="518470"/>
          </a:xfrm>
        </p:grpSpPr>
        <p:sp>
          <p:nvSpPr>
            <p:cNvPr id="18" name="Freeform 18"/>
            <p:cNvSpPr/>
            <p:nvPr/>
          </p:nvSpPr>
          <p:spPr>
            <a:xfrm>
              <a:off x="0" y="0"/>
              <a:ext cx="1969112" cy="518470"/>
            </a:xfrm>
            <a:custGeom>
              <a:avLst/>
              <a:gdLst/>
              <a:ahLst/>
              <a:cxnLst/>
              <a:rect l="l" t="t" r="r" b="b"/>
              <a:pathLst>
                <a:path w="1969112" h="518470">
                  <a:moveTo>
                    <a:pt x="1969112" y="31065"/>
                  </a:moveTo>
                  <a:lnTo>
                    <a:pt x="1969112" y="487405"/>
                  </a:lnTo>
                  <a:cubicBezTo>
                    <a:pt x="1969112" y="495644"/>
                    <a:pt x="1965839" y="503545"/>
                    <a:pt x="1960013" y="509371"/>
                  </a:cubicBezTo>
                  <a:cubicBezTo>
                    <a:pt x="1954187" y="515197"/>
                    <a:pt x="1946286" y="518470"/>
                    <a:pt x="1938047" y="518470"/>
                  </a:cubicBezTo>
                  <a:lnTo>
                    <a:pt x="31065" y="518470"/>
                  </a:lnTo>
                  <a:cubicBezTo>
                    <a:pt x="13908" y="518470"/>
                    <a:pt x="0" y="504561"/>
                    <a:pt x="0" y="487405"/>
                  </a:cubicBezTo>
                  <a:lnTo>
                    <a:pt x="0" y="31065"/>
                  </a:lnTo>
                  <a:cubicBezTo>
                    <a:pt x="0" y="22826"/>
                    <a:pt x="3273" y="14925"/>
                    <a:pt x="9099" y="9099"/>
                  </a:cubicBezTo>
                  <a:cubicBezTo>
                    <a:pt x="14925" y="3273"/>
                    <a:pt x="22826" y="0"/>
                    <a:pt x="31065" y="0"/>
                  </a:cubicBezTo>
                  <a:lnTo>
                    <a:pt x="1938047" y="0"/>
                  </a:lnTo>
                  <a:cubicBezTo>
                    <a:pt x="1946286" y="0"/>
                    <a:pt x="1954187" y="3273"/>
                    <a:pt x="1960013" y="9099"/>
                  </a:cubicBezTo>
                  <a:cubicBezTo>
                    <a:pt x="1965839" y="14925"/>
                    <a:pt x="1969112" y="22826"/>
                    <a:pt x="1969112" y="31065"/>
                  </a:cubicBezTo>
                  <a:close/>
                </a:path>
              </a:pathLst>
            </a:custGeom>
            <a:solidFill>
              <a:srgbClr val="FFFFFF"/>
            </a:solidFill>
          </p:spPr>
          <p:txBody>
            <a:bodyPr/>
            <a:lstStyle/>
            <a:p>
              <a:endParaRPr lang="en-US"/>
            </a:p>
          </p:txBody>
        </p:sp>
        <p:sp>
          <p:nvSpPr>
            <p:cNvPr id="19" name="TextBox 19"/>
            <p:cNvSpPr txBox="1"/>
            <p:nvPr/>
          </p:nvSpPr>
          <p:spPr>
            <a:xfrm>
              <a:off x="0" y="-38100"/>
              <a:ext cx="1969112" cy="55657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6257468" y="3343395"/>
            <a:ext cx="1076585" cy="1259164"/>
          </a:xfrm>
          <a:custGeom>
            <a:avLst/>
            <a:gdLst/>
            <a:ahLst/>
            <a:cxnLst/>
            <a:rect l="l" t="t" r="r" b="b"/>
            <a:pathLst>
              <a:path w="1076585" h="1259164">
                <a:moveTo>
                  <a:pt x="0" y="0"/>
                </a:moveTo>
                <a:lnTo>
                  <a:pt x="1076585" y="0"/>
                </a:lnTo>
                <a:lnTo>
                  <a:pt x="1076585" y="1259164"/>
                </a:lnTo>
                <a:lnTo>
                  <a:pt x="0" y="12591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2097717" y="6031932"/>
            <a:ext cx="1429935" cy="965206"/>
          </a:xfrm>
          <a:custGeom>
            <a:avLst/>
            <a:gdLst/>
            <a:ahLst/>
            <a:cxnLst/>
            <a:rect l="l" t="t" r="r" b="b"/>
            <a:pathLst>
              <a:path w="1429935" h="965206">
                <a:moveTo>
                  <a:pt x="0" y="0"/>
                </a:moveTo>
                <a:lnTo>
                  <a:pt x="1429935" y="0"/>
                </a:lnTo>
                <a:lnTo>
                  <a:pt x="1429935" y="965206"/>
                </a:lnTo>
                <a:lnTo>
                  <a:pt x="0" y="9652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2" name="Freeform 22"/>
          <p:cNvSpPr/>
          <p:nvPr/>
        </p:nvSpPr>
        <p:spPr>
          <a:xfrm>
            <a:off x="2183271" y="8338634"/>
            <a:ext cx="1258827" cy="1095180"/>
          </a:xfrm>
          <a:custGeom>
            <a:avLst/>
            <a:gdLst/>
            <a:ahLst/>
            <a:cxnLst/>
            <a:rect l="l" t="t" r="r" b="b"/>
            <a:pathLst>
              <a:path w="1258827" h="1095180">
                <a:moveTo>
                  <a:pt x="0" y="0"/>
                </a:moveTo>
                <a:lnTo>
                  <a:pt x="1258828" y="0"/>
                </a:lnTo>
                <a:lnTo>
                  <a:pt x="1258828" y="1095180"/>
                </a:lnTo>
                <a:lnTo>
                  <a:pt x="0" y="109518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3" name="Freeform 23"/>
          <p:cNvSpPr/>
          <p:nvPr/>
        </p:nvSpPr>
        <p:spPr>
          <a:xfrm>
            <a:off x="9718922" y="5811455"/>
            <a:ext cx="1102079" cy="1352245"/>
          </a:xfrm>
          <a:custGeom>
            <a:avLst/>
            <a:gdLst/>
            <a:ahLst/>
            <a:cxnLst/>
            <a:rect l="l" t="t" r="r" b="b"/>
            <a:pathLst>
              <a:path w="1102079" h="1352245">
                <a:moveTo>
                  <a:pt x="0" y="0"/>
                </a:moveTo>
                <a:lnTo>
                  <a:pt x="1102079" y="0"/>
                </a:lnTo>
                <a:lnTo>
                  <a:pt x="1102079" y="1352244"/>
                </a:lnTo>
                <a:lnTo>
                  <a:pt x="0" y="135224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4" name="Freeform 24"/>
          <p:cNvSpPr/>
          <p:nvPr/>
        </p:nvSpPr>
        <p:spPr>
          <a:xfrm>
            <a:off x="9621582" y="8228267"/>
            <a:ext cx="1296758" cy="1160598"/>
          </a:xfrm>
          <a:custGeom>
            <a:avLst/>
            <a:gdLst/>
            <a:ahLst/>
            <a:cxnLst/>
            <a:rect l="l" t="t" r="r" b="b"/>
            <a:pathLst>
              <a:path w="1296758" h="1160598">
                <a:moveTo>
                  <a:pt x="0" y="0"/>
                </a:moveTo>
                <a:lnTo>
                  <a:pt x="1296758" y="0"/>
                </a:lnTo>
                <a:lnTo>
                  <a:pt x="1296758" y="1160599"/>
                </a:lnTo>
                <a:lnTo>
                  <a:pt x="0" y="116059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5" name="TextBox 25"/>
          <p:cNvSpPr txBox="1"/>
          <p:nvPr/>
        </p:nvSpPr>
        <p:spPr>
          <a:xfrm>
            <a:off x="7652079" y="3230125"/>
            <a:ext cx="2477293"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Seguridad</a:t>
            </a:r>
          </a:p>
        </p:txBody>
      </p:sp>
      <p:sp>
        <p:nvSpPr>
          <p:cNvPr id="26" name="TextBox 26"/>
          <p:cNvSpPr txBox="1"/>
          <p:nvPr/>
        </p:nvSpPr>
        <p:spPr>
          <a:xfrm>
            <a:off x="7592272" y="3788159"/>
            <a:ext cx="5376041" cy="13627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Proteger la información y </a:t>
            </a:r>
            <a:r>
              <a:rPr lang="en-US" sz="2599" b="1">
                <a:solidFill>
                  <a:srgbClr val="3B567A"/>
                </a:solidFill>
                <a:latin typeface="Open Sans 1 Bold"/>
                <a:ea typeface="Open Sans 1 Bold"/>
                <a:cs typeface="Open Sans 1 Bold"/>
                <a:sym typeface="Open Sans 1 Bold"/>
              </a:rPr>
              <a:t>controlar el acceso según los roles</a:t>
            </a:r>
          </a:p>
        </p:txBody>
      </p:sp>
      <p:sp>
        <p:nvSpPr>
          <p:cNvPr id="27" name="TextBox 27"/>
          <p:cNvSpPr txBox="1"/>
          <p:nvPr/>
        </p:nvSpPr>
        <p:spPr>
          <a:xfrm>
            <a:off x="3765777" y="5789045"/>
            <a:ext cx="4017008"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Rendimiento</a:t>
            </a:r>
          </a:p>
        </p:txBody>
      </p:sp>
      <p:sp>
        <p:nvSpPr>
          <p:cNvPr id="28" name="TextBox 28"/>
          <p:cNvSpPr txBox="1"/>
          <p:nvPr/>
        </p:nvSpPr>
        <p:spPr>
          <a:xfrm>
            <a:off x="3779429" y="6356603"/>
            <a:ext cx="4851083"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Responder de manera rápida a las acciones del usuario</a:t>
            </a:r>
          </a:p>
        </p:txBody>
      </p:sp>
      <p:sp>
        <p:nvSpPr>
          <p:cNvPr id="29" name="TextBox 29"/>
          <p:cNvSpPr txBox="1"/>
          <p:nvPr/>
        </p:nvSpPr>
        <p:spPr>
          <a:xfrm>
            <a:off x="3754307" y="8110034"/>
            <a:ext cx="2782820"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Escalabilidad</a:t>
            </a:r>
          </a:p>
        </p:txBody>
      </p:sp>
      <p:sp>
        <p:nvSpPr>
          <p:cNvPr id="30" name="TextBox 30"/>
          <p:cNvSpPr txBox="1"/>
          <p:nvPr/>
        </p:nvSpPr>
        <p:spPr>
          <a:xfrm>
            <a:off x="3767959" y="8677593"/>
            <a:ext cx="4851083"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Permitir futuras mejoras y crecimiento de la solución</a:t>
            </a:r>
          </a:p>
        </p:txBody>
      </p:sp>
      <p:sp>
        <p:nvSpPr>
          <p:cNvPr id="31" name="TextBox 31"/>
          <p:cNvSpPr txBox="1"/>
          <p:nvPr/>
        </p:nvSpPr>
        <p:spPr>
          <a:xfrm>
            <a:off x="11170250" y="5773507"/>
            <a:ext cx="2477293"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Usabilidad</a:t>
            </a:r>
          </a:p>
        </p:txBody>
      </p:sp>
      <p:sp>
        <p:nvSpPr>
          <p:cNvPr id="32" name="TextBox 32"/>
          <p:cNvSpPr txBox="1"/>
          <p:nvPr/>
        </p:nvSpPr>
        <p:spPr>
          <a:xfrm>
            <a:off x="11183902" y="6341066"/>
            <a:ext cx="4851083" cy="4483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 Interfaz clara y fácil de utilizar</a:t>
            </a:r>
          </a:p>
        </p:txBody>
      </p:sp>
      <p:sp>
        <p:nvSpPr>
          <p:cNvPr id="33" name="TextBox 33"/>
          <p:cNvSpPr txBox="1"/>
          <p:nvPr/>
        </p:nvSpPr>
        <p:spPr>
          <a:xfrm>
            <a:off x="11170250" y="8067269"/>
            <a:ext cx="3001054" cy="476250"/>
          </a:xfrm>
          <a:prstGeom prst="rect">
            <a:avLst/>
          </a:prstGeom>
        </p:spPr>
        <p:txBody>
          <a:bodyPr lIns="0" tIns="0" rIns="0" bIns="0" rtlCol="0" anchor="t">
            <a:spAutoFit/>
          </a:bodyPr>
          <a:lstStyle/>
          <a:p>
            <a:pPr marL="0" lvl="0" indent="0" algn="l">
              <a:lnSpc>
                <a:spcPts val="3711"/>
              </a:lnSpc>
              <a:spcBef>
                <a:spcPct val="0"/>
              </a:spcBef>
            </a:pPr>
            <a:r>
              <a:rPr lang="en-US" sz="3093" b="1">
                <a:solidFill>
                  <a:srgbClr val="3B567A"/>
                </a:solidFill>
                <a:latin typeface="League Spartan"/>
                <a:ea typeface="League Spartan"/>
                <a:cs typeface="League Spartan"/>
                <a:sym typeface="League Spartan"/>
              </a:rPr>
              <a:t>Disponibilidad</a:t>
            </a:r>
          </a:p>
        </p:txBody>
      </p:sp>
      <p:sp>
        <p:nvSpPr>
          <p:cNvPr id="34" name="TextBox 34"/>
          <p:cNvSpPr txBox="1"/>
          <p:nvPr/>
        </p:nvSpPr>
        <p:spPr>
          <a:xfrm>
            <a:off x="11183902" y="8634828"/>
            <a:ext cx="5596107" cy="905511"/>
          </a:xfrm>
          <a:prstGeom prst="rect">
            <a:avLst/>
          </a:prstGeom>
        </p:spPr>
        <p:txBody>
          <a:bodyPr lIns="0" tIns="0" rIns="0" bIns="0" rtlCol="0" anchor="t">
            <a:spAutoFit/>
          </a:bodyPr>
          <a:lstStyle/>
          <a:p>
            <a:pPr algn="l">
              <a:lnSpc>
                <a:spcPts val="3639"/>
              </a:lnSpc>
              <a:spcBef>
                <a:spcPct val="0"/>
              </a:spcBef>
            </a:pPr>
            <a:r>
              <a:rPr lang="en-US" sz="2599">
                <a:solidFill>
                  <a:srgbClr val="3B567A"/>
                </a:solidFill>
                <a:latin typeface="Open Sans 1"/>
                <a:ea typeface="Open Sans 1"/>
                <a:cs typeface="Open Sans 1"/>
                <a:sym typeface="Open Sans 1"/>
              </a:rPr>
              <a:t>Permitir el acceso al sistema cuando sea necesario</a:t>
            </a:r>
          </a:p>
        </p:txBody>
      </p:sp>
      <p:sp>
        <p:nvSpPr>
          <p:cNvPr id="35" name="Freeform 35"/>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6" name="TextBox 3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094504" y="236173"/>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Épicas</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638867" y="2826811"/>
            <a:ext cx="14996160" cy="1434766"/>
            <a:chOff x="0" y="0"/>
            <a:chExt cx="19994880" cy="1913021"/>
          </a:xfrm>
        </p:grpSpPr>
        <p:sp>
          <p:nvSpPr>
            <p:cNvPr id="6" name="Freeform 6"/>
            <p:cNvSpPr/>
            <p:nvPr/>
          </p:nvSpPr>
          <p:spPr>
            <a:xfrm>
              <a:off x="0" y="0"/>
              <a:ext cx="19994880" cy="1913021"/>
            </a:xfrm>
            <a:custGeom>
              <a:avLst/>
              <a:gdLst/>
              <a:ahLst/>
              <a:cxnLst/>
              <a:rect l="l" t="t" r="r" b="b"/>
              <a:pathLst>
                <a:path w="19994880" h="1913021">
                  <a:moveTo>
                    <a:pt x="0" y="218631"/>
                  </a:moveTo>
                  <a:cubicBezTo>
                    <a:pt x="0" y="97928"/>
                    <a:pt x="131064" y="0"/>
                    <a:pt x="292608" y="0"/>
                  </a:cubicBezTo>
                  <a:lnTo>
                    <a:pt x="19702272" y="0"/>
                  </a:lnTo>
                  <a:cubicBezTo>
                    <a:pt x="19863943" y="0"/>
                    <a:pt x="19994880" y="97928"/>
                    <a:pt x="19994880" y="218631"/>
                  </a:cubicBezTo>
                  <a:lnTo>
                    <a:pt x="19994880" y="1694390"/>
                  </a:lnTo>
                  <a:cubicBezTo>
                    <a:pt x="19994880" y="1815187"/>
                    <a:pt x="19863815" y="1913021"/>
                    <a:pt x="19702272" y="1913021"/>
                  </a:cubicBezTo>
                  <a:lnTo>
                    <a:pt x="292608" y="1913021"/>
                  </a:lnTo>
                  <a:cubicBezTo>
                    <a:pt x="131064" y="1913021"/>
                    <a:pt x="0" y="1815092"/>
                    <a:pt x="0" y="1694390"/>
                  </a:cubicBezTo>
                  <a:close/>
                </a:path>
              </a:pathLst>
            </a:custGeom>
            <a:solidFill>
              <a:srgbClr val="FFFFFF"/>
            </a:solidFill>
          </p:spPr>
          <p:txBody>
            <a:bodyPr/>
            <a:lstStyle/>
            <a:p>
              <a:endParaRPr lang="en-US"/>
            </a:p>
          </p:txBody>
        </p:sp>
      </p:grpSp>
      <p:grpSp>
        <p:nvGrpSpPr>
          <p:cNvPr id="7" name="Group 7"/>
          <p:cNvGrpSpPr/>
          <p:nvPr/>
        </p:nvGrpSpPr>
        <p:grpSpPr>
          <a:xfrm>
            <a:off x="1638867" y="4630287"/>
            <a:ext cx="14996160" cy="1434766"/>
            <a:chOff x="0" y="0"/>
            <a:chExt cx="19994880" cy="1913021"/>
          </a:xfrm>
        </p:grpSpPr>
        <p:sp>
          <p:nvSpPr>
            <p:cNvPr id="8" name="Freeform 8"/>
            <p:cNvSpPr/>
            <p:nvPr/>
          </p:nvSpPr>
          <p:spPr>
            <a:xfrm>
              <a:off x="0" y="0"/>
              <a:ext cx="19994880" cy="1913021"/>
            </a:xfrm>
            <a:custGeom>
              <a:avLst/>
              <a:gdLst/>
              <a:ahLst/>
              <a:cxnLst/>
              <a:rect l="l" t="t" r="r" b="b"/>
              <a:pathLst>
                <a:path w="19994880" h="1913021">
                  <a:moveTo>
                    <a:pt x="0" y="218631"/>
                  </a:moveTo>
                  <a:cubicBezTo>
                    <a:pt x="0" y="97928"/>
                    <a:pt x="131064" y="0"/>
                    <a:pt x="292608" y="0"/>
                  </a:cubicBezTo>
                  <a:lnTo>
                    <a:pt x="19702272" y="0"/>
                  </a:lnTo>
                  <a:cubicBezTo>
                    <a:pt x="19863943" y="0"/>
                    <a:pt x="19994880" y="97928"/>
                    <a:pt x="19994880" y="218631"/>
                  </a:cubicBezTo>
                  <a:lnTo>
                    <a:pt x="19994880" y="1694390"/>
                  </a:lnTo>
                  <a:cubicBezTo>
                    <a:pt x="19994880" y="1815187"/>
                    <a:pt x="19863815" y="1913021"/>
                    <a:pt x="19702272" y="1913021"/>
                  </a:cubicBezTo>
                  <a:lnTo>
                    <a:pt x="292608" y="1913021"/>
                  </a:lnTo>
                  <a:cubicBezTo>
                    <a:pt x="131064" y="1913021"/>
                    <a:pt x="0" y="1815092"/>
                    <a:pt x="0" y="1694390"/>
                  </a:cubicBezTo>
                  <a:close/>
                </a:path>
              </a:pathLst>
            </a:custGeom>
            <a:solidFill>
              <a:srgbClr val="FFFFFF"/>
            </a:solidFill>
          </p:spPr>
          <p:txBody>
            <a:bodyPr/>
            <a:lstStyle/>
            <a:p>
              <a:endParaRPr lang="en-US"/>
            </a:p>
          </p:txBody>
        </p:sp>
      </p:grpSp>
      <p:grpSp>
        <p:nvGrpSpPr>
          <p:cNvPr id="9" name="Group 9"/>
          <p:cNvGrpSpPr/>
          <p:nvPr/>
        </p:nvGrpSpPr>
        <p:grpSpPr>
          <a:xfrm>
            <a:off x="1638867" y="6512727"/>
            <a:ext cx="14996160" cy="1434766"/>
            <a:chOff x="0" y="0"/>
            <a:chExt cx="19994880" cy="1913021"/>
          </a:xfrm>
        </p:grpSpPr>
        <p:sp>
          <p:nvSpPr>
            <p:cNvPr id="10" name="Freeform 10"/>
            <p:cNvSpPr/>
            <p:nvPr/>
          </p:nvSpPr>
          <p:spPr>
            <a:xfrm>
              <a:off x="0" y="0"/>
              <a:ext cx="19994880" cy="1913021"/>
            </a:xfrm>
            <a:custGeom>
              <a:avLst/>
              <a:gdLst/>
              <a:ahLst/>
              <a:cxnLst/>
              <a:rect l="l" t="t" r="r" b="b"/>
              <a:pathLst>
                <a:path w="19994880" h="1913021">
                  <a:moveTo>
                    <a:pt x="0" y="218631"/>
                  </a:moveTo>
                  <a:cubicBezTo>
                    <a:pt x="0" y="97928"/>
                    <a:pt x="131064" y="0"/>
                    <a:pt x="292608" y="0"/>
                  </a:cubicBezTo>
                  <a:lnTo>
                    <a:pt x="19702272" y="0"/>
                  </a:lnTo>
                  <a:cubicBezTo>
                    <a:pt x="19863943" y="0"/>
                    <a:pt x="19994880" y="97928"/>
                    <a:pt x="19994880" y="218631"/>
                  </a:cubicBezTo>
                  <a:lnTo>
                    <a:pt x="19994880" y="1694390"/>
                  </a:lnTo>
                  <a:cubicBezTo>
                    <a:pt x="19994880" y="1815187"/>
                    <a:pt x="19863815" y="1913021"/>
                    <a:pt x="19702272" y="1913021"/>
                  </a:cubicBezTo>
                  <a:lnTo>
                    <a:pt x="292608" y="1913021"/>
                  </a:lnTo>
                  <a:cubicBezTo>
                    <a:pt x="131064" y="1913021"/>
                    <a:pt x="0" y="1815092"/>
                    <a:pt x="0" y="1694390"/>
                  </a:cubicBezTo>
                  <a:close/>
                </a:path>
              </a:pathLst>
            </a:custGeom>
            <a:solidFill>
              <a:srgbClr val="FFFFFF"/>
            </a:solidFill>
          </p:spPr>
          <p:txBody>
            <a:bodyPr/>
            <a:lstStyle/>
            <a:p>
              <a:endParaRPr lang="en-US"/>
            </a:p>
          </p:txBody>
        </p:sp>
      </p:grpSp>
      <p:grpSp>
        <p:nvGrpSpPr>
          <p:cNvPr id="11" name="Group 11"/>
          <p:cNvGrpSpPr/>
          <p:nvPr/>
        </p:nvGrpSpPr>
        <p:grpSpPr>
          <a:xfrm>
            <a:off x="1978435" y="2974420"/>
            <a:ext cx="1205827" cy="1205827"/>
            <a:chOff x="0" y="0"/>
            <a:chExt cx="1999488" cy="1999488"/>
          </a:xfrm>
        </p:grpSpPr>
        <p:sp>
          <p:nvSpPr>
            <p:cNvPr id="12" name="Freeform 12"/>
            <p:cNvSpPr/>
            <p:nvPr/>
          </p:nvSpPr>
          <p:spPr>
            <a:xfrm>
              <a:off x="0" y="0"/>
              <a:ext cx="1999488" cy="1999488"/>
            </a:xfrm>
            <a:custGeom>
              <a:avLst/>
              <a:gdLst/>
              <a:ahLst/>
              <a:cxnLst/>
              <a:rect l="l" t="t" r="r" b="b"/>
              <a:pathLst>
                <a:path w="1999488" h="1999488">
                  <a:moveTo>
                    <a:pt x="0" y="999744"/>
                  </a:moveTo>
                  <a:cubicBezTo>
                    <a:pt x="0" y="447548"/>
                    <a:pt x="447548" y="0"/>
                    <a:pt x="999744" y="0"/>
                  </a:cubicBezTo>
                  <a:cubicBezTo>
                    <a:pt x="1551940" y="0"/>
                    <a:pt x="1999488" y="447548"/>
                    <a:pt x="1999488" y="999744"/>
                  </a:cubicBezTo>
                  <a:cubicBezTo>
                    <a:pt x="1999488" y="1551940"/>
                    <a:pt x="1551940" y="1999488"/>
                    <a:pt x="999744" y="1999488"/>
                  </a:cubicBezTo>
                  <a:cubicBezTo>
                    <a:pt x="447548" y="1999488"/>
                    <a:pt x="0" y="1551940"/>
                    <a:pt x="0" y="999744"/>
                  </a:cubicBezTo>
                  <a:close/>
                </a:path>
              </a:pathLst>
            </a:custGeom>
            <a:solidFill>
              <a:srgbClr val="3D5E89"/>
            </a:solidFill>
          </p:spPr>
          <p:txBody>
            <a:bodyPr/>
            <a:lstStyle/>
            <a:p>
              <a:endParaRPr lang="en-US"/>
            </a:p>
          </p:txBody>
        </p:sp>
      </p:grpSp>
      <p:grpSp>
        <p:nvGrpSpPr>
          <p:cNvPr id="13" name="Group 13"/>
          <p:cNvGrpSpPr/>
          <p:nvPr/>
        </p:nvGrpSpPr>
        <p:grpSpPr>
          <a:xfrm>
            <a:off x="2267837" y="3263822"/>
            <a:ext cx="627032" cy="627032"/>
            <a:chOff x="0" y="0"/>
            <a:chExt cx="1039736" cy="1039736"/>
          </a:xfrm>
        </p:grpSpPr>
        <p:sp>
          <p:nvSpPr>
            <p:cNvPr id="14" name="Freeform 14" descr="icons/flujos.png"/>
            <p:cNvSpPr/>
            <p:nvPr/>
          </p:nvSpPr>
          <p:spPr>
            <a:xfrm>
              <a:off x="0" y="0"/>
              <a:ext cx="1039749" cy="1039749"/>
            </a:xfrm>
            <a:custGeom>
              <a:avLst/>
              <a:gdLst/>
              <a:ahLst/>
              <a:cxnLst/>
              <a:rect l="l" t="t" r="r" b="b"/>
              <a:pathLst>
                <a:path w="1039749" h="1039749">
                  <a:moveTo>
                    <a:pt x="0" y="0"/>
                  </a:moveTo>
                  <a:lnTo>
                    <a:pt x="1039749" y="0"/>
                  </a:lnTo>
                  <a:lnTo>
                    <a:pt x="1039749" y="1039749"/>
                  </a:lnTo>
                  <a:lnTo>
                    <a:pt x="0" y="1039749"/>
                  </a:lnTo>
                  <a:lnTo>
                    <a:pt x="0" y="0"/>
                  </a:lnTo>
                  <a:close/>
                </a:path>
              </a:pathLst>
            </a:custGeom>
            <a:blipFill>
              <a:blip r:embed="rId4"/>
              <a:stretch>
                <a:fillRect r="1" b="1"/>
              </a:stretch>
            </a:blipFill>
          </p:spPr>
          <p:txBody>
            <a:bodyPr/>
            <a:lstStyle/>
            <a:p>
              <a:endParaRPr lang="en-US"/>
            </a:p>
          </p:txBody>
        </p:sp>
      </p:grpSp>
      <p:grpSp>
        <p:nvGrpSpPr>
          <p:cNvPr id="15" name="Group 15"/>
          <p:cNvGrpSpPr/>
          <p:nvPr/>
        </p:nvGrpSpPr>
        <p:grpSpPr>
          <a:xfrm>
            <a:off x="1985488" y="4747893"/>
            <a:ext cx="1205827" cy="1205827"/>
            <a:chOff x="0" y="0"/>
            <a:chExt cx="1999488" cy="1999488"/>
          </a:xfrm>
        </p:grpSpPr>
        <p:sp>
          <p:nvSpPr>
            <p:cNvPr id="16" name="Freeform 16"/>
            <p:cNvSpPr/>
            <p:nvPr/>
          </p:nvSpPr>
          <p:spPr>
            <a:xfrm>
              <a:off x="0" y="0"/>
              <a:ext cx="1999488" cy="1999488"/>
            </a:xfrm>
            <a:custGeom>
              <a:avLst/>
              <a:gdLst/>
              <a:ahLst/>
              <a:cxnLst/>
              <a:rect l="l" t="t" r="r" b="b"/>
              <a:pathLst>
                <a:path w="1999488" h="1999488">
                  <a:moveTo>
                    <a:pt x="0" y="999744"/>
                  </a:moveTo>
                  <a:cubicBezTo>
                    <a:pt x="0" y="447548"/>
                    <a:pt x="447548" y="0"/>
                    <a:pt x="999744" y="0"/>
                  </a:cubicBezTo>
                  <a:cubicBezTo>
                    <a:pt x="1551940" y="0"/>
                    <a:pt x="1999488" y="447548"/>
                    <a:pt x="1999488" y="999744"/>
                  </a:cubicBezTo>
                  <a:cubicBezTo>
                    <a:pt x="1999488" y="1551940"/>
                    <a:pt x="1551940" y="1999488"/>
                    <a:pt x="999744" y="1999488"/>
                  </a:cubicBezTo>
                  <a:cubicBezTo>
                    <a:pt x="447548" y="1999488"/>
                    <a:pt x="0" y="1551940"/>
                    <a:pt x="0" y="999744"/>
                  </a:cubicBezTo>
                  <a:close/>
                </a:path>
              </a:pathLst>
            </a:custGeom>
            <a:solidFill>
              <a:srgbClr val="3D5E89"/>
            </a:solidFill>
          </p:spPr>
          <p:txBody>
            <a:bodyPr/>
            <a:lstStyle/>
            <a:p>
              <a:endParaRPr lang="en-US"/>
            </a:p>
          </p:txBody>
        </p:sp>
      </p:grpSp>
      <p:grpSp>
        <p:nvGrpSpPr>
          <p:cNvPr id="17" name="Group 17"/>
          <p:cNvGrpSpPr/>
          <p:nvPr/>
        </p:nvGrpSpPr>
        <p:grpSpPr>
          <a:xfrm>
            <a:off x="2005524" y="6633172"/>
            <a:ext cx="1205827" cy="1205827"/>
            <a:chOff x="0" y="0"/>
            <a:chExt cx="1999488" cy="1999488"/>
          </a:xfrm>
        </p:grpSpPr>
        <p:sp>
          <p:nvSpPr>
            <p:cNvPr id="18" name="Freeform 18"/>
            <p:cNvSpPr/>
            <p:nvPr/>
          </p:nvSpPr>
          <p:spPr>
            <a:xfrm>
              <a:off x="0" y="0"/>
              <a:ext cx="1999488" cy="1999488"/>
            </a:xfrm>
            <a:custGeom>
              <a:avLst/>
              <a:gdLst/>
              <a:ahLst/>
              <a:cxnLst/>
              <a:rect l="l" t="t" r="r" b="b"/>
              <a:pathLst>
                <a:path w="1999488" h="1999488">
                  <a:moveTo>
                    <a:pt x="0" y="999744"/>
                  </a:moveTo>
                  <a:cubicBezTo>
                    <a:pt x="0" y="447548"/>
                    <a:pt x="447548" y="0"/>
                    <a:pt x="999744" y="0"/>
                  </a:cubicBezTo>
                  <a:cubicBezTo>
                    <a:pt x="1551940" y="0"/>
                    <a:pt x="1999488" y="447548"/>
                    <a:pt x="1999488" y="999744"/>
                  </a:cubicBezTo>
                  <a:cubicBezTo>
                    <a:pt x="1999488" y="1551940"/>
                    <a:pt x="1551940" y="1999488"/>
                    <a:pt x="999744" y="1999488"/>
                  </a:cubicBezTo>
                  <a:cubicBezTo>
                    <a:pt x="447548" y="1999488"/>
                    <a:pt x="0" y="1551940"/>
                    <a:pt x="0" y="999744"/>
                  </a:cubicBezTo>
                  <a:close/>
                </a:path>
              </a:pathLst>
            </a:custGeom>
            <a:solidFill>
              <a:srgbClr val="3D5E89"/>
            </a:solidFill>
          </p:spPr>
          <p:txBody>
            <a:bodyPr/>
            <a:lstStyle/>
            <a:p>
              <a:endParaRPr lang="en-US"/>
            </a:p>
          </p:txBody>
        </p:sp>
      </p:grpSp>
      <p:sp>
        <p:nvSpPr>
          <p:cNvPr id="19" name="Freeform 19"/>
          <p:cNvSpPr/>
          <p:nvPr/>
        </p:nvSpPr>
        <p:spPr>
          <a:xfrm>
            <a:off x="2212195" y="4951428"/>
            <a:ext cx="792484" cy="792484"/>
          </a:xfrm>
          <a:custGeom>
            <a:avLst/>
            <a:gdLst/>
            <a:ahLst/>
            <a:cxnLst/>
            <a:rect l="l" t="t" r="r" b="b"/>
            <a:pathLst>
              <a:path w="792484" h="792484">
                <a:moveTo>
                  <a:pt x="0" y="0"/>
                </a:moveTo>
                <a:lnTo>
                  <a:pt x="792485" y="0"/>
                </a:lnTo>
                <a:lnTo>
                  <a:pt x="792485" y="792484"/>
                </a:lnTo>
                <a:lnTo>
                  <a:pt x="0" y="792484"/>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20" name="Freeform 20"/>
          <p:cNvSpPr/>
          <p:nvPr/>
        </p:nvSpPr>
        <p:spPr>
          <a:xfrm>
            <a:off x="2117314" y="6726255"/>
            <a:ext cx="982247" cy="1002293"/>
          </a:xfrm>
          <a:custGeom>
            <a:avLst/>
            <a:gdLst/>
            <a:ahLst/>
            <a:cxnLst/>
            <a:rect l="l" t="t" r="r" b="b"/>
            <a:pathLst>
              <a:path w="982247" h="1002293">
                <a:moveTo>
                  <a:pt x="0" y="0"/>
                </a:moveTo>
                <a:lnTo>
                  <a:pt x="982247" y="0"/>
                </a:lnTo>
                <a:lnTo>
                  <a:pt x="982247" y="1002292"/>
                </a:lnTo>
                <a:lnTo>
                  <a:pt x="0" y="10022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1" name="Group 21"/>
          <p:cNvGrpSpPr/>
          <p:nvPr/>
        </p:nvGrpSpPr>
        <p:grpSpPr>
          <a:xfrm>
            <a:off x="1638867" y="8336894"/>
            <a:ext cx="14996160" cy="1434766"/>
            <a:chOff x="0" y="0"/>
            <a:chExt cx="19994880" cy="1913021"/>
          </a:xfrm>
        </p:grpSpPr>
        <p:sp>
          <p:nvSpPr>
            <p:cNvPr id="22" name="Freeform 22"/>
            <p:cNvSpPr/>
            <p:nvPr/>
          </p:nvSpPr>
          <p:spPr>
            <a:xfrm>
              <a:off x="0" y="0"/>
              <a:ext cx="19994880" cy="1913021"/>
            </a:xfrm>
            <a:custGeom>
              <a:avLst/>
              <a:gdLst/>
              <a:ahLst/>
              <a:cxnLst/>
              <a:rect l="l" t="t" r="r" b="b"/>
              <a:pathLst>
                <a:path w="19994880" h="1913021">
                  <a:moveTo>
                    <a:pt x="0" y="218631"/>
                  </a:moveTo>
                  <a:cubicBezTo>
                    <a:pt x="0" y="97928"/>
                    <a:pt x="131064" y="0"/>
                    <a:pt x="292608" y="0"/>
                  </a:cubicBezTo>
                  <a:lnTo>
                    <a:pt x="19702272" y="0"/>
                  </a:lnTo>
                  <a:cubicBezTo>
                    <a:pt x="19863943" y="0"/>
                    <a:pt x="19994880" y="97928"/>
                    <a:pt x="19994880" y="218631"/>
                  </a:cubicBezTo>
                  <a:lnTo>
                    <a:pt x="19994880" y="1694390"/>
                  </a:lnTo>
                  <a:cubicBezTo>
                    <a:pt x="19994880" y="1815187"/>
                    <a:pt x="19863815" y="1913021"/>
                    <a:pt x="19702272" y="1913021"/>
                  </a:cubicBezTo>
                  <a:lnTo>
                    <a:pt x="292608" y="1913021"/>
                  </a:lnTo>
                  <a:cubicBezTo>
                    <a:pt x="131064" y="1913021"/>
                    <a:pt x="0" y="1815092"/>
                    <a:pt x="0" y="1694390"/>
                  </a:cubicBezTo>
                  <a:close/>
                </a:path>
              </a:pathLst>
            </a:custGeom>
            <a:solidFill>
              <a:srgbClr val="FFFFFF"/>
            </a:solidFill>
          </p:spPr>
          <p:txBody>
            <a:bodyPr/>
            <a:lstStyle/>
            <a:p>
              <a:endParaRPr lang="en-US"/>
            </a:p>
          </p:txBody>
        </p:sp>
      </p:grpSp>
      <p:grpSp>
        <p:nvGrpSpPr>
          <p:cNvPr id="23" name="Group 23"/>
          <p:cNvGrpSpPr/>
          <p:nvPr/>
        </p:nvGrpSpPr>
        <p:grpSpPr>
          <a:xfrm>
            <a:off x="2005524" y="8451363"/>
            <a:ext cx="1205827" cy="1205827"/>
            <a:chOff x="0" y="0"/>
            <a:chExt cx="1999488" cy="1999488"/>
          </a:xfrm>
        </p:grpSpPr>
        <p:sp>
          <p:nvSpPr>
            <p:cNvPr id="24" name="Freeform 24"/>
            <p:cNvSpPr/>
            <p:nvPr/>
          </p:nvSpPr>
          <p:spPr>
            <a:xfrm>
              <a:off x="0" y="0"/>
              <a:ext cx="1999488" cy="1999488"/>
            </a:xfrm>
            <a:custGeom>
              <a:avLst/>
              <a:gdLst/>
              <a:ahLst/>
              <a:cxnLst/>
              <a:rect l="l" t="t" r="r" b="b"/>
              <a:pathLst>
                <a:path w="1999488" h="1999488">
                  <a:moveTo>
                    <a:pt x="0" y="999744"/>
                  </a:moveTo>
                  <a:cubicBezTo>
                    <a:pt x="0" y="447548"/>
                    <a:pt x="447548" y="0"/>
                    <a:pt x="999744" y="0"/>
                  </a:cubicBezTo>
                  <a:cubicBezTo>
                    <a:pt x="1551940" y="0"/>
                    <a:pt x="1999488" y="447548"/>
                    <a:pt x="1999488" y="999744"/>
                  </a:cubicBezTo>
                  <a:cubicBezTo>
                    <a:pt x="1999488" y="1551940"/>
                    <a:pt x="1551940" y="1999488"/>
                    <a:pt x="999744" y="1999488"/>
                  </a:cubicBezTo>
                  <a:cubicBezTo>
                    <a:pt x="447548" y="1999488"/>
                    <a:pt x="0" y="1551940"/>
                    <a:pt x="0" y="999744"/>
                  </a:cubicBezTo>
                  <a:close/>
                </a:path>
              </a:pathLst>
            </a:custGeom>
            <a:blipFill>
              <a:blip r:embed="rId7"/>
              <a:stretch>
                <a:fillRect/>
              </a:stretch>
            </a:blipFill>
          </p:spPr>
          <p:txBody>
            <a:bodyPr/>
            <a:lstStyle/>
            <a:p>
              <a:endParaRPr lang="en-US"/>
            </a:p>
          </p:txBody>
        </p:sp>
      </p:grpSp>
      <p:sp>
        <p:nvSpPr>
          <p:cNvPr id="25" name="TextBox 25"/>
          <p:cNvSpPr txBox="1"/>
          <p:nvPr/>
        </p:nvSpPr>
        <p:spPr>
          <a:xfrm>
            <a:off x="3401851" y="1528635"/>
            <a:ext cx="12020332" cy="1139190"/>
          </a:xfrm>
          <a:prstGeom prst="rect">
            <a:avLst/>
          </a:prstGeom>
        </p:spPr>
        <p:txBody>
          <a:bodyPr lIns="0" tIns="0" rIns="0" bIns="0" rtlCol="0" anchor="t">
            <a:spAutoFit/>
          </a:bodyPr>
          <a:lstStyle/>
          <a:p>
            <a:pPr marL="0" lvl="0" indent="0" algn="ctr">
              <a:lnSpc>
                <a:spcPts val="4649"/>
              </a:lnSpc>
              <a:spcBef>
                <a:spcPct val="0"/>
              </a:spcBef>
            </a:pPr>
            <a:r>
              <a:rPr lang="en-US" sz="3099">
                <a:solidFill>
                  <a:srgbClr val="000000"/>
                </a:solidFill>
                <a:latin typeface="Raleway"/>
                <a:ea typeface="Raleway"/>
                <a:cs typeface="Raleway"/>
                <a:sym typeface="Raleway"/>
              </a:rPr>
              <a:t>Definimos </a:t>
            </a:r>
            <a:r>
              <a:rPr lang="en-US" sz="3099" b="1">
                <a:solidFill>
                  <a:srgbClr val="000000"/>
                </a:solidFill>
                <a:latin typeface="Raleway Bold"/>
                <a:ea typeface="Raleway Bold"/>
                <a:cs typeface="Raleway Bold"/>
                <a:sym typeface="Raleway Bold"/>
              </a:rPr>
              <a:t>cuatro grandes frentes de trabajo</a:t>
            </a:r>
            <a:r>
              <a:rPr lang="en-US" sz="3099">
                <a:solidFill>
                  <a:srgbClr val="000000"/>
                </a:solidFill>
                <a:latin typeface="Raleway"/>
                <a:ea typeface="Raleway"/>
                <a:cs typeface="Raleway"/>
                <a:sym typeface="Raleway"/>
              </a:rPr>
              <a:t> para construir la solución</a:t>
            </a:r>
          </a:p>
        </p:txBody>
      </p:sp>
      <p:sp>
        <p:nvSpPr>
          <p:cNvPr id="26" name="TextBox 26"/>
          <p:cNvSpPr txBox="1"/>
          <p:nvPr/>
        </p:nvSpPr>
        <p:spPr>
          <a:xfrm>
            <a:off x="3401851" y="3329687"/>
            <a:ext cx="2141079" cy="495300"/>
          </a:xfrm>
          <a:prstGeom prst="rect">
            <a:avLst/>
          </a:prstGeom>
        </p:spPr>
        <p:txBody>
          <a:bodyPr lIns="0" tIns="0" rIns="0" bIns="0" rtlCol="0" anchor="t">
            <a:spAutoFit/>
          </a:bodyPr>
          <a:lstStyle/>
          <a:p>
            <a:pPr marL="711024" lvl="1" indent="-355512" algn="l">
              <a:lnSpc>
                <a:spcPts val="3951"/>
              </a:lnSpc>
              <a:spcBef>
                <a:spcPct val="0"/>
              </a:spcBef>
              <a:buAutoNum type="arabicPeriod"/>
            </a:pPr>
            <a:r>
              <a:rPr lang="en-US" sz="3293" b="1">
                <a:solidFill>
                  <a:srgbClr val="3B567A"/>
                </a:solidFill>
                <a:latin typeface="League Spartan"/>
                <a:ea typeface="League Spartan"/>
                <a:cs typeface="League Spartan"/>
                <a:sym typeface="League Spartan"/>
              </a:rPr>
              <a:t>Flujos</a:t>
            </a:r>
          </a:p>
        </p:txBody>
      </p:sp>
      <p:sp>
        <p:nvSpPr>
          <p:cNvPr id="27" name="TextBox 27"/>
          <p:cNvSpPr txBox="1"/>
          <p:nvPr/>
        </p:nvSpPr>
        <p:spPr>
          <a:xfrm>
            <a:off x="7662140" y="3170421"/>
            <a:ext cx="9621448" cy="1012191"/>
          </a:xfrm>
          <a:prstGeom prst="rect">
            <a:avLst/>
          </a:prstGeom>
        </p:spPr>
        <p:txBody>
          <a:bodyPr lIns="0" tIns="0" rIns="0" bIns="0" rtlCol="0" anchor="t">
            <a:spAutoFit/>
          </a:bodyPr>
          <a:lstStyle/>
          <a:p>
            <a:pPr algn="l">
              <a:lnSpc>
                <a:spcPts val="4059"/>
              </a:lnSpc>
              <a:spcBef>
                <a:spcPct val="0"/>
              </a:spcBef>
            </a:pPr>
            <a:r>
              <a:rPr lang="en-US" sz="2899">
                <a:solidFill>
                  <a:srgbClr val="3B567A"/>
                </a:solidFill>
                <a:latin typeface="Open Sans 1"/>
                <a:ea typeface="Open Sans 1"/>
                <a:cs typeface="Open Sans 1"/>
                <a:sym typeface="Open Sans 1"/>
              </a:rPr>
              <a:t>Definición y gestión del flujo de aprobación de las solicitudes.</a:t>
            </a:r>
          </a:p>
        </p:txBody>
      </p:sp>
      <p:sp>
        <p:nvSpPr>
          <p:cNvPr id="28" name="TextBox 28"/>
          <p:cNvSpPr txBox="1"/>
          <p:nvPr/>
        </p:nvSpPr>
        <p:spPr>
          <a:xfrm>
            <a:off x="3401851" y="4891852"/>
            <a:ext cx="3751590" cy="1025922"/>
          </a:xfrm>
          <a:prstGeom prst="rect">
            <a:avLst/>
          </a:prstGeom>
        </p:spPr>
        <p:txBody>
          <a:bodyPr lIns="0" tIns="0" rIns="0" bIns="0" rtlCol="0" anchor="t">
            <a:spAutoFit/>
          </a:bodyPr>
          <a:lstStyle/>
          <a:p>
            <a:pPr marL="355512" lvl="1" algn="l">
              <a:lnSpc>
                <a:spcPts val="3951"/>
              </a:lnSpc>
              <a:spcBef>
                <a:spcPct val="0"/>
              </a:spcBef>
            </a:pPr>
            <a:r>
              <a:rPr lang="en-US" sz="3293" b="1" dirty="0">
                <a:solidFill>
                  <a:srgbClr val="3B567A"/>
                </a:solidFill>
                <a:latin typeface="League Spartan"/>
                <a:ea typeface="League Spartan"/>
                <a:cs typeface="League Spartan"/>
                <a:sym typeface="League Spartan"/>
              </a:rPr>
              <a:t>2.Inventario de </a:t>
            </a:r>
            <a:r>
              <a:rPr lang="en-US" sz="3293" b="1" dirty="0" err="1">
                <a:solidFill>
                  <a:srgbClr val="3B567A"/>
                </a:solidFill>
                <a:latin typeface="League Spartan"/>
                <a:ea typeface="League Spartan"/>
                <a:cs typeface="League Spartan"/>
                <a:sym typeface="League Spartan"/>
              </a:rPr>
              <a:t>documentos</a:t>
            </a:r>
            <a:endParaRPr lang="en-US" sz="3293" b="1" dirty="0">
              <a:solidFill>
                <a:srgbClr val="3B567A"/>
              </a:solidFill>
              <a:latin typeface="League Spartan"/>
              <a:ea typeface="League Spartan"/>
              <a:cs typeface="League Spartan"/>
              <a:sym typeface="League Spartan"/>
            </a:endParaRPr>
          </a:p>
        </p:txBody>
      </p:sp>
      <p:sp>
        <p:nvSpPr>
          <p:cNvPr id="29" name="TextBox 29"/>
          <p:cNvSpPr txBox="1"/>
          <p:nvPr/>
        </p:nvSpPr>
        <p:spPr>
          <a:xfrm>
            <a:off x="7637852" y="4894278"/>
            <a:ext cx="9621448" cy="497841"/>
          </a:xfrm>
          <a:prstGeom prst="rect">
            <a:avLst/>
          </a:prstGeom>
        </p:spPr>
        <p:txBody>
          <a:bodyPr lIns="0" tIns="0" rIns="0" bIns="0" rtlCol="0" anchor="t">
            <a:spAutoFit/>
          </a:bodyPr>
          <a:lstStyle/>
          <a:p>
            <a:pPr algn="l">
              <a:lnSpc>
                <a:spcPts val="4059"/>
              </a:lnSpc>
              <a:spcBef>
                <a:spcPct val="0"/>
              </a:spcBef>
            </a:pPr>
            <a:r>
              <a:rPr lang="en-US" sz="2899">
                <a:solidFill>
                  <a:srgbClr val="3B567A"/>
                </a:solidFill>
                <a:latin typeface="Open Sans 1"/>
                <a:ea typeface="Open Sans 1"/>
                <a:cs typeface="Open Sans 1"/>
                <a:sym typeface="Open Sans 1"/>
              </a:rPr>
              <a:t>Registro, organización y consulta de documentos.</a:t>
            </a:r>
          </a:p>
        </p:txBody>
      </p:sp>
      <p:sp>
        <p:nvSpPr>
          <p:cNvPr id="30" name="TextBox 30"/>
          <p:cNvSpPr txBox="1"/>
          <p:nvPr/>
        </p:nvSpPr>
        <p:spPr>
          <a:xfrm>
            <a:off x="7662140" y="6607977"/>
            <a:ext cx="9621448" cy="1012191"/>
          </a:xfrm>
          <a:prstGeom prst="rect">
            <a:avLst/>
          </a:prstGeom>
        </p:spPr>
        <p:txBody>
          <a:bodyPr lIns="0" tIns="0" rIns="0" bIns="0" rtlCol="0" anchor="t">
            <a:spAutoFit/>
          </a:bodyPr>
          <a:lstStyle/>
          <a:p>
            <a:pPr algn="l">
              <a:lnSpc>
                <a:spcPts val="4059"/>
              </a:lnSpc>
              <a:spcBef>
                <a:spcPct val="0"/>
              </a:spcBef>
            </a:pPr>
            <a:r>
              <a:rPr lang="en-US" sz="2899">
                <a:solidFill>
                  <a:srgbClr val="3B567A"/>
                </a:solidFill>
                <a:latin typeface="Open Sans 1"/>
                <a:ea typeface="Open Sans 1"/>
                <a:cs typeface="Open Sans 1"/>
                <a:sym typeface="Open Sans 1"/>
              </a:rPr>
              <a:t>Integración de IA para apoyar la revisión de documentos y solicitudes.</a:t>
            </a:r>
          </a:p>
        </p:txBody>
      </p:sp>
      <p:sp>
        <p:nvSpPr>
          <p:cNvPr id="31" name="TextBox 31"/>
          <p:cNvSpPr txBox="1"/>
          <p:nvPr/>
        </p:nvSpPr>
        <p:spPr>
          <a:xfrm>
            <a:off x="3269089" y="6737947"/>
            <a:ext cx="3353303" cy="1025922"/>
          </a:xfrm>
          <a:prstGeom prst="rect">
            <a:avLst/>
          </a:prstGeom>
        </p:spPr>
        <p:txBody>
          <a:bodyPr lIns="0" tIns="0" rIns="0" bIns="0" rtlCol="0" anchor="t">
            <a:spAutoFit/>
          </a:bodyPr>
          <a:lstStyle/>
          <a:p>
            <a:pPr marL="355512" lvl="1" algn="l">
              <a:lnSpc>
                <a:spcPts val="3951"/>
              </a:lnSpc>
              <a:spcBef>
                <a:spcPct val="0"/>
              </a:spcBef>
            </a:pPr>
            <a:r>
              <a:rPr lang="en-US" sz="3293" b="1" dirty="0">
                <a:solidFill>
                  <a:srgbClr val="3B567A"/>
                </a:solidFill>
                <a:latin typeface="League Spartan"/>
                <a:ea typeface="League Spartan"/>
                <a:cs typeface="League Spartan"/>
                <a:sym typeface="League Spartan"/>
              </a:rPr>
              <a:t>3.Inteligencia Artificial</a:t>
            </a:r>
          </a:p>
        </p:txBody>
      </p:sp>
      <p:sp>
        <p:nvSpPr>
          <p:cNvPr id="32" name="TextBox 32"/>
          <p:cNvSpPr txBox="1"/>
          <p:nvPr/>
        </p:nvSpPr>
        <p:spPr>
          <a:xfrm>
            <a:off x="7662140" y="8519607"/>
            <a:ext cx="9621448" cy="1012191"/>
          </a:xfrm>
          <a:prstGeom prst="rect">
            <a:avLst/>
          </a:prstGeom>
        </p:spPr>
        <p:txBody>
          <a:bodyPr lIns="0" tIns="0" rIns="0" bIns="0" rtlCol="0" anchor="t">
            <a:spAutoFit/>
          </a:bodyPr>
          <a:lstStyle/>
          <a:p>
            <a:pPr algn="l">
              <a:lnSpc>
                <a:spcPts val="4059"/>
              </a:lnSpc>
              <a:spcBef>
                <a:spcPct val="0"/>
              </a:spcBef>
            </a:pPr>
            <a:r>
              <a:rPr lang="en-US" sz="2899">
                <a:solidFill>
                  <a:srgbClr val="3B567A"/>
                </a:solidFill>
                <a:latin typeface="Open Sans 1"/>
                <a:ea typeface="Open Sans 1"/>
                <a:cs typeface="Open Sans 1"/>
                <a:sym typeface="Open Sans 1"/>
              </a:rPr>
              <a:t>Creación y utilización de plantillas adaptables a distintos tipos de solicitudes y documentos.</a:t>
            </a:r>
          </a:p>
        </p:txBody>
      </p:sp>
      <p:sp>
        <p:nvSpPr>
          <p:cNvPr id="33" name="TextBox 33"/>
          <p:cNvSpPr txBox="1"/>
          <p:nvPr/>
        </p:nvSpPr>
        <p:spPr>
          <a:xfrm>
            <a:off x="3401851" y="8806627"/>
            <a:ext cx="3087779" cy="512961"/>
          </a:xfrm>
          <a:prstGeom prst="rect">
            <a:avLst/>
          </a:prstGeom>
        </p:spPr>
        <p:txBody>
          <a:bodyPr lIns="0" tIns="0" rIns="0" bIns="0" rtlCol="0" anchor="t">
            <a:spAutoFit/>
          </a:bodyPr>
          <a:lstStyle/>
          <a:p>
            <a:pPr marL="355512" lvl="1" algn="l">
              <a:lnSpc>
                <a:spcPts val="3951"/>
              </a:lnSpc>
              <a:spcBef>
                <a:spcPct val="0"/>
              </a:spcBef>
            </a:pPr>
            <a:r>
              <a:rPr lang="en-US" sz="3293" b="1" dirty="0">
                <a:solidFill>
                  <a:srgbClr val="3B567A"/>
                </a:solidFill>
                <a:latin typeface="League Spartan"/>
                <a:ea typeface="League Spartan"/>
                <a:cs typeface="League Spartan"/>
                <a:sym typeface="League Spartan"/>
              </a:rPr>
              <a:t>4.Plantillas</a:t>
            </a:r>
          </a:p>
        </p:txBody>
      </p:sp>
      <p:sp>
        <p:nvSpPr>
          <p:cNvPr id="34" name="Freeform 34"/>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5" name="TextBox 3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Historias de usuario</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482259" y="3268362"/>
            <a:ext cx="5285886" cy="6859541"/>
            <a:chOff x="0" y="0"/>
            <a:chExt cx="1392167" cy="1806628"/>
          </a:xfrm>
        </p:grpSpPr>
        <p:sp>
          <p:nvSpPr>
            <p:cNvPr id="6" name="Freeform 6"/>
            <p:cNvSpPr/>
            <p:nvPr/>
          </p:nvSpPr>
          <p:spPr>
            <a:xfrm>
              <a:off x="0" y="0"/>
              <a:ext cx="1392167" cy="1806628"/>
            </a:xfrm>
            <a:custGeom>
              <a:avLst/>
              <a:gdLst/>
              <a:ahLst/>
              <a:cxnLst/>
              <a:rect l="l" t="t" r="r" b="b"/>
              <a:pathLst>
                <a:path w="1392167" h="1806628">
                  <a:moveTo>
                    <a:pt x="1392167" y="43939"/>
                  </a:moveTo>
                  <a:lnTo>
                    <a:pt x="1392167" y="1762689"/>
                  </a:lnTo>
                  <a:cubicBezTo>
                    <a:pt x="1392167" y="1774342"/>
                    <a:pt x="1387538" y="1785519"/>
                    <a:pt x="1379298" y="1793759"/>
                  </a:cubicBezTo>
                  <a:cubicBezTo>
                    <a:pt x="1371058" y="1801999"/>
                    <a:pt x="1359882" y="1806628"/>
                    <a:pt x="1348228" y="1806628"/>
                  </a:cubicBezTo>
                  <a:lnTo>
                    <a:pt x="43939" y="1806628"/>
                  </a:lnTo>
                  <a:cubicBezTo>
                    <a:pt x="19672" y="1806628"/>
                    <a:pt x="0" y="1786956"/>
                    <a:pt x="0" y="1762689"/>
                  </a:cubicBezTo>
                  <a:lnTo>
                    <a:pt x="0" y="43939"/>
                  </a:lnTo>
                  <a:cubicBezTo>
                    <a:pt x="0" y="32286"/>
                    <a:pt x="4629" y="21110"/>
                    <a:pt x="12869" y="12869"/>
                  </a:cubicBezTo>
                  <a:cubicBezTo>
                    <a:pt x="21110" y="4629"/>
                    <a:pt x="32286" y="0"/>
                    <a:pt x="43939" y="0"/>
                  </a:cubicBezTo>
                  <a:lnTo>
                    <a:pt x="1348228" y="0"/>
                  </a:lnTo>
                  <a:cubicBezTo>
                    <a:pt x="1359882" y="0"/>
                    <a:pt x="1371058" y="4629"/>
                    <a:pt x="1379298" y="12869"/>
                  </a:cubicBezTo>
                  <a:cubicBezTo>
                    <a:pt x="1387538" y="21110"/>
                    <a:pt x="1392167" y="32286"/>
                    <a:pt x="1392167" y="43939"/>
                  </a:cubicBezTo>
                  <a:close/>
                </a:path>
              </a:pathLst>
            </a:custGeom>
            <a:solidFill>
              <a:srgbClr val="FFFFFF"/>
            </a:solidFill>
          </p:spPr>
          <p:txBody>
            <a:bodyPr/>
            <a:lstStyle/>
            <a:p>
              <a:endParaRPr lang="en-US"/>
            </a:p>
          </p:txBody>
        </p:sp>
        <p:sp>
          <p:nvSpPr>
            <p:cNvPr id="7" name="TextBox 7"/>
            <p:cNvSpPr txBox="1"/>
            <p:nvPr/>
          </p:nvSpPr>
          <p:spPr>
            <a:xfrm>
              <a:off x="0" y="-38100"/>
              <a:ext cx="1392167" cy="184472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123150" y="3717563"/>
            <a:ext cx="3840480" cy="821250"/>
            <a:chOff x="0" y="0"/>
            <a:chExt cx="5120640" cy="1095000"/>
          </a:xfrm>
        </p:grpSpPr>
        <p:sp>
          <p:nvSpPr>
            <p:cNvPr id="9" name="Freeform 9"/>
            <p:cNvSpPr/>
            <p:nvPr/>
          </p:nvSpPr>
          <p:spPr>
            <a:xfrm>
              <a:off x="0" y="0"/>
              <a:ext cx="5120640" cy="1095000"/>
            </a:xfrm>
            <a:custGeom>
              <a:avLst/>
              <a:gdLst/>
              <a:ahLst/>
              <a:cxnLst/>
              <a:rect l="l" t="t" r="r" b="b"/>
              <a:pathLst>
                <a:path w="5120640" h="1095000">
                  <a:moveTo>
                    <a:pt x="279400" y="0"/>
                  </a:moveTo>
                  <a:lnTo>
                    <a:pt x="4841240" y="0"/>
                  </a:lnTo>
                  <a:cubicBezTo>
                    <a:pt x="4915342" y="0"/>
                    <a:pt x="4986408" y="29437"/>
                    <a:pt x="5038806" y="81834"/>
                  </a:cubicBezTo>
                  <a:cubicBezTo>
                    <a:pt x="5091204" y="134232"/>
                    <a:pt x="5120640" y="205299"/>
                    <a:pt x="5120640" y="279400"/>
                  </a:cubicBezTo>
                  <a:lnTo>
                    <a:pt x="5120640" y="815600"/>
                  </a:lnTo>
                  <a:cubicBezTo>
                    <a:pt x="5120640" y="889701"/>
                    <a:pt x="5091204" y="960768"/>
                    <a:pt x="5038806" y="1013165"/>
                  </a:cubicBezTo>
                  <a:cubicBezTo>
                    <a:pt x="4986408" y="1065563"/>
                    <a:pt x="4915342" y="1095000"/>
                    <a:pt x="4841240" y="1095000"/>
                  </a:cubicBezTo>
                  <a:lnTo>
                    <a:pt x="279400" y="1095000"/>
                  </a:lnTo>
                  <a:cubicBezTo>
                    <a:pt x="125092" y="1095000"/>
                    <a:pt x="0" y="969908"/>
                    <a:pt x="0" y="815600"/>
                  </a:cubicBezTo>
                  <a:lnTo>
                    <a:pt x="0" y="279400"/>
                  </a:lnTo>
                  <a:cubicBezTo>
                    <a:pt x="0" y="125092"/>
                    <a:pt x="125092" y="0"/>
                    <a:pt x="279400" y="0"/>
                  </a:cubicBezTo>
                  <a:close/>
                </a:path>
              </a:pathLst>
            </a:custGeom>
            <a:solidFill>
              <a:srgbClr val="D4E1F6"/>
            </a:solidFill>
          </p:spPr>
          <p:txBody>
            <a:bodyPr/>
            <a:lstStyle/>
            <a:p>
              <a:endParaRPr lang="en-US"/>
            </a:p>
          </p:txBody>
        </p:sp>
        <p:sp>
          <p:nvSpPr>
            <p:cNvPr id="10" name="TextBox 10"/>
            <p:cNvSpPr txBox="1"/>
            <p:nvPr/>
          </p:nvSpPr>
          <p:spPr>
            <a:xfrm>
              <a:off x="0" y="-85725"/>
              <a:ext cx="5120640" cy="1180725"/>
            </a:xfrm>
            <a:prstGeom prst="rect">
              <a:avLst/>
            </a:prstGeom>
          </p:spPr>
          <p:txBody>
            <a:bodyPr lIns="0" tIns="0" rIns="0" bIns="0" rtlCol="0" anchor="ctr"/>
            <a:lstStyle/>
            <a:p>
              <a:pPr algn="ctr">
                <a:lnSpc>
                  <a:spcPts val="4919"/>
                </a:lnSpc>
              </a:pPr>
              <a:r>
                <a:rPr lang="en-US" sz="4099" b="1">
                  <a:solidFill>
                    <a:srgbClr val="545454"/>
                  </a:solidFill>
                  <a:latin typeface="Calibri (MS) Bold"/>
                  <a:ea typeface="Calibri (MS) Bold"/>
                  <a:cs typeface="Calibri (MS) Bold"/>
                  <a:sym typeface="Calibri (MS) Bold"/>
                </a:rPr>
                <a:t>Usuario</a:t>
              </a:r>
            </a:p>
          </p:txBody>
        </p:sp>
      </p:grpSp>
      <p:grpSp>
        <p:nvGrpSpPr>
          <p:cNvPr id="11" name="Group 11"/>
          <p:cNvGrpSpPr/>
          <p:nvPr/>
        </p:nvGrpSpPr>
        <p:grpSpPr>
          <a:xfrm>
            <a:off x="12476253" y="3268362"/>
            <a:ext cx="5122261" cy="3614918"/>
            <a:chOff x="0" y="0"/>
            <a:chExt cx="6829681" cy="4819890"/>
          </a:xfrm>
        </p:grpSpPr>
        <p:grpSp>
          <p:nvGrpSpPr>
            <p:cNvPr id="12" name="Group 12"/>
            <p:cNvGrpSpPr/>
            <p:nvPr/>
          </p:nvGrpSpPr>
          <p:grpSpPr>
            <a:xfrm>
              <a:off x="0" y="0"/>
              <a:ext cx="6829681" cy="4819890"/>
              <a:chOff x="0" y="0"/>
              <a:chExt cx="1349073" cy="952077"/>
            </a:xfrm>
          </p:grpSpPr>
          <p:sp>
            <p:nvSpPr>
              <p:cNvPr id="13" name="Freeform 13"/>
              <p:cNvSpPr/>
              <p:nvPr/>
            </p:nvSpPr>
            <p:spPr>
              <a:xfrm>
                <a:off x="0" y="0"/>
                <a:ext cx="1349073" cy="952077"/>
              </a:xfrm>
              <a:custGeom>
                <a:avLst/>
                <a:gdLst/>
                <a:ahLst/>
                <a:cxnLst/>
                <a:rect l="l" t="t" r="r" b="b"/>
                <a:pathLst>
                  <a:path w="1349073" h="952077">
                    <a:moveTo>
                      <a:pt x="1349073" y="45343"/>
                    </a:moveTo>
                    <a:lnTo>
                      <a:pt x="1349073" y="906734"/>
                    </a:lnTo>
                    <a:cubicBezTo>
                      <a:pt x="1349073" y="918760"/>
                      <a:pt x="1344296" y="930293"/>
                      <a:pt x="1335792" y="938796"/>
                    </a:cubicBezTo>
                    <a:cubicBezTo>
                      <a:pt x="1327289" y="947300"/>
                      <a:pt x="1315756" y="952077"/>
                      <a:pt x="1303730" y="952077"/>
                    </a:cubicBezTo>
                    <a:lnTo>
                      <a:pt x="45343" y="952077"/>
                    </a:lnTo>
                    <a:cubicBezTo>
                      <a:pt x="33317" y="952077"/>
                      <a:pt x="21784" y="947300"/>
                      <a:pt x="13281" y="938796"/>
                    </a:cubicBezTo>
                    <a:cubicBezTo>
                      <a:pt x="4777" y="930293"/>
                      <a:pt x="0" y="918760"/>
                      <a:pt x="0" y="906734"/>
                    </a:cubicBezTo>
                    <a:lnTo>
                      <a:pt x="0" y="45343"/>
                    </a:lnTo>
                    <a:cubicBezTo>
                      <a:pt x="0" y="33317"/>
                      <a:pt x="4777" y="21784"/>
                      <a:pt x="13281" y="13281"/>
                    </a:cubicBezTo>
                    <a:cubicBezTo>
                      <a:pt x="21784" y="4777"/>
                      <a:pt x="33317" y="0"/>
                      <a:pt x="45343" y="0"/>
                    </a:cubicBezTo>
                    <a:lnTo>
                      <a:pt x="1303730" y="0"/>
                    </a:lnTo>
                    <a:cubicBezTo>
                      <a:pt x="1315756" y="0"/>
                      <a:pt x="1327289" y="4777"/>
                      <a:pt x="1335792" y="13281"/>
                    </a:cubicBezTo>
                    <a:cubicBezTo>
                      <a:pt x="1344296" y="21784"/>
                      <a:pt x="1349073" y="33317"/>
                      <a:pt x="1349073" y="45343"/>
                    </a:cubicBezTo>
                    <a:close/>
                  </a:path>
                </a:pathLst>
              </a:custGeom>
              <a:solidFill>
                <a:srgbClr val="FFFFFF"/>
              </a:solidFill>
            </p:spPr>
            <p:txBody>
              <a:bodyPr/>
              <a:lstStyle/>
              <a:p>
                <a:endParaRPr lang="en-US"/>
              </a:p>
            </p:txBody>
          </p:sp>
          <p:sp>
            <p:nvSpPr>
              <p:cNvPr id="14" name="TextBox 14"/>
              <p:cNvSpPr txBox="1"/>
              <p:nvPr/>
            </p:nvSpPr>
            <p:spPr>
              <a:xfrm>
                <a:off x="0" y="-38100"/>
                <a:ext cx="1349073" cy="990177"/>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290836" y="1951647"/>
              <a:ext cx="6459218" cy="1715559"/>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Quiero </a:t>
              </a:r>
              <a:r>
                <a:rPr lang="en-US" sz="2499" b="1">
                  <a:solidFill>
                    <a:srgbClr val="3B567A"/>
                  </a:solidFill>
                  <a:latin typeface="Open Sans 1 Bold"/>
                  <a:ea typeface="Open Sans 1 Bold"/>
                  <a:cs typeface="Open Sans 1 Bold"/>
                  <a:sym typeface="Open Sans 1 Bold"/>
                </a:rPr>
                <a:t>revisar documentos con apoyo de IA</a:t>
              </a:r>
              <a:r>
                <a:rPr lang="en-US" sz="2499">
                  <a:solidFill>
                    <a:srgbClr val="3B567A"/>
                  </a:solidFill>
                  <a:latin typeface="Open Sans 1"/>
                  <a:ea typeface="Open Sans 1"/>
                  <a:cs typeface="Open Sans 1"/>
                  <a:sym typeface="Open Sans 1"/>
                </a:rPr>
                <a:t>, para agilizar el proceso de validación.</a:t>
              </a:r>
            </a:p>
          </p:txBody>
        </p:sp>
        <p:grpSp>
          <p:nvGrpSpPr>
            <p:cNvPr id="16" name="Group 16"/>
            <p:cNvGrpSpPr/>
            <p:nvPr/>
          </p:nvGrpSpPr>
          <p:grpSpPr>
            <a:xfrm>
              <a:off x="803721" y="525590"/>
              <a:ext cx="5120640" cy="1095000"/>
              <a:chOff x="0" y="0"/>
              <a:chExt cx="5120640" cy="1095000"/>
            </a:xfrm>
          </p:grpSpPr>
          <p:sp>
            <p:nvSpPr>
              <p:cNvPr id="17" name="Freeform 17"/>
              <p:cNvSpPr/>
              <p:nvPr/>
            </p:nvSpPr>
            <p:spPr>
              <a:xfrm>
                <a:off x="0" y="0"/>
                <a:ext cx="5120640" cy="1095000"/>
              </a:xfrm>
              <a:custGeom>
                <a:avLst/>
                <a:gdLst/>
                <a:ahLst/>
                <a:cxnLst/>
                <a:rect l="l" t="t" r="r" b="b"/>
                <a:pathLst>
                  <a:path w="5120640" h="1095000">
                    <a:moveTo>
                      <a:pt x="279400" y="0"/>
                    </a:moveTo>
                    <a:lnTo>
                      <a:pt x="4841240" y="0"/>
                    </a:lnTo>
                    <a:cubicBezTo>
                      <a:pt x="4915342" y="0"/>
                      <a:pt x="4986408" y="29437"/>
                      <a:pt x="5038806" y="81834"/>
                    </a:cubicBezTo>
                    <a:cubicBezTo>
                      <a:pt x="5091204" y="134232"/>
                      <a:pt x="5120640" y="205299"/>
                      <a:pt x="5120640" y="279400"/>
                    </a:cubicBezTo>
                    <a:lnTo>
                      <a:pt x="5120640" y="815600"/>
                    </a:lnTo>
                    <a:cubicBezTo>
                      <a:pt x="5120640" y="889701"/>
                      <a:pt x="5091204" y="960768"/>
                      <a:pt x="5038806" y="1013165"/>
                    </a:cubicBezTo>
                    <a:cubicBezTo>
                      <a:pt x="4986408" y="1065563"/>
                      <a:pt x="4915342" y="1095000"/>
                      <a:pt x="4841240" y="1095000"/>
                    </a:cubicBezTo>
                    <a:lnTo>
                      <a:pt x="279400" y="1095000"/>
                    </a:lnTo>
                    <a:cubicBezTo>
                      <a:pt x="125092" y="1095000"/>
                      <a:pt x="0" y="969908"/>
                      <a:pt x="0" y="815600"/>
                    </a:cubicBezTo>
                    <a:lnTo>
                      <a:pt x="0" y="279400"/>
                    </a:lnTo>
                    <a:cubicBezTo>
                      <a:pt x="0" y="125092"/>
                      <a:pt x="125092" y="0"/>
                      <a:pt x="279400" y="0"/>
                    </a:cubicBezTo>
                    <a:close/>
                  </a:path>
                </a:pathLst>
              </a:custGeom>
              <a:solidFill>
                <a:srgbClr val="D4E1F6"/>
              </a:solidFill>
            </p:spPr>
            <p:txBody>
              <a:bodyPr/>
              <a:lstStyle/>
              <a:p>
                <a:endParaRPr lang="en-US"/>
              </a:p>
            </p:txBody>
          </p:sp>
          <p:sp>
            <p:nvSpPr>
              <p:cNvPr id="18" name="TextBox 18"/>
              <p:cNvSpPr txBox="1"/>
              <p:nvPr/>
            </p:nvSpPr>
            <p:spPr>
              <a:xfrm>
                <a:off x="0" y="-85725"/>
                <a:ext cx="5120640" cy="1180725"/>
              </a:xfrm>
              <a:prstGeom prst="rect">
                <a:avLst/>
              </a:prstGeom>
            </p:spPr>
            <p:txBody>
              <a:bodyPr lIns="0" tIns="0" rIns="0" bIns="0" rtlCol="0" anchor="ctr"/>
              <a:lstStyle/>
              <a:p>
                <a:pPr algn="ctr">
                  <a:lnSpc>
                    <a:spcPts val="4919"/>
                  </a:lnSpc>
                </a:pPr>
                <a:r>
                  <a:rPr lang="en-US" sz="4099" b="1">
                    <a:solidFill>
                      <a:srgbClr val="004AAD"/>
                    </a:solidFill>
                    <a:latin typeface="Calibri (MS) Bold"/>
                    <a:ea typeface="Calibri (MS) Bold"/>
                    <a:cs typeface="Calibri (MS) Bold"/>
                    <a:sym typeface="Calibri (MS) Bold"/>
                  </a:rPr>
                  <a:t>Revisor</a:t>
                </a:r>
              </a:p>
            </p:txBody>
          </p:sp>
        </p:grpSp>
      </p:grpSp>
      <p:grpSp>
        <p:nvGrpSpPr>
          <p:cNvPr id="19" name="Group 19"/>
          <p:cNvGrpSpPr/>
          <p:nvPr/>
        </p:nvGrpSpPr>
        <p:grpSpPr>
          <a:xfrm>
            <a:off x="7058717" y="3268362"/>
            <a:ext cx="5122261" cy="3614918"/>
            <a:chOff x="0" y="0"/>
            <a:chExt cx="6829681" cy="4819890"/>
          </a:xfrm>
        </p:grpSpPr>
        <p:grpSp>
          <p:nvGrpSpPr>
            <p:cNvPr id="20" name="Group 20"/>
            <p:cNvGrpSpPr/>
            <p:nvPr/>
          </p:nvGrpSpPr>
          <p:grpSpPr>
            <a:xfrm>
              <a:off x="0" y="0"/>
              <a:ext cx="6829681" cy="4819890"/>
              <a:chOff x="0" y="0"/>
              <a:chExt cx="1349073" cy="952077"/>
            </a:xfrm>
          </p:grpSpPr>
          <p:sp>
            <p:nvSpPr>
              <p:cNvPr id="21" name="Freeform 21"/>
              <p:cNvSpPr/>
              <p:nvPr/>
            </p:nvSpPr>
            <p:spPr>
              <a:xfrm>
                <a:off x="0" y="0"/>
                <a:ext cx="1349073" cy="952077"/>
              </a:xfrm>
              <a:custGeom>
                <a:avLst/>
                <a:gdLst/>
                <a:ahLst/>
                <a:cxnLst/>
                <a:rect l="l" t="t" r="r" b="b"/>
                <a:pathLst>
                  <a:path w="1349073" h="952077">
                    <a:moveTo>
                      <a:pt x="1349073" y="45343"/>
                    </a:moveTo>
                    <a:lnTo>
                      <a:pt x="1349073" y="906734"/>
                    </a:lnTo>
                    <a:cubicBezTo>
                      <a:pt x="1349073" y="918760"/>
                      <a:pt x="1344296" y="930293"/>
                      <a:pt x="1335792" y="938796"/>
                    </a:cubicBezTo>
                    <a:cubicBezTo>
                      <a:pt x="1327289" y="947300"/>
                      <a:pt x="1315756" y="952077"/>
                      <a:pt x="1303730" y="952077"/>
                    </a:cubicBezTo>
                    <a:lnTo>
                      <a:pt x="45343" y="952077"/>
                    </a:lnTo>
                    <a:cubicBezTo>
                      <a:pt x="33317" y="952077"/>
                      <a:pt x="21784" y="947300"/>
                      <a:pt x="13281" y="938796"/>
                    </a:cubicBezTo>
                    <a:cubicBezTo>
                      <a:pt x="4777" y="930293"/>
                      <a:pt x="0" y="918760"/>
                      <a:pt x="0" y="906734"/>
                    </a:cubicBezTo>
                    <a:lnTo>
                      <a:pt x="0" y="45343"/>
                    </a:lnTo>
                    <a:cubicBezTo>
                      <a:pt x="0" y="33317"/>
                      <a:pt x="4777" y="21784"/>
                      <a:pt x="13281" y="13281"/>
                    </a:cubicBezTo>
                    <a:cubicBezTo>
                      <a:pt x="21784" y="4777"/>
                      <a:pt x="33317" y="0"/>
                      <a:pt x="45343" y="0"/>
                    </a:cubicBezTo>
                    <a:lnTo>
                      <a:pt x="1303730" y="0"/>
                    </a:lnTo>
                    <a:cubicBezTo>
                      <a:pt x="1315756" y="0"/>
                      <a:pt x="1327289" y="4777"/>
                      <a:pt x="1335792" y="13281"/>
                    </a:cubicBezTo>
                    <a:cubicBezTo>
                      <a:pt x="1344296" y="21784"/>
                      <a:pt x="1349073" y="33317"/>
                      <a:pt x="1349073" y="45343"/>
                    </a:cubicBezTo>
                    <a:close/>
                  </a:path>
                </a:pathLst>
              </a:custGeom>
              <a:solidFill>
                <a:srgbClr val="FFFFFF"/>
              </a:solidFill>
            </p:spPr>
            <p:txBody>
              <a:bodyPr/>
              <a:lstStyle/>
              <a:p>
                <a:endParaRPr lang="en-US"/>
              </a:p>
            </p:txBody>
          </p:sp>
          <p:sp>
            <p:nvSpPr>
              <p:cNvPr id="22" name="TextBox 22"/>
              <p:cNvSpPr txBox="1"/>
              <p:nvPr/>
            </p:nvSpPr>
            <p:spPr>
              <a:xfrm>
                <a:off x="0" y="-38100"/>
                <a:ext cx="1349073" cy="990177"/>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803721" y="525590"/>
              <a:ext cx="5120640" cy="1095000"/>
              <a:chOff x="0" y="0"/>
              <a:chExt cx="5120640" cy="1095000"/>
            </a:xfrm>
          </p:grpSpPr>
          <p:sp>
            <p:nvSpPr>
              <p:cNvPr id="24" name="Freeform 24"/>
              <p:cNvSpPr/>
              <p:nvPr/>
            </p:nvSpPr>
            <p:spPr>
              <a:xfrm>
                <a:off x="0" y="0"/>
                <a:ext cx="5120640" cy="1095000"/>
              </a:xfrm>
              <a:custGeom>
                <a:avLst/>
                <a:gdLst/>
                <a:ahLst/>
                <a:cxnLst/>
                <a:rect l="l" t="t" r="r" b="b"/>
                <a:pathLst>
                  <a:path w="5120640" h="1095000">
                    <a:moveTo>
                      <a:pt x="279400" y="0"/>
                    </a:moveTo>
                    <a:lnTo>
                      <a:pt x="4841240" y="0"/>
                    </a:lnTo>
                    <a:cubicBezTo>
                      <a:pt x="4915342" y="0"/>
                      <a:pt x="4986408" y="29437"/>
                      <a:pt x="5038806" y="81834"/>
                    </a:cubicBezTo>
                    <a:cubicBezTo>
                      <a:pt x="5091204" y="134232"/>
                      <a:pt x="5120640" y="205299"/>
                      <a:pt x="5120640" y="279400"/>
                    </a:cubicBezTo>
                    <a:lnTo>
                      <a:pt x="5120640" y="815600"/>
                    </a:lnTo>
                    <a:cubicBezTo>
                      <a:pt x="5120640" y="889701"/>
                      <a:pt x="5091204" y="960768"/>
                      <a:pt x="5038806" y="1013165"/>
                    </a:cubicBezTo>
                    <a:cubicBezTo>
                      <a:pt x="4986408" y="1065563"/>
                      <a:pt x="4915342" y="1095000"/>
                      <a:pt x="4841240" y="1095000"/>
                    </a:cubicBezTo>
                    <a:lnTo>
                      <a:pt x="279400" y="1095000"/>
                    </a:lnTo>
                    <a:cubicBezTo>
                      <a:pt x="125092" y="1095000"/>
                      <a:pt x="0" y="969908"/>
                      <a:pt x="0" y="815600"/>
                    </a:cubicBezTo>
                    <a:lnTo>
                      <a:pt x="0" y="279400"/>
                    </a:lnTo>
                    <a:cubicBezTo>
                      <a:pt x="0" y="125092"/>
                      <a:pt x="125092" y="0"/>
                      <a:pt x="279400" y="0"/>
                    </a:cubicBezTo>
                    <a:close/>
                  </a:path>
                </a:pathLst>
              </a:custGeom>
              <a:solidFill>
                <a:srgbClr val="D4E1F6"/>
              </a:solidFill>
            </p:spPr>
            <p:txBody>
              <a:bodyPr/>
              <a:lstStyle/>
              <a:p>
                <a:endParaRPr lang="en-US"/>
              </a:p>
            </p:txBody>
          </p:sp>
          <p:sp>
            <p:nvSpPr>
              <p:cNvPr id="25" name="TextBox 25"/>
              <p:cNvSpPr txBox="1"/>
              <p:nvPr/>
            </p:nvSpPr>
            <p:spPr>
              <a:xfrm>
                <a:off x="0" y="-85725"/>
                <a:ext cx="5120640" cy="1180725"/>
              </a:xfrm>
              <a:prstGeom prst="rect">
                <a:avLst/>
              </a:prstGeom>
            </p:spPr>
            <p:txBody>
              <a:bodyPr lIns="0" tIns="0" rIns="0" bIns="0" rtlCol="0" anchor="ctr"/>
              <a:lstStyle/>
              <a:p>
                <a:pPr algn="ctr">
                  <a:lnSpc>
                    <a:spcPts val="4919"/>
                  </a:lnSpc>
                </a:pPr>
                <a:r>
                  <a:rPr lang="en-US" sz="4099" b="1">
                    <a:solidFill>
                      <a:srgbClr val="FF3131"/>
                    </a:solidFill>
                    <a:latin typeface="Calibri (MS) Bold"/>
                    <a:ea typeface="Calibri (MS) Bold"/>
                    <a:cs typeface="Calibri (MS) Bold"/>
                    <a:sym typeface="Calibri (MS) Bold"/>
                  </a:rPr>
                  <a:t>Emisor</a:t>
                </a:r>
              </a:p>
            </p:txBody>
          </p:sp>
        </p:grpSp>
        <p:sp>
          <p:nvSpPr>
            <p:cNvPr id="26" name="TextBox 26"/>
            <p:cNvSpPr txBox="1"/>
            <p:nvPr/>
          </p:nvSpPr>
          <p:spPr>
            <a:xfrm>
              <a:off x="185232" y="1931639"/>
              <a:ext cx="6459218" cy="2299759"/>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Quiero </a:t>
              </a:r>
              <a:r>
                <a:rPr lang="en-US" sz="2499" b="1">
                  <a:solidFill>
                    <a:srgbClr val="3B567A"/>
                  </a:solidFill>
                  <a:latin typeface="Open Sans 1 Bold"/>
                  <a:ea typeface="Open Sans 1 Bold"/>
                  <a:cs typeface="Open Sans 1 Bold"/>
                  <a:sym typeface="Open Sans 1 Bold"/>
                </a:rPr>
                <a:t>crear solicitudes utilizando plantillas</a:t>
              </a:r>
              <a:r>
                <a:rPr lang="en-US" sz="2499">
                  <a:solidFill>
                    <a:srgbClr val="3B567A"/>
                  </a:solidFill>
                  <a:latin typeface="Open Sans 1"/>
                  <a:ea typeface="Open Sans 1"/>
                  <a:cs typeface="Open Sans 1"/>
                  <a:sym typeface="Open Sans 1"/>
                </a:rPr>
                <a:t>, para facilitar y estandarizar el ingreso de información.</a:t>
              </a:r>
            </a:p>
          </p:txBody>
        </p:sp>
      </p:grpSp>
      <p:sp>
        <p:nvSpPr>
          <p:cNvPr id="27" name="TextBox 27"/>
          <p:cNvSpPr txBox="1"/>
          <p:nvPr/>
        </p:nvSpPr>
        <p:spPr>
          <a:xfrm>
            <a:off x="1639975" y="4979269"/>
            <a:ext cx="4993269" cy="1298575"/>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Quiero </a:t>
            </a:r>
            <a:r>
              <a:rPr lang="en-US" sz="2499" b="1">
                <a:solidFill>
                  <a:srgbClr val="3B567A"/>
                </a:solidFill>
                <a:latin typeface="Open Sans 1 Bold"/>
                <a:ea typeface="Open Sans 1 Bold"/>
                <a:cs typeface="Open Sans 1 Bold"/>
                <a:sym typeface="Open Sans 1 Bold"/>
              </a:rPr>
              <a:t>consultar y descargar documentos</a:t>
            </a:r>
            <a:r>
              <a:rPr lang="en-US" sz="2499">
                <a:solidFill>
                  <a:srgbClr val="3B567A"/>
                </a:solidFill>
                <a:latin typeface="Open Sans 1"/>
                <a:ea typeface="Open Sans 1"/>
                <a:cs typeface="Open Sans 1"/>
                <a:sym typeface="Open Sans 1"/>
              </a:rPr>
              <a:t>, para acceder rápidamente a la información</a:t>
            </a:r>
          </a:p>
        </p:txBody>
      </p:sp>
      <p:sp>
        <p:nvSpPr>
          <p:cNvPr id="28" name="TextBox 28"/>
          <p:cNvSpPr txBox="1"/>
          <p:nvPr/>
        </p:nvSpPr>
        <p:spPr>
          <a:xfrm>
            <a:off x="1774876" y="6890663"/>
            <a:ext cx="4993269" cy="1298575"/>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Quiero </a:t>
            </a:r>
            <a:r>
              <a:rPr lang="en-US" sz="2499" b="1">
                <a:solidFill>
                  <a:srgbClr val="3B567A"/>
                </a:solidFill>
                <a:latin typeface="Open Sans 1 Bold"/>
                <a:ea typeface="Open Sans 1 Bold"/>
                <a:cs typeface="Open Sans 1 Bold"/>
                <a:sym typeface="Open Sans 1 Bold"/>
              </a:rPr>
              <a:t>recibir notificaciones</a:t>
            </a:r>
            <a:r>
              <a:rPr lang="en-US" sz="2499">
                <a:solidFill>
                  <a:srgbClr val="3B567A"/>
                </a:solidFill>
                <a:latin typeface="Open Sans 1"/>
                <a:ea typeface="Open Sans 1"/>
                <a:cs typeface="Open Sans 1"/>
                <a:sym typeface="Open Sans 1"/>
              </a:rPr>
              <a:t> sobre el estado de mi solicitud, para mantenerme informado.</a:t>
            </a:r>
          </a:p>
        </p:txBody>
      </p:sp>
      <p:grpSp>
        <p:nvGrpSpPr>
          <p:cNvPr id="29" name="Group 29"/>
          <p:cNvGrpSpPr/>
          <p:nvPr/>
        </p:nvGrpSpPr>
        <p:grpSpPr>
          <a:xfrm>
            <a:off x="7058717" y="7224038"/>
            <a:ext cx="10660619" cy="2903865"/>
            <a:chOff x="0" y="0"/>
            <a:chExt cx="2807735" cy="764804"/>
          </a:xfrm>
        </p:grpSpPr>
        <p:sp>
          <p:nvSpPr>
            <p:cNvPr id="30" name="Freeform 30"/>
            <p:cNvSpPr/>
            <p:nvPr/>
          </p:nvSpPr>
          <p:spPr>
            <a:xfrm>
              <a:off x="0" y="0"/>
              <a:ext cx="2807735" cy="764804"/>
            </a:xfrm>
            <a:custGeom>
              <a:avLst/>
              <a:gdLst/>
              <a:ahLst/>
              <a:cxnLst/>
              <a:rect l="l" t="t" r="r" b="b"/>
              <a:pathLst>
                <a:path w="2807735" h="764804">
                  <a:moveTo>
                    <a:pt x="2807735" y="21787"/>
                  </a:moveTo>
                  <a:lnTo>
                    <a:pt x="2807735" y="743018"/>
                  </a:lnTo>
                  <a:cubicBezTo>
                    <a:pt x="2807735" y="755050"/>
                    <a:pt x="2797981" y="764804"/>
                    <a:pt x="2785949" y="764804"/>
                  </a:cubicBezTo>
                  <a:lnTo>
                    <a:pt x="21787" y="764804"/>
                  </a:lnTo>
                  <a:cubicBezTo>
                    <a:pt x="16008" y="764804"/>
                    <a:pt x="10467" y="762509"/>
                    <a:pt x="6381" y="758423"/>
                  </a:cubicBezTo>
                  <a:cubicBezTo>
                    <a:pt x="2295" y="754337"/>
                    <a:pt x="0" y="748796"/>
                    <a:pt x="0" y="743018"/>
                  </a:cubicBezTo>
                  <a:lnTo>
                    <a:pt x="0" y="21787"/>
                  </a:lnTo>
                  <a:cubicBezTo>
                    <a:pt x="0" y="9754"/>
                    <a:pt x="9754" y="0"/>
                    <a:pt x="21787" y="0"/>
                  </a:cubicBezTo>
                  <a:lnTo>
                    <a:pt x="2785949" y="0"/>
                  </a:lnTo>
                  <a:cubicBezTo>
                    <a:pt x="2797981" y="0"/>
                    <a:pt x="2807735" y="9754"/>
                    <a:pt x="2807735" y="21787"/>
                  </a:cubicBezTo>
                  <a:close/>
                </a:path>
              </a:pathLst>
            </a:custGeom>
            <a:solidFill>
              <a:srgbClr val="FFFFFF"/>
            </a:solidFill>
          </p:spPr>
          <p:txBody>
            <a:bodyPr/>
            <a:lstStyle/>
            <a:p>
              <a:endParaRPr lang="en-US"/>
            </a:p>
          </p:txBody>
        </p:sp>
        <p:sp>
          <p:nvSpPr>
            <p:cNvPr id="31" name="TextBox 31"/>
            <p:cNvSpPr txBox="1"/>
            <p:nvPr/>
          </p:nvSpPr>
          <p:spPr>
            <a:xfrm>
              <a:off x="0" y="-38100"/>
              <a:ext cx="2807735" cy="802904"/>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7301932" y="8439151"/>
            <a:ext cx="9957368" cy="860425"/>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Quiero </a:t>
            </a:r>
            <a:r>
              <a:rPr lang="en-US" sz="2499" b="1">
                <a:solidFill>
                  <a:srgbClr val="3B567A"/>
                </a:solidFill>
                <a:latin typeface="Open Sans 1 Bold"/>
                <a:ea typeface="Open Sans 1 Bold"/>
                <a:cs typeface="Open Sans 1 Bold"/>
                <a:sym typeface="Open Sans 1 Bold"/>
              </a:rPr>
              <a:t>administrar usuarios, áreas, roles y plantillas</a:t>
            </a:r>
            <a:r>
              <a:rPr lang="en-US" sz="2499">
                <a:solidFill>
                  <a:srgbClr val="3B567A"/>
                </a:solidFill>
                <a:latin typeface="Open Sans 1"/>
                <a:ea typeface="Open Sans 1"/>
                <a:cs typeface="Open Sans 1"/>
                <a:sym typeface="Open Sans 1"/>
              </a:rPr>
              <a:t>, para definir y controlar los flujos operacionales de mi organización.</a:t>
            </a:r>
          </a:p>
        </p:txBody>
      </p:sp>
      <p:grpSp>
        <p:nvGrpSpPr>
          <p:cNvPr id="33" name="Group 33"/>
          <p:cNvGrpSpPr/>
          <p:nvPr/>
        </p:nvGrpSpPr>
        <p:grpSpPr>
          <a:xfrm>
            <a:off x="10083714" y="7443113"/>
            <a:ext cx="3840480" cy="821250"/>
            <a:chOff x="0" y="0"/>
            <a:chExt cx="5120640" cy="1095000"/>
          </a:xfrm>
        </p:grpSpPr>
        <p:sp>
          <p:nvSpPr>
            <p:cNvPr id="34" name="Freeform 34"/>
            <p:cNvSpPr/>
            <p:nvPr/>
          </p:nvSpPr>
          <p:spPr>
            <a:xfrm>
              <a:off x="0" y="0"/>
              <a:ext cx="5120640" cy="1095000"/>
            </a:xfrm>
            <a:custGeom>
              <a:avLst/>
              <a:gdLst/>
              <a:ahLst/>
              <a:cxnLst/>
              <a:rect l="l" t="t" r="r" b="b"/>
              <a:pathLst>
                <a:path w="5120640" h="1095000">
                  <a:moveTo>
                    <a:pt x="279400" y="0"/>
                  </a:moveTo>
                  <a:lnTo>
                    <a:pt x="4841240" y="0"/>
                  </a:lnTo>
                  <a:cubicBezTo>
                    <a:pt x="4915342" y="0"/>
                    <a:pt x="4986408" y="29437"/>
                    <a:pt x="5038806" y="81834"/>
                  </a:cubicBezTo>
                  <a:cubicBezTo>
                    <a:pt x="5091204" y="134232"/>
                    <a:pt x="5120640" y="205299"/>
                    <a:pt x="5120640" y="279400"/>
                  </a:cubicBezTo>
                  <a:lnTo>
                    <a:pt x="5120640" y="815600"/>
                  </a:lnTo>
                  <a:cubicBezTo>
                    <a:pt x="5120640" y="889701"/>
                    <a:pt x="5091204" y="960768"/>
                    <a:pt x="5038806" y="1013165"/>
                  </a:cubicBezTo>
                  <a:cubicBezTo>
                    <a:pt x="4986408" y="1065563"/>
                    <a:pt x="4915342" y="1095000"/>
                    <a:pt x="4841240" y="1095000"/>
                  </a:cubicBezTo>
                  <a:lnTo>
                    <a:pt x="279400" y="1095000"/>
                  </a:lnTo>
                  <a:cubicBezTo>
                    <a:pt x="125092" y="1095000"/>
                    <a:pt x="0" y="969908"/>
                    <a:pt x="0" y="815600"/>
                  </a:cubicBezTo>
                  <a:lnTo>
                    <a:pt x="0" y="279400"/>
                  </a:lnTo>
                  <a:cubicBezTo>
                    <a:pt x="0" y="125092"/>
                    <a:pt x="125092" y="0"/>
                    <a:pt x="279400" y="0"/>
                  </a:cubicBezTo>
                  <a:close/>
                </a:path>
              </a:pathLst>
            </a:custGeom>
            <a:solidFill>
              <a:srgbClr val="D4E1F6"/>
            </a:solidFill>
          </p:spPr>
          <p:txBody>
            <a:bodyPr/>
            <a:lstStyle/>
            <a:p>
              <a:endParaRPr lang="en-US"/>
            </a:p>
          </p:txBody>
        </p:sp>
        <p:sp>
          <p:nvSpPr>
            <p:cNvPr id="35" name="TextBox 35"/>
            <p:cNvSpPr txBox="1"/>
            <p:nvPr/>
          </p:nvSpPr>
          <p:spPr>
            <a:xfrm>
              <a:off x="0" y="-85725"/>
              <a:ext cx="5120640" cy="1180725"/>
            </a:xfrm>
            <a:prstGeom prst="rect">
              <a:avLst/>
            </a:prstGeom>
          </p:spPr>
          <p:txBody>
            <a:bodyPr lIns="0" tIns="0" rIns="0" bIns="0" rtlCol="0" anchor="ctr"/>
            <a:lstStyle/>
            <a:p>
              <a:pPr algn="ctr">
                <a:lnSpc>
                  <a:spcPts val="4919"/>
                </a:lnSpc>
              </a:pPr>
              <a:r>
                <a:rPr lang="en-US" sz="4099" b="1">
                  <a:solidFill>
                    <a:srgbClr val="FF751F"/>
                  </a:solidFill>
                  <a:latin typeface="Calibri (MS) Bold"/>
                  <a:ea typeface="Calibri (MS) Bold"/>
                  <a:cs typeface="Calibri (MS) Bold"/>
                  <a:sym typeface="Calibri (MS) Bold"/>
                </a:rPr>
                <a:t>Administrador</a:t>
              </a:r>
            </a:p>
          </p:txBody>
        </p:sp>
      </p:grpSp>
      <p:sp>
        <p:nvSpPr>
          <p:cNvPr id="36" name="Freeform 36"/>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7" name="TextBox 3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15</a:t>
            </a:r>
          </a:p>
        </p:txBody>
      </p:sp>
      <p:sp>
        <p:nvSpPr>
          <p:cNvPr id="38" name="TextBox 38"/>
          <p:cNvSpPr txBox="1"/>
          <p:nvPr/>
        </p:nvSpPr>
        <p:spPr>
          <a:xfrm>
            <a:off x="6398061" y="2627012"/>
            <a:ext cx="5491878" cy="422275"/>
          </a:xfrm>
          <a:prstGeom prst="rect">
            <a:avLst/>
          </a:prstGeom>
        </p:spPr>
        <p:txBody>
          <a:bodyPr lIns="0" tIns="0" rIns="0" bIns="0" rtlCol="0" anchor="t">
            <a:spAutoFit/>
          </a:bodyPr>
          <a:lstStyle/>
          <a:p>
            <a:pPr algn="l">
              <a:lnSpc>
                <a:spcPts val="3499"/>
              </a:lnSpc>
              <a:spcBef>
                <a:spcPct val="0"/>
              </a:spcBef>
            </a:pPr>
            <a:r>
              <a:rPr lang="en-US" sz="2499">
                <a:solidFill>
                  <a:srgbClr val="3B567A"/>
                </a:solidFill>
                <a:latin typeface="Open Sans 1"/>
                <a:ea typeface="Open Sans 1"/>
                <a:cs typeface="Open Sans 1"/>
                <a:sym typeface="Open Sans 1"/>
              </a:rPr>
              <a:t>Definimos </a:t>
            </a:r>
            <a:r>
              <a:rPr lang="en-US" sz="2499" b="1">
                <a:solidFill>
                  <a:srgbClr val="3B567A"/>
                </a:solidFill>
                <a:latin typeface="Open Sans 1 Bold"/>
                <a:ea typeface="Open Sans 1 Bold"/>
                <a:cs typeface="Open Sans 1 Bold"/>
                <a:sym typeface="Open Sans 1 Bold"/>
              </a:rPr>
              <a:t>36 Historias de usuario.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06 Arquitectura</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31118" y="26138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Arquitectura</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0" y="1772890"/>
            <a:ext cx="18359268" cy="8514110"/>
          </a:xfrm>
          <a:custGeom>
            <a:avLst/>
            <a:gdLst/>
            <a:ahLst/>
            <a:cxnLst/>
            <a:rect l="l" t="t" r="r" b="b"/>
            <a:pathLst>
              <a:path w="18359268" h="8514110">
                <a:moveTo>
                  <a:pt x="0" y="0"/>
                </a:moveTo>
                <a:lnTo>
                  <a:pt x="18359268" y="0"/>
                </a:lnTo>
                <a:lnTo>
                  <a:pt x="18359268" y="8514110"/>
                </a:lnTo>
                <a:lnTo>
                  <a:pt x="0" y="8514110"/>
                </a:lnTo>
                <a:lnTo>
                  <a:pt x="0" y="0"/>
                </a:lnTo>
                <a:close/>
              </a:path>
            </a:pathLst>
          </a:custGeom>
          <a:blipFill>
            <a:blip r:embed="rId3"/>
            <a:stretch>
              <a:fillRect/>
            </a:stretch>
          </a:blipFill>
        </p:spPr>
        <p:txBody>
          <a:bodyPr/>
          <a:lstStyle/>
          <a:p>
            <a:endParaRPr lang="en-US"/>
          </a:p>
        </p:txBody>
      </p:sp>
      <p:sp>
        <p:nvSpPr>
          <p:cNvPr id="5" name="Freeform 5"/>
          <p:cNvSpPr/>
          <p:nvPr/>
        </p:nvSpPr>
        <p:spPr>
          <a:xfrm>
            <a:off x="15013417" y="129134"/>
            <a:ext cx="1534993" cy="517904"/>
          </a:xfrm>
          <a:custGeom>
            <a:avLst/>
            <a:gdLst/>
            <a:ahLst/>
            <a:cxnLst/>
            <a:rect l="l" t="t" r="r" b="b"/>
            <a:pathLst>
              <a:path w="1534993" h="517904">
                <a:moveTo>
                  <a:pt x="0" y="0"/>
                </a:moveTo>
                <a:lnTo>
                  <a:pt x="1534993" y="0"/>
                </a:lnTo>
                <a:lnTo>
                  <a:pt x="1534993" y="517904"/>
                </a:lnTo>
                <a:lnTo>
                  <a:pt x="0" y="517904"/>
                </a:lnTo>
                <a:lnTo>
                  <a:pt x="0" y="0"/>
                </a:lnTo>
                <a:close/>
              </a:path>
            </a:pathLst>
          </a:custGeom>
          <a:blipFill>
            <a:blip r:embed="rId4"/>
            <a:stretch>
              <a:fillRect/>
            </a:stretch>
          </a:blipFill>
        </p:spPr>
        <p:txBody>
          <a:bodyPr/>
          <a:lstStyle/>
          <a:p>
            <a:endParaRPr lang="en-US"/>
          </a:p>
        </p:txBody>
      </p:sp>
      <p:sp>
        <p:nvSpPr>
          <p:cNvPr id="6" name="Freeform 6"/>
          <p:cNvSpPr/>
          <p:nvPr/>
        </p:nvSpPr>
        <p:spPr>
          <a:xfrm>
            <a:off x="16693148" y="129134"/>
            <a:ext cx="1534993" cy="607276"/>
          </a:xfrm>
          <a:custGeom>
            <a:avLst/>
            <a:gdLst/>
            <a:ahLst/>
            <a:cxnLst/>
            <a:rect l="l" t="t" r="r" b="b"/>
            <a:pathLst>
              <a:path w="1534993" h="607276">
                <a:moveTo>
                  <a:pt x="0" y="0"/>
                </a:moveTo>
                <a:lnTo>
                  <a:pt x="1534993" y="0"/>
                </a:lnTo>
                <a:lnTo>
                  <a:pt x="1534993" y="607276"/>
                </a:lnTo>
                <a:lnTo>
                  <a:pt x="0" y="607276"/>
                </a:lnTo>
                <a:lnTo>
                  <a:pt x="0" y="0"/>
                </a:lnTo>
                <a:close/>
              </a:path>
            </a:pathLst>
          </a:custGeom>
          <a:blipFill>
            <a:blip r:embed="rId5"/>
            <a:stretch>
              <a:fillRect t="-17893" r="-2173" b="-25585"/>
            </a:stretch>
          </a:blipFill>
        </p:spPr>
        <p:txBody>
          <a:bodyPr/>
          <a:lstStyle/>
          <a:p>
            <a:endParaRPr lang="en-US"/>
          </a:p>
        </p:txBody>
      </p:sp>
      <p:sp>
        <p:nvSpPr>
          <p:cNvPr id="7" name="Freeform 7"/>
          <p:cNvSpPr/>
          <p:nvPr/>
        </p:nvSpPr>
        <p:spPr>
          <a:xfrm>
            <a:off x="16693148" y="833984"/>
            <a:ext cx="1324611" cy="567690"/>
          </a:xfrm>
          <a:custGeom>
            <a:avLst/>
            <a:gdLst/>
            <a:ahLst/>
            <a:cxnLst/>
            <a:rect l="l" t="t" r="r" b="b"/>
            <a:pathLst>
              <a:path w="1324611" h="567690">
                <a:moveTo>
                  <a:pt x="0" y="0"/>
                </a:moveTo>
                <a:lnTo>
                  <a:pt x="1324611" y="0"/>
                </a:lnTo>
                <a:lnTo>
                  <a:pt x="1324611" y="567691"/>
                </a:lnTo>
                <a:lnTo>
                  <a:pt x="0" y="567691"/>
                </a:lnTo>
                <a:lnTo>
                  <a:pt x="0" y="0"/>
                </a:lnTo>
                <a:close/>
              </a:path>
            </a:pathLst>
          </a:custGeom>
          <a:blipFill>
            <a:blip r:embed="rId6"/>
            <a:stretch>
              <a:fillRect/>
            </a:stretch>
          </a:blipFill>
        </p:spPr>
        <p:txBody>
          <a:bodyPr/>
          <a:lstStyle/>
          <a:p>
            <a:endParaRPr lang="en-US"/>
          </a:p>
        </p:txBody>
      </p:sp>
      <p:sp>
        <p:nvSpPr>
          <p:cNvPr id="8" name="Freeform 8"/>
          <p:cNvSpPr/>
          <p:nvPr/>
        </p:nvSpPr>
        <p:spPr>
          <a:xfrm>
            <a:off x="16902299" y="1489574"/>
            <a:ext cx="1116692" cy="628698"/>
          </a:xfrm>
          <a:custGeom>
            <a:avLst/>
            <a:gdLst/>
            <a:ahLst/>
            <a:cxnLst/>
            <a:rect l="l" t="t" r="r" b="b"/>
            <a:pathLst>
              <a:path w="1116692" h="628698">
                <a:moveTo>
                  <a:pt x="0" y="0"/>
                </a:moveTo>
                <a:lnTo>
                  <a:pt x="1116692" y="0"/>
                </a:lnTo>
                <a:lnTo>
                  <a:pt x="1116692" y="628698"/>
                </a:lnTo>
                <a:lnTo>
                  <a:pt x="0" y="628698"/>
                </a:lnTo>
                <a:lnTo>
                  <a:pt x="0" y="0"/>
                </a:lnTo>
                <a:close/>
              </a:path>
            </a:pathLst>
          </a:custGeom>
          <a:blipFill>
            <a:blip r:embed="rId7"/>
            <a:stretch>
              <a:fillRect/>
            </a:stretch>
          </a:blipFill>
        </p:spPr>
        <p:txBody>
          <a:bodyPr/>
          <a:lstStyle/>
          <a:p>
            <a:endParaRPr lang="en-US"/>
          </a:p>
        </p:txBody>
      </p:sp>
      <p:sp>
        <p:nvSpPr>
          <p:cNvPr id="9" name="Freeform 9"/>
          <p:cNvSpPr/>
          <p:nvPr/>
        </p:nvSpPr>
        <p:spPr>
          <a:xfrm>
            <a:off x="15013417" y="1295654"/>
            <a:ext cx="1431706" cy="954471"/>
          </a:xfrm>
          <a:custGeom>
            <a:avLst/>
            <a:gdLst/>
            <a:ahLst/>
            <a:cxnLst/>
            <a:rect l="l" t="t" r="r" b="b"/>
            <a:pathLst>
              <a:path w="1431706" h="954471">
                <a:moveTo>
                  <a:pt x="0" y="0"/>
                </a:moveTo>
                <a:lnTo>
                  <a:pt x="1431706" y="0"/>
                </a:lnTo>
                <a:lnTo>
                  <a:pt x="1431706" y="954471"/>
                </a:lnTo>
                <a:lnTo>
                  <a:pt x="0" y="954471"/>
                </a:lnTo>
                <a:lnTo>
                  <a:pt x="0" y="0"/>
                </a:lnTo>
                <a:close/>
              </a:path>
            </a:pathLst>
          </a:custGeom>
          <a:blipFill>
            <a:blip r:embed="rId8"/>
            <a:stretch>
              <a:fillRect/>
            </a:stretch>
          </a:blipFill>
        </p:spPr>
        <p:txBody>
          <a:bodyPr/>
          <a:lstStyle/>
          <a:p>
            <a:endParaRPr lang="en-US"/>
          </a:p>
        </p:txBody>
      </p:sp>
      <p:sp>
        <p:nvSpPr>
          <p:cNvPr id="10" name="Freeform 10"/>
          <p:cNvSpPr/>
          <p:nvPr/>
        </p:nvSpPr>
        <p:spPr>
          <a:xfrm>
            <a:off x="15013417" y="736410"/>
            <a:ext cx="1679731" cy="771024"/>
          </a:xfrm>
          <a:custGeom>
            <a:avLst/>
            <a:gdLst/>
            <a:ahLst/>
            <a:cxnLst/>
            <a:rect l="l" t="t" r="r" b="b"/>
            <a:pathLst>
              <a:path w="1679731" h="771024">
                <a:moveTo>
                  <a:pt x="0" y="0"/>
                </a:moveTo>
                <a:lnTo>
                  <a:pt x="1679731" y="0"/>
                </a:lnTo>
                <a:lnTo>
                  <a:pt x="1679731" y="771024"/>
                </a:lnTo>
                <a:lnTo>
                  <a:pt x="0" y="771024"/>
                </a:lnTo>
                <a:lnTo>
                  <a:pt x="0" y="0"/>
                </a:lnTo>
                <a:close/>
              </a:path>
            </a:pathLst>
          </a:custGeom>
          <a:blipFill>
            <a:blip r:embed="rId9"/>
            <a:stretch>
              <a:fillRect/>
            </a:stretch>
          </a:blipFill>
        </p:spPr>
        <p:txBody>
          <a:bodyPr/>
          <a:lstStyle/>
          <a:p>
            <a:endParaRPr lang="en-US"/>
          </a:p>
        </p:txBody>
      </p:sp>
      <p:sp>
        <p:nvSpPr>
          <p:cNvPr id="11" name="Freeform 11"/>
          <p:cNvSpPr/>
          <p:nvPr/>
        </p:nvSpPr>
        <p:spPr>
          <a:xfrm>
            <a:off x="16954698" y="2203997"/>
            <a:ext cx="1011893" cy="865799"/>
          </a:xfrm>
          <a:custGeom>
            <a:avLst/>
            <a:gdLst/>
            <a:ahLst/>
            <a:cxnLst/>
            <a:rect l="l" t="t" r="r" b="b"/>
            <a:pathLst>
              <a:path w="1011893" h="865799">
                <a:moveTo>
                  <a:pt x="0" y="0"/>
                </a:moveTo>
                <a:lnTo>
                  <a:pt x="1011893" y="0"/>
                </a:lnTo>
                <a:lnTo>
                  <a:pt x="1011893" y="865799"/>
                </a:lnTo>
                <a:lnTo>
                  <a:pt x="0" y="865799"/>
                </a:lnTo>
                <a:lnTo>
                  <a:pt x="0" y="0"/>
                </a:lnTo>
                <a:close/>
              </a:path>
            </a:pathLst>
          </a:custGeom>
          <a:blipFill>
            <a:blip r:embed="rId10"/>
            <a:stretch>
              <a:fillRect/>
            </a:stretch>
          </a:blipFill>
        </p:spPr>
        <p:txBody>
          <a:bodyPr/>
          <a:lstStyle/>
          <a:p>
            <a:endParaRPr lang="en-US"/>
          </a:p>
        </p:txBody>
      </p:sp>
      <p:sp>
        <p:nvSpPr>
          <p:cNvPr id="12" name="TextBox 12"/>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07 Modelo de Datos</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324179" y="-1132008"/>
            <a:ext cx="4223721" cy="4223721"/>
            <a:chOff x="0" y="0"/>
            <a:chExt cx="5631628" cy="5631628"/>
          </a:xfrm>
        </p:grpSpPr>
        <p:sp>
          <p:nvSpPr>
            <p:cNvPr id="3" name="Freeform 3"/>
            <p:cNvSpPr/>
            <p:nvPr/>
          </p:nvSpPr>
          <p:spPr>
            <a:xfrm flipV="1">
              <a:off x="0" y="0"/>
              <a:ext cx="5631628" cy="5631628"/>
            </a:xfrm>
            <a:custGeom>
              <a:avLst/>
              <a:gdLst/>
              <a:ahLst/>
              <a:cxnLst/>
              <a:rect l="l" t="t" r="r" b="b"/>
              <a:pathLst>
                <a:path w="5631628" h="5631628">
                  <a:moveTo>
                    <a:pt x="0" y="5631628"/>
                  </a:moveTo>
                  <a:lnTo>
                    <a:pt x="5631628" y="5631628"/>
                  </a:lnTo>
                  <a:lnTo>
                    <a:pt x="5631628" y="0"/>
                  </a:lnTo>
                  <a:lnTo>
                    <a:pt x="0" y="0"/>
                  </a:lnTo>
                  <a:lnTo>
                    <a:pt x="0" y="5631628"/>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819823" y="2130014"/>
              <a:ext cx="1995991" cy="13716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19</a:t>
              </a:r>
            </a:p>
          </p:txBody>
        </p:sp>
      </p:grpSp>
      <p:sp>
        <p:nvSpPr>
          <p:cNvPr id="5" name="Freeform 5"/>
          <p:cNvSpPr/>
          <p:nvPr/>
        </p:nvSpPr>
        <p:spPr>
          <a:xfrm>
            <a:off x="0" y="10474"/>
            <a:ext cx="14209306" cy="10276526"/>
          </a:xfrm>
          <a:custGeom>
            <a:avLst/>
            <a:gdLst/>
            <a:ahLst/>
            <a:cxnLst/>
            <a:rect l="l" t="t" r="r" b="b"/>
            <a:pathLst>
              <a:path w="14209306" h="10276526">
                <a:moveTo>
                  <a:pt x="0" y="0"/>
                </a:moveTo>
                <a:lnTo>
                  <a:pt x="14209306" y="0"/>
                </a:lnTo>
                <a:lnTo>
                  <a:pt x="14209306" y="10276526"/>
                </a:lnTo>
                <a:lnTo>
                  <a:pt x="0" y="10276526"/>
                </a:lnTo>
                <a:lnTo>
                  <a:pt x="0" y="0"/>
                </a:lnTo>
                <a:close/>
              </a:path>
            </a:pathLst>
          </a:custGeom>
          <a:blipFill>
            <a:blip r:embed="rId3"/>
            <a:stretch>
              <a:fillRect l="-38085"/>
            </a:stretch>
          </a:blipFill>
        </p:spPr>
        <p:txBody>
          <a:bodyPr/>
          <a:lstStyle/>
          <a:p>
            <a:endParaRPr lang="en-US"/>
          </a:p>
        </p:txBody>
      </p:sp>
      <p:sp>
        <p:nvSpPr>
          <p:cNvPr id="6" name="TextBox 6"/>
          <p:cNvSpPr txBox="1"/>
          <p:nvPr/>
        </p:nvSpPr>
        <p:spPr>
          <a:xfrm>
            <a:off x="12475757" y="761560"/>
            <a:ext cx="4398138" cy="1943100"/>
          </a:xfrm>
          <a:prstGeom prst="rect">
            <a:avLst/>
          </a:prstGeom>
        </p:spPr>
        <p:txBody>
          <a:bodyPr lIns="0" tIns="0" rIns="0" bIns="0" rtlCol="0" anchor="t">
            <a:spAutoFit/>
          </a:bodyPr>
          <a:lstStyle/>
          <a:p>
            <a:pPr marL="0" lvl="0" indent="0" algn="ctr">
              <a:lnSpc>
                <a:spcPts val="7680"/>
              </a:lnSpc>
              <a:spcBef>
                <a:spcPct val="0"/>
              </a:spcBef>
            </a:pPr>
            <a:r>
              <a:rPr lang="en-US" sz="6400" b="1">
                <a:solidFill>
                  <a:srgbClr val="3B567A"/>
                </a:solidFill>
                <a:latin typeface="League Spartan"/>
                <a:ea typeface="League Spartan"/>
                <a:cs typeface="League Spartan"/>
                <a:sym typeface="League Spartan"/>
              </a:rPr>
              <a:t>Modelo de Datos</a:t>
            </a:r>
          </a:p>
        </p:txBody>
      </p:sp>
      <p:sp>
        <p:nvSpPr>
          <p:cNvPr id="7" name="TextBox 7"/>
          <p:cNvSpPr txBox="1"/>
          <p:nvPr/>
        </p:nvSpPr>
        <p:spPr>
          <a:xfrm>
            <a:off x="14674826" y="6853815"/>
            <a:ext cx="3548671" cy="2352675"/>
          </a:xfrm>
          <a:prstGeom prst="rect">
            <a:avLst/>
          </a:prstGeom>
        </p:spPr>
        <p:txBody>
          <a:bodyPr lIns="0" tIns="0" rIns="0" bIns="0" rtlCol="0" anchor="t">
            <a:spAutoFit/>
          </a:bodyPr>
          <a:lstStyle/>
          <a:p>
            <a:pPr algn="ctr">
              <a:lnSpc>
                <a:spcPts val="3120"/>
              </a:lnSpc>
            </a:pPr>
            <a:r>
              <a:rPr lang="en-US" sz="2600" b="1">
                <a:solidFill>
                  <a:srgbClr val="000000"/>
                </a:solidFill>
                <a:latin typeface="Raleway Bold"/>
                <a:ea typeface="Raleway Bold"/>
                <a:cs typeface="Raleway Bold"/>
                <a:sym typeface="Raleway Bold"/>
              </a:rPr>
              <a:t>Modelo relacional normalizado (3FN) en PostgreSQL</a:t>
            </a:r>
          </a:p>
          <a:p>
            <a:pPr algn="ctr">
              <a:lnSpc>
                <a:spcPts val="3120"/>
              </a:lnSpc>
            </a:pPr>
            <a:r>
              <a:rPr lang="en-US" sz="2600" b="1">
                <a:solidFill>
                  <a:srgbClr val="000000"/>
                </a:solidFill>
                <a:latin typeface="Raleway Bold"/>
                <a:ea typeface="Raleway Bold"/>
                <a:cs typeface="Raleway Bold"/>
                <a:sym typeface="Raleway Bold"/>
              </a:rPr>
              <a:t> </a:t>
            </a:r>
          </a:p>
          <a:p>
            <a:pPr algn="ctr">
              <a:lnSpc>
                <a:spcPts val="3120"/>
              </a:lnSpc>
            </a:pPr>
            <a:r>
              <a:rPr lang="en-US" sz="2600" b="1">
                <a:solidFill>
                  <a:srgbClr val="000000"/>
                </a:solidFill>
                <a:latin typeface="Raleway Bold"/>
                <a:ea typeface="Raleway Bold"/>
                <a:cs typeface="Raleway Bold"/>
                <a:sym typeface="Raleway Bold"/>
              </a:rPr>
              <a:t>Base de Datos </a:t>
            </a:r>
          </a:p>
          <a:p>
            <a:pPr algn="ctr">
              <a:lnSpc>
                <a:spcPts val="3120"/>
              </a:lnSpc>
            </a:pPr>
            <a:r>
              <a:rPr lang="en-US" sz="2600" b="1">
                <a:solidFill>
                  <a:srgbClr val="000000"/>
                </a:solidFill>
                <a:latin typeface="Raleway Bold"/>
                <a:ea typeface="Raleway Bold"/>
                <a:cs typeface="Raleway Bold"/>
                <a:sym typeface="Raleway Bold"/>
              </a:rPr>
              <a:t>Sistema Principal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08 Metodología</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1985743" y="45188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Metodología</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6741660" y="1641879"/>
            <a:ext cx="4663440" cy="768096"/>
            <a:chOff x="0" y="0"/>
            <a:chExt cx="6217920" cy="1024128"/>
          </a:xfrm>
        </p:grpSpPr>
        <p:sp>
          <p:nvSpPr>
            <p:cNvPr id="6" name="Freeform 6"/>
            <p:cNvSpPr/>
            <p:nvPr/>
          </p:nvSpPr>
          <p:spPr>
            <a:xfrm>
              <a:off x="0" y="0"/>
              <a:ext cx="6217920" cy="1024128"/>
            </a:xfrm>
            <a:custGeom>
              <a:avLst/>
              <a:gdLst/>
              <a:ahLst/>
              <a:cxnLst/>
              <a:rect l="l" t="t" r="r" b="b"/>
              <a:pathLst>
                <a:path w="6217920" h="1024128">
                  <a:moveTo>
                    <a:pt x="0" y="512064"/>
                  </a:moveTo>
                  <a:cubicBezTo>
                    <a:pt x="0" y="229235"/>
                    <a:pt x="229235" y="0"/>
                    <a:pt x="512064" y="0"/>
                  </a:cubicBezTo>
                  <a:lnTo>
                    <a:pt x="5705856" y="0"/>
                  </a:lnTo>
                  <a:cubicBezTo>
                    <a:pt x="5988685" y="0"/>
                    <a:pt x="6217920" y="229235"/>
                    <a:pt x="6217920" y="512064"/>
                  </a:cubicBezTo>
                  <a:cubicBezTo>
                    <a:pt x="6217920" y="794893"/>
                    <a:pt x="5988685" y="1024128"/>
                    <a:pt x="5705856" y="1024128"/>
                  </a:cubicBezTo>
                  <a:lnTo>
                    <a:pt x="512064" y="1024128"/>
                  </a:lnTo>
                  <a:cubicBezTo>
                    <a:pt x="229235" y="1024128"/>
                    <a:pt x="0" y="794893"/>
                    <a:pt x="0" y="512064"/>
                  </a:cubicBezTo>
                  <a:close/>
                </a:path>
              </a:pathLst>
            </a:custGeom>
            <a:solidFill>
              <a:srgbClr val="7F69C1"/>
            </a:solidFill>
          </p:spPr>
          <p:txBody>
            <a:bodyPr/>
            <a:lstStyle/>
            <a:p>
              <a:endParaRPr lang="en-US"/>
            </a:p>
          </p:txBody>
        </p:sp>
      </p:grpSp>
      <p:grpSp>
        <p:nvGrpSpPr>
          <p:cNvPr id="7" name="Group 7"/>
          <p:cNvGrpSpPr/>
          <p:nvPr/>
        </p:nvGrpSpPr>
        <p:grpSpPr>
          <a:xfrm>
            <a:off x="6997692" y="1806471"/>
            <a:ext cx="438912" cy="438912"/>
            <a:chOff x="0" y="0"/>
            <a:chExt cx="585216" cy="585216"/>
          </a:xfrm>
        </p:grpSpPr>
        <p:sp>
          <p:nvSpPr>
            <p:cNvPr id="8" name="Freeform 8" descr="icons/scrum.png"/>
            <p:cNvSpPr/>
            <p:nvPr/>
          </p:nvSpPr>
          <p:spPr>
            <a:xfrm>
              <a:off x="0" y="0"/>
              <a:ext cx="585216" cy="585216"/>
            </a:xfrm>
            <a:custGeom>
              <a:avLst/>
              <a:gdLst/>
              <a:ahLst/>
              <a:cxnLst/>
              <a:rect l="l" t="t" r="r" b="b"/>
              <a:pathLst>
                <a:path w="585216" h="585216">
                  <a:moveTo>
                    <a:pt x="0" y="0"/>
                  </a:moveTo>
                  <a:lnTo>
                    <a:pt x="585216" y="0"/>
                  </a:lnTo>
                  <a:lnTo>
                    <a:pt x="585216" y="585216"/>
                  </a:lnTo>
                  <a:lnTo>
                    <a:pt x="0" y="585216"/>
                  </a:lnTo>
                  <a:lnTo>
                    <a:pt x="0" y="0"/>
                  </a:lnTo>
                  <a:close/>
                </a:path>
              </a:pathLst>
            </a:custGeom>
            <a:blipFill>
              <a:blip r:embed="rId4"/>
              <a:stretch>
                <a:fillRect/>
              </a:stretch>
            </a:blipFill>
          </p:spPr>
          <p:txBody>
            <a:bodyPr/>
            <a:lstStyle/>
            <a:p>
              <a:endParaRPr lang="en-US"/>
            </a:p>
          </p:txBody>
        </p:sp>
      </p:grpSp>
      <p:grpSp>
        <p:nvGrpSpPr>
          <p:cNvPr id="9" name="Group 9"/>
          <p:cNvGrpSpPr/>
          <p:nvPr/>
        </p:nvGrpSpPr>
        <p:grpSpPr>
          <a:xfrm>
            <a:off x="7528806" y="1670454"/>
            <a:ext cx="3749040" cy="768096"/>
            <a:chOff x="0" y="0"/>
            <a:chExt cx="4998720" cy="1024128"/>
          </a:xfrm>
        </p:grpSpPr>
        <p:sp>
          <p:nvSpPr>
            <p:cNvPr id="10" name="Freeform 10"/>
            <p:cNvSpPr/>
            <p:nvPr/>
          </p:nvSpPr>
          <p:spPr>
            <a:xfrm>
              <a:off x="0" y="0"/>
              <a:ext cx="4998720" cy="1024128"/>
            </a:xfrm>
            <a:custGeom>
              <a:avLst/>
              <a:gdLst/>
              <a:ahLst/>
              <a:cxnLst/>
              <a:rect l="l" t="t" r="r" b="b"/>
              <a:pathLst>
                <a:path w="4998720" h="1024128">
                  <a:moveTo>
                    <a:pt x="0" y="0"/>
                  </a:moveTo>
                  <a:lnTo>
                    <a:pt x="4998720" y="0"/>
                  </a:lnTo>
                  <a:lnTo>
                    <a:pt x="4998720" y="1024128"/>
                  </a:lnTo>
                  <a:lnTo>
                    <a:pt x="0" y="1024128"/>
                  </a:lnTo>
                  <a:close/>
                </a:path>
              </a:pathLst>
            </a:custGeom>
            <a:blipFill>
              <a:blip r:embed="rId5">
                <a:alphaModFix amt="0"/>
              </a:blip>
              <a:stretch>
                <a:fillRect t="-45105" b="-45105"/>
              </a:stretch>
            </a:blipFill>
          </p:spPr>
          <p:txBody>
            <a:bodyPr/>
            <a:lstStyle/>
            <a:p>
              <a:endParaRPr lang="en-US"/>
            </a:p>
          </p:txBody>
        </p:sp>
        <p:sp>
          <p:nvSpPr>
            <p:cNvPr id="11" name="TextBox 11"/>
            <p:cNvSpPr txBox="1"/>
            <p:nvPr/>
          </p:nvSpPr>
          <p:spPr>
            <a:xfrm>
              <a:off x="0" y="-57150"/>
              <a:ext cx="4998720" cy="1081278"/>
            </a:xfrm>
            <a:prstGeom prst="rect">
              <a:avLst/>
            </a:prstGeom>
          </p:spPr>
          <p:txBody>
            <a:bodyPr lIns="0" tIns="0" rIns="0" bIns="0" rtlCol="0" anchor="ctr"/>
            <a:lstStyle/>
            <a:p>
              <a:pPr algn="l">
                <a:lnSpc>
                  <a:spcPts val="3119"/>
                </a:lnSpc>
              </a:pPr>
              <a:r>
                <a:rPr lang="en-US" sz="2599" b="1">
                  <a:solidFill>
                    <a:srgbClr val="FFFFFF"/>
                  </a:solidFill>
                  <a:latin typeface="Calibri (MS) Bold"/>
                  <a:ea typeface="Calibri (MS) Bold"/>
                  <a:cs typeface="Calibri (MS) Bold"/>
                  <a:sym typeface="Calibri (MS) Bold"/>
                </a:rPr>
                <a:t>Metodología ágil · Scrum</a:t>
              </a:r>
            </a:p>
          </p:txBody>
        </p:sp>
      </p:grpSp>
      <p:sp>
        <p:nvSpPr>
          <p:cNvPr id="12" name="Freeform 12"/>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1985743" y="2562375"/>
            <a:ext cx="14446033" cy="7548052"/>
          </a:xfrm>
          <a:custGeom>
            <a:avLst/>
            <a:gdLst/>
            <a:ahLst/>
            <a:cxnLst/>
            <a:rect l="l" t="t" r="r" b="b"/>
            <a:pathLst>
              <a:path w="14446033" h="7548052">
                <a:moveTo>
                  <a:pt x="0" y="0"/>
                </a:moveTo>
                <a:lnTo>
                  <a:pt x="14446033" y="0"/>
                </a:lnTo>
                <a:lnTo>
                  <a:pt x="14446033" y="7548053"/>
                </a:lnTo>
                <a:lnTo>
                  <a:pt x="0" y="7548053"/>
                </a:lnTo>
                <a:lnTo>
                  <a:pt x="0" y="0"/>
                </a:lnTo>
                <a:close/>
              </a:path>
            </a:pathLst>
          </a:custGeom>
          <a:blipFill>
            <a:blip r:embed="rId7"/>
            <a:stretch>
              <a:fillRect/>
            </a:stretch>
          </a:blipFill>
        </p:spPr>
        <p:txBody>
          <a:bodyPr/>
          <a:lstStyle/>
          <a:p>
            <a:endParaRPr lang="en-US"/>
          </a:p>
        </p:txBody>
      </p:sp>
      <p:sp>
        <p:nvSpPr>
          <p:cNvPr id="14" name="TextBox 14"/>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09 Roles</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Roles</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289304" y="3725514"/>
            <a:ext cx="4846320" cy="5760720"/>
            <a:chOff x="0" y="0"/>
            <a:chExt cx="6461760" cy="7680960"/>
          </a:xfrm>
        </p:grpSpPr>
        <p:sp>
          <p:nvSpPr>
            <p:cNvPr id="6" name="Freeform 6"/>
            <p:cNvSpPr/>
            <p:nvPr/>
          </p:nvSpPr>
          <p:spPr>
            <a:xfrm>
              <a:off x="0" y="0"/>
              <a:ext cx="6461760" cy="7680960"/>
            </a:xfrm>
            <a:custGeom>
              <a:avLst/>
              <a:gdLst/>
              <a:ahLst/>
              <a:cxnLst/>
              <a:rect l="l" t="t" r="r" b="b"/>
              <a:pathLst>
                <a:path w="6461760" h="7680960">
                  <a:moveTo>
                    <a:pt x="0" y="341376"/>
                  </a:moveTo>
                  <a:cubicBezTo>
                    <a:pt x="0" y="152781"/>
                    <a:pt x="152781" y="0"/>
                    <a:pt x="341376" y="0"/>
                  </a:cubicBezTo>
                  <a:lnTo>
                    <a:pt x="6120384" y="0"/>
                  </a:lnTo>
                  <a:cubicBezTo>
                    <a:pt x="6308979" y="0"/>
                    <a:pt x="6461760" y="152781"/>
                    <a:pt x="6461760" y="341376"/>
                  </a:cubicBezTo>
                  <a:lnTo>
                    <a:pt x="6461760" y="7339584"/>
                  </a:lnTo>
                  <a:cubicBezTo>
                    <a:pt x="6461760" y="7528178"/>
                    <a:pt x="6308979" y="7680960"/>
                    <a:pt x="6120384" y="7680960"/>
                  </a:cubicBezTo>
                  <a:lnTo>
                    <a:pt x="341376" y="7680960"/>
                  </a:lnTo>
                  <a:cubicBezTo>
                    <a:pt x="152781" y="7680960"/>
                    <a:pt x="0" y="7528179"/>
                    <a:pt x="0" y="7339584"/>
                  </a:cubicBezTo>
                  <a:close/>
                </a:path>
              </a:pathLst>
            </a:custGeom>
            <a:solidFill>
              <a:srgbClr val="FFFFFF"/>
            </a:solidFill>
          </p:spPr>
          <p:txBody>
            <a:bodyPr/>
            <a:lstStyle/>
            <a:p>
              <a:endParaRPr lang="en-US"/>
            </a:p>
          </p:txBody>
        </p:sp>
      </p:grpSp>
      <p:grpSp>
        <p:nvGrpSpPr>
          <p:cNvPr id="7" name="Group 7"/>
          <p:cNvGrpSpPr/>
          <p:nvPr/>
        </p:nvGrpSpPr>
        <p:grpSpPr>
          <a:xfrm>
            <a:off x="6720840" y="3725514"/>
            <a:ext cx="4846320" cy="5760720"/>
            <a:chOff x="0" y="0"/>
            <a:chExt cx="6461760" cy="7680960"/>
          </a:xfrm>
        </p:grpSpPr>
        <p:sp>
          <p:nvSpPr>
            <p:cNvPr id="8" name="Freeform 8"/>
            <p:cNvSpPr/>
            <p:nvPr/>
          </p:nvSpPr>
          <p:spPr>
            <a:xfrm>
              <a:off x="0" y="0"/>
              <a:ext cx="6461760" cy="7680960"/>
            </a:xfrm>
            <a:custGeom>
              <a:avLst/>
              <a:gdLst/>
              <a:ahLst/>
              <a:cxnLst/>
              <a:rect l="l" t="t" r="r" b="b"/>
              <a:pathLst>
                <a:path w="6461760" h="7680960">
                  <a:moveTo>
                    <a:pt x="0" y="341376"/>
                  </a:moveTo>
                  <a:cubicBezTo>
                    <a:pt x="0" y="152781"/>
                    <a:pt x="152781" y="0"/>
                    <a:pt x="341376" y="0"/>
                  </a:cubicBezTo>
                  <a:lnTo>
                    <a:pt x="6120384" y="0"/>
                  </a:lnTo>
                  <a:cubicBezTo>
                    <a:pt x="6308979" y="0"/>
                    <a:pt x="6461760" y="152781"/>
                    <a:pt x="6461760" y="341376"/>
                  </a:cubicBezTo>
                  <a:lnTo>
                    <a:pt x="6461760" y="7339584"/>
                  </a:lnTo>
                  <a:cubicBezTo>
                    <a:pt x="6461760" y="7528178"/>
                    <a:pt x="6308979" y="7680960"/>
                    <a:pt x="6120384" y="7680960"/>
                  </a:cubicBezTo>
                  <a:lnTo>
                    <a:pt x="341376" y="7680960"/>
                  </a:lnTo>
                  <a:cubicBezTo>
                    <a:pt x="152781" y="7680960"/>
                    <a:pt x="0" y="7528179"/>
                    <a:pt x="0" y="7339584"/>
                  </a:cubicBezTo>
                  <a:close/>
                </a:path>
              </a:pathLst>
            </a:custGeom>
            <a:solidFill>
              <a:srgbClr val="FFFFFF"/>
            </a:solidFill>
          </p:spPr>
          <p:txBody>
            <a:bodyPr/>
            <a:lstStyle/>
            <a:p>
              <a:endParaRPr lang="en-US"/>
            </a:p>
          </p:txBody>
        </p:sp>
      </p:grpSp>
      <p:grpSp>
        <p:nvGrpSpPr>
          <p:cNvPr id="9" name="Group 9"/>
          <p:cNvGrpSpPr/>
          <p:nvPr/>
        </p:nvGrpSpPr>
        <p:grpSpPr>
          <a:xfrm>
            <a:off x="12152376" y="3725514"/>
            <a:ext cx="4846320" cy="5760720"/>
            <a:chOff x="0" y="0"/>
            <a:chExt cx="6461760" cy="7680960"/>
          </a:xfrm>
        </p:grpSpPr>
        <p:sp>
          <p:nvSpPr>
            <p:cNvPr id="10" name="Freeform 10"/>
            <p:cNvSpPr/>
            <p:nvPr/>
          </p:nvSpPr>
          <p:spPr>
            <a:xfrm>
              <a:off x="0" y="0"/>
              <a:ext cx="6461760" cy="7680960"/>
            </a:xfrm>
            <a:custGeom>
              <a:avLst/>
              <a:gdLst/>
              <a:ahLst/>
              <a:cxnLst/>
              <a:rect l="l" t="t" r="r" b="b"/>
              <a:pathLst>
                <a:path w="6461760" h="7680960">
                  <a:moveTo>
                    <a:pt x="0" y="341376"/>
                  </a:moveTo>
                  <a:cubicBezTo>
                    <a:pt x="0" y="152781"/>
                    <a:pt x="152781" y="0"/>
                    <a:pt x="341376" y="0"/>
                  </a:cubicBezTo>
                  <a:lnTo>
                    <a:pt x="6120384" y="0"/>
                  </a:lnTo>
                  <a:cubicBezTo>
                    <a:pt x="6308979" y="0"/>
                    <a:pt x="6461760" y="152781"/>
                    <a:pt x="6461760" y="341376"/>
                  </a:cubicBezTo>
                  <a:lnTo>
                    <a:pt x="6461760" y="7339584"/>
                  </a:lnTo>
                  <a:cubicBezTo>
                    <a:pt x="6461760" y="7528178"/>
                    <a:pt x="6308979" y="7680960"/>
                    <a:pt x="6120384" y="7680960"/>
                  </a:cubicBezTo>
                  <a:lnTo>
                    <a:pt x="341376" y="7680960"/>
                  </a:lnTo>
                  <a:cubicBezTo>
                    <a:pt x="152781" y="7680960"/>
                    <a:pt x="0" y="7528179"/>
                    <a:pt x="0" y="7339584"/>
                  </a:cubicBezTo>
                  <a:close/>
                </a:path>
              </a:pathLst>
            </a:custGeom>
            <a:solidFill>
              <a:srgbClr val="FFFFFF"/>
            </a:solidFill>
          </p:spPr>
          <p:txBody>
            <a:bodyPr/>
            <a:lstStyle/>
            <a:p>
              <a:endParaRPr lang="en-US"/>
            </a:p>
          </p:txBody>
        </p:sp>
      </p:grpSp>
      <p:grpSp>
        <p:nvGrpSpPr>
          <p:cNvPr id="11" name="Group 11"/>
          <p:cNvGrpSpPr/>
          <p:nvPr/>
        </p:nvGrpSpPr>
        <p:grpSpPr>
          <a:xfrm>
            <a:off x="2935224" y="4082130"/>
            <a:ext cx="1554480" cy="1554480"/>
            <a:chOff x="0" y="0"/>
            <a:chExt cx="2072640" cy="2072640"/>
          </a:xfrm>
        </p:grpSpPr>
        <p:sp>
          <p:nvSpPr>
            <p:cNvPr id="12" name="Freeform 12"/>
            <p:cNvSpPr/>
            <p:nvPr/>
          </p:nvSpPr>
          <p:spPr>
            <a:xfrm>
              <a:off x="0" y="0"/>
              <a:ext cx="2072640" cy="2072640"/>
            </a:xfrm>
            <a:custGeom>
              <a:avLst/>
              <a:gdLst/>
              <a:ahLst/>
              <a:cxnLst/>
              <a:rect l="l" t="t" r="r" b="b"/>
              <a:pathLst>
                <a:path w="2072640" h="2072640">
                  <a:moveTo>
                    <a:pt x="0" y="1036320"/>
                  </a:moveTo>
                  <a:cubicBezTo>
                    <a:pt x="0" y="463931"/>
                    <a:pt x="463931" y="0"/>
                    <a:pt x="1036320" y="0"/>
                  </a:cubicBezTo>
                  <a:cubicBezTo>
                    <a:pt x="1608709" y="0"/>
                    <a:pt x="2072640" y="463931"/>
                    <a:pt x="2072640" y="1036320"/>
                  </a:cubicBezTo>
                  <a:cubicBezTo>
                    <a:pt x="2072640" y="1608709"/>
                    <a:pt x="1608709" y="2072640"/>
                    <a:pt x="1036320" y="2072640"/>
                  </a:cubicBezTo>
                  <a:cubicBezTo>
                    <a:pt x="463931" y="2072640"/>
                    <a:pt x="0" y="1608709"/>
                    <a:pt x="0" y="1036320"/>
                  </a:cubicBezTo>
                  <a:close/>
                </a:path>
              </a:pathLst>
            </a:custGeom>
            <a:solidFill>
              <a:srgbClr val="3D5E89"/>
            </a:solidFill>
          </p:spPr>
          <p:txBody>
            <a:bodyPr/>
            <a:lstStyle/>
            <a:p>
              <a:endParaRPr lang="en-US"/>
            </a:p>
          </p:txBody>
        </p:sp>
      </p:grpSp>
      <p:grpSp>
        <p:nvGrpSpPr>
          <p:cNvPr id="13" name="Group 13"/>
          <p:cNvGrpSpPr/>
          <p:nvPr/>
        </p:nvGrpSpPr>
        <p:grpSpPr>
          <a:xfrm>
            <a:off x="13798296" y="4082130"/>
            <a:ext cx="1554480" cy="1554480"/>
            <a:chOff x="0" y="0"/>
            <a:chExt cx="2072640" cy="2072640"/>
          </a:xfrm>
        </p:grpSpPr>
        <p:sp>
          <p:nvSpPr>
            <p:cNvPr id="14" name="Freeform 14"/>
            <p:cNvSpPr/>
            <p:nvPr/>
          </p:nvSpPr>
          <p:spPr>
            <a:xfrm>
              <a:off x="0" y="0"/>
              <a:ext cx="2072640" cy="2072640"/>
            </a:xfrm>
            <a:custGeom>
              <a:avLst/>
              <a:gdLst/>
              <a:ahLst/>
              <a:cxnLst/>
              <a:rect l="l" t="t" r="r" b="b"/>
              <a:pathLst>
                <a:path w="2072640" h="2072640">
                  <a:moveTo>
                    <a:pt x="0" y="1036320"/>
                  </a:moveTo>
                  <a:cubicBezTo>
                    <a:pt x="0" y="463931"/>
                    <a:pt x="463931" y="0"/>
                    <a:pt x="1036320" y="0"/>
                  </a:cubicBezTo>
                  <a:cubicBezTo>
                    <a:pt x="1608709" y="0"/>
                    <a:pt x="2072640" y="463931"/>
                    <a:pt x="2072640" y="1036320"/>
                  </a:cubicBezTo>
                  <a:cubicBezTo>
                    <a:pt x="2072640" y="1608709"/>
                    <a:pt x="1608709" y="2072640"/>
                    <a:pt x="1036320" y="2072640"/>
                  </a:cubicBezTo>
                  <a:cubicBezTo>
                    <a:pt x="463931" y="2072640"/>
                    <a:pt x="0" y="1608709"/>
                    <a:pt x="0" y="1036320"/>
                  </a:cubicBezTo>
                  <a:close/>
                </a:path>
              </a:pathLst>
            </a:custGeom>
            <a:solidFill>
              <a:srgbClr val="3D5E89"/>
            </a:solidFill>
          </p:spPr>
          <p:txBody>
            <a:bodyPr/>
            <a:lstStyle/>
            <a:p>
              <a:endParaRPr lang="en-US"/>
            </a:p>
          </p:txBody>
        </p:sp>
      </p:grpSp>
      <p:grpSp>
        <p:nvGrpSpPr>
          <p:cNvPr id="15" name="Group 15"/>
          <p:cNvGrpSpPr/>
          <p:nvPr/>
        </p:nvGrpSpPr>
        <p:grpSpPr>
          <a:xfrm>
            <a:off x="3224475" y="4371381"/>
            <a:ext cx="975977" cy="975977"/>
            <a:chOff x="0" y="0"/>
            <a:chExt cx="1077773" cy="1077773"/>
          </a:xfrm>
        </p:grpSpPr>
        <p:sp>
          <p:nvSpPr>
            <p:cNvPr id="16" name="Freeform 16" descr="icons/scrummaster.png"/>
            <p:cNvSpPr/>
            <p:nvPr/>
          </p:nvSpPr>
          <p:spPr>
            <a:xfrm>
              <a:off x="0" y="0"/>
              <a:ext cx="1077722" cy="1077722"/>
            </a:xfrm>
            <a:custGeom>
              <a:avLst/>
              <a:gdLst/>
              <a:ahLst/>
              <a:cxnLst/>
              <a:rect l="l" t="t" r="r" b="b"/>
              <a:pathLst>
                <a:path w="1077722" h="1077722">
                  <a:moveTo>
                    <a:pt x="0" y="0"/>
                  </a:moveTo>
                  <a:lnTo>
                    <a:pt x="1077722" y="0"/>
                  </a:lnTo>
                  <a:lnTo>
                    <a:pt x="1077722" y="1077722"/>
                  </a:lnTo>
                  <a:lnTo>
                    <a:pt x="0" y="1077722"/>
                  </a:lnTo>
                  <a:lnTo>
                    <a:pt x="0" y="0"/>
                  </a:lnTo>
                  <a:close/>
                </a:path>
              </a:pathLst>
            </a:custGeom>
            <a:blipFill>
              <a:blip r:embed="rId4"/>
              <a:stretch>
                <a:fillRect r="-4" b="-4"/>
              </a:stretch>
            </a:blipFill>
          </p:spPr>
          <p:txBody>
            <a:bodyPr/>
            <a:lstStyle/>
            <a:p>
              <a:endParaRPr lang="en-US"/>
            </a:p>
          </p:txBody>
        </p:sp>
      </p:grpSp>
      <p:grpSp>
        <p:nvGrpSpPr>
          <p:cNvPr id="17" name="Group 17"/>
          <p:cNvGrpSpPr/>
          <p:nvPr/>
        </p:nvGrpSpPr>
        <p:grpSpPr>
          <a:xfrm>
            <a:off x="8366760" y="4082130"/>
            <a:ext cx="1554480" cy="1554480"/>
            <a:chOff x="0" y="0"/>
            <a:chExt cx="2072640" cy="2072640"/>
          </a:xfrm>
        </p:grpSpPr>
        <p:sp>
          <p:nvSpPr>
            <p:cNvPr id="18" name="Freeform 18"/>
            <p:cNvSpPr/>
            <p:nvPr/>
          </p:nvSpPr>
          <p:spPr>
            <a:xfrm>
              <a:off x="0" y="0"/>
              <a:ext cx="2072640" cy="2072640"/>
            </a:xfrm>
            <a:custGeom>
              <a:avLst/>
              <a:gdLst/>
              <a:ahLst/>
              <a:cxnLst/>
              <a:rect l="l" t="t" r="r" b="b"/>
              <a:pathLst>
                <a:path w="2072640" h="2072640">
                  <a:moveTo>
                    <a:pt x="0" y="1036320"/>
                  </a:moveTo>
                  <a:cubicBezTo>
                    <a:pt x="0" y="463931"/>
                    <a:pt x="463931" y="0"/>
                    <a:pt x="1036320" y="0"/>
                  </a:cubicBezTo>
                  <a:cubicBezTo>
                    <a:pt x="1608709" y="0"/>
                    <a:pt x="2072640" y="463931"/>
                    <a:pt x="2072640" y="1036320"/>
                  </a:cubicBezTo>
                  <a:cubicBezTo>
                    <a:pt x="2072640" y="1608709"/>
                    <a:pt x="1608709" y="2072640"/>
                    <a:pt x="1036320" y="2072640"/>
                  </a:cubicBezTo>
                  <a:cubicBezTo>
                    <a:pt x="463931" y="2072640"/>
                    <a:pt x="0" y="1608709"/>
                    <a:pt x="0" y="1036320"/>
                  </a:cubicBezTo>
                  <a:close/>
                </a:path>
              </a:pathLst>
            </a:custGeom>
            <a:solidFill>
              <a:srgbClr val="3D5E89"/>
            </a:solidFill>
          </p:spPr>
          <p:txBody>
            <a:bodyPr/>
            <a:lstStyle/>
            <a:p>
              <a:endParaRPr lang="en-US"/>
            </a:p>
          </p:txBody>
        </p:sp>
      </p:grpSp>
      <p:grpSp>
        <p:nvGrpSpPr>
          <p:cNvPr id="19" name="Group 19"/>
          <p:cNvGrpSpPr/>
          <p:nvPr/>
        </p:nvGrpSpPr>
        <p:grpSpPr>
          <a:xfrm>
            <a:off x="8656011" y="4371381"/>
            <a:ext cx="975977" cy="975977"/>
            <a:chOff x="0" y="0"/>
            <a:chExt cx="1077773" cy="1077773"/>
          </a:xfrm>
        </p:grpSpPr>
        <p:sp>
          <p:nvSpPr>
            <p:cNvPr id="20" name="Freeform 20" descr="icons/devteam.png"/>
            <p:cNvSpPr/>
            <p:nvPr/>
          </p:nvSpPr>
          <p:spPr>
            <a:xfrm>
              <a:off x="0" y="0"/>
              <a:ext cx="1077722" cy="1077722"/>
            </a:xfrm>
            <a:custGeom>
              <a:avLst/>
              <a:gdLst/>
              <a:ahLst/>
              <a:cxnLst/>
              <a:rect l="l" t="t" r="r" b="b"/>
              <a:pathLst>
                <a:path w="1077722" h="1077722">
                  <a:moveTo>
                    <a:pt x="0" y="0"/>
                  </a:moveTo>
                  <a:lnTo>
                    <a:pt x="1077722" y="0"/>
                  </a:lnTo>
                  <a:lnTo>
                    <a:pt x="1077722" y="1077722"/>
                  </a:lnTo>
                  <a:lnTo>
                    <a:pt x="0" y="1077722"/>
                  </a:lnTo>
                  <a:lnTo>
                    <a:pt x="0" y="0"/>
                  </a:lnTo>
                  <a:close/>
                </a:path>
              </a:pathLst>
            </a:custGeom>
            <a:blipFill>
              <a:blip r:embed="rId5"/>
              <a:stretch>
                <a:fillRect r="-4" b="-4"/>
              </a:stretch>
            </a:blipFill>
          </p:spPr>
          <p:txBody>
            <a:bodyPr/>
            <a:lstStyle/>
            <a:p>
              <a:endParaRPr lang="en-US"/>
            </a:p>
          </p:txBody>
        </p:sp>
      </p:grpSp>
      <p:grpSp>
        <p:nvGrpSpPr>
          <p:cNvPr id="21" name="Group 21"/>
          <p:cNvGrpSpPr/>
          <p:nvPr/>
        </p:nvGrpSpPr>
        <p:grpSpPr>
          <a:xfrm>
            <a:off x="1689473" y="6605874"/>
            <a:ext cx="4045982" cy="585216"/>
            <a:chOff x="0" y="0"/>
            <a:chExt cx="5394642" cy="780288"/>
          </a:xfrm>
        </p:grpSpPr>
        <p:sp>
          <p:nvSpPr>
            <p:cNvPr id="22" name="Freeform 22"/>
            <p:cNvSpPr/>
            <p:nvPr/>
          </p:nvSpPr>
          <p:spPr>
            <a:xfrm>
              <a:off x="0" y="0"/>
              <a:ext cx="5394642" cy="780288"/>
            </a:xfrm>
            <a:custGeom>
              <a:avLst/>
              <a:gdLst/>
              <a:ahLst/>
              <a:cxnLst/>
              <a:rect l="l" t="t" r="r" b="b"/>
              <a:pathLst>
                <a:path w="5394642" h="780288">
                  <a:moveTo>
                    <a:pt x="160446" y="0"/>
                  </a:moveTo>
                  <a:lnTo>
                    <a:pt x="5234196" y="0"/>
                  </a:lnTo>
                  <a:cubicBezTo>
                    <a:pt x="5322808" y="0"/>
                    <a:pt x="5394642" y="71834"/>
                    <a:pt x="5394642" y="160446"/>
                  </a:cubicBezTo>
                  <a:lnTo>
                    <a:pt x="5394642" y="619842"/>
                  </a:lnTo>
                  <a:cubicBezTo>
                    <a:pt x="5394642" y="708454"/>
                    <a:pt x="5322808" y="780288"/>
                    <a:pt x="5234196" y="780288"/>
                  </a:cubicBezTo>
                  <a:lnTo>
                    <a:pt x="160446" y="780288"/>
                  </a:lnTo>
                  <a:cubicBezTo>
                    <a:pt x="71834" y="780288"/>
                    <a:pt x="0" y="708454"/>
                    <a:pt x="0" y="619842"/>
                  </a:cubicBezTo>
                  <a:lnTo>
                    <a:pt x="0" y="160446"/>
                  </a:lnTo>
                  <a:cubicBezTo>
                    <a:pt x="0" y="71834"/>
                    <a:pt x="71834" y="0"/>
                    <a:pt x="160446" y="0"/>
                  </a:cubicBezTo>
                  <a:close/>
                </a:path>
              </a:pathLst>
            </a:custGeom>
            <a:solidFill>
              <a:srgbClr val="D4E1F6"/>
            </a:solidFill>
          </p:spPr>
          <p:txBody>
            <a:bodyPr/>
            <a:lstStyle/>
            <a:p>
              <a:endParaRPr lang="en-US"/>
            </a:p>
          </p:txBody>
        </p:sp>
        <p:sp>
          <p:nvSpPr>
            <p:cNvPr id="23" name="TextBox 23"/>
            <p:cNvSpPr txBox="1"/>
            <p:nvPr/>
          </p:nvSpPr>
          <p:spPr>
            <a:xfrm>
              <a:off x="0" y="9525"/>
              <a:ext cx="5394642" cy="770763"/>
            </a:xfrm>
            <a:prstGeom prst="rect">
              <a:avLst/>
            </a:prstGeom>
          </p:spPr>
          <p:txBody>
            <a:bodyPr lIns="0" tIns="0" rIns="0" bIns="0" rtlCol="0" anchor="ctr"/>
            <a:lstStyle/>
            <a:p>
              <a:pPr algn="ctr">
                <a:lnSpc>
                  <a:spcPts val="2280"/>
                </a:lnSpc>
              </a:pPr>
              <a:r>
                <a:rPr lang="en-US" sz="1900">
                  <a:solidFill>
                    <a:srgbClr val="3D5E89"/>
                  </a:solidFill>
                  <a:latin typeface="League Spartan"/>
                  <a:ea typeface="League Spartan"/>
                  <a:cs typeface="League Spartan"/>
                  <a:sym typeface="League Spartan"/>
                </a:rPr>
                <a:t>Nicolas Vidal Toledo</a:t>
              </a:r>
            </a:p>
          </p:txBody>
        </p:sp>
      </p:grpSp>
      <p:grpSp>
        <p:nvGrpSpPr>
          <p:cNvPr id="24" name="Group 24"/>
          <p:cNvGrpSpPr/>
          <p:nvPr/>
        </p:nvGrpSpPr>
        <p:grpSpPr>
          <a:xfrm>
            <a:off x="12669328" y="6605874"/>
            <a:ext cx="4045982" cy="585216"/>
            <a:chOff x="0" y="0"/>
            <a:chExt cx="5394642" cy="780288"/>
          </a:xfrm>
        </p:grpSpPr>
        <p:sp>
          <p:nvSpPr>
            <p:cNvPr id="25" name="Freeform 25"/>
            <p:cNvSpPr/>
            <p:nvPr/>
          </p:nvSpPr>
          <p:spPr>
            <a:xfrm>
              <a:off x="0" y="0"/>
              <a:ext cx="5394642" cy="780288"/>
            </a:xfrm>
            <a:custGeom>
              <a:avLst/>
              <a:gdLst/>
              <a:ahLst/>
              <a:cxnLst/>
              <a:rect l="l" t="t" r="r" b="b"/>
              <a:pathLst>
                <a:path w="5394642" h="780288">
                  <a:moveTo>
                    <a:pt x="160446" y="0"/>
                  </a:moveTo>
                  <a:lnTo>
                    <a:pt x="5234196" y="0"/>
                  </a:lnTo>
                  <a:cubicBezTo>
                    <a:pt x="5322808" y="0"/>
                    <a:pt x="5394642" y="71834"/>
                    <a:pt x="5394642" y="160446"/>
                  </a:cubicBezTo>
                  <a:lnTo>
                    <a:pt x="5394642" y="619842"/>
                  </a:lnTo>
                  <a:cubicBezTo>
                    <a:pt x="5394642" y="708454"/>
                    <a:pt x="5322808" y="780288"/>
                    <a:pt x="5234196" y="780288"/>
                  </a:cubicBezTo>
                  <a:lnTo>
                    <a:pt x="160446" y="780288"/>
                  </a:lnTo>
                  <a:cubicBezTo>
                    <a:pt x="71834" y="780288"/>
                    <a:pt x="0" y="708454"/>
                    <a:pt x="0" y="619842"/>
                  </a:cubicBezTo>
                  <a:lnTo>
                    <a:pt x="0" y="160446"/>
                  </a:lnTo>
                  <a:cubicBezTo>
                    <a:pt x="0" y="71834"/>
                    <a:pt x="71834" y="0"/>
                    <a:pt x="160446" y="0"/>
                  </a:cubicBezTo>
                  <a:close/>
                </a:path>
              </a:pathLst>
            </a:custGeom>
            <a:solidFill>
              <a:srgbClr val="D4E1F6"/>
            </a:solidFill>
          </p:spPr>
          <p:txBody>
            <a:bodyPr/>
            <a:lstStyle/>
            <a:p>
              <a:endParaRPr lang="en-US"/>
            </a:p>
          </p:txBody>
        </p:sp>
        <p:sp>
          <p:nvSpPr>
            <p:cNvPr id="26" name="TextBox 26"/>
            <p:cNvSpPr txBox="1"/>
            <p:nvPr/>
          </p:nvSpPr>
          <p:spPr>
            <a:xfrm>
              <a:off x="0" y="9525"/>
              <a:ext cx="5394642" cy="770763"/>
            </a:xfrm>
            <a:prstGeom prst="rect">
              <a:avLst/>
            </a:prstGeom>
          </p:spPr>
          <p:txBody>
            <a:bodyPr lIns="0" tIns="0" rIns="0" bIns="0" rtlCol="0" anchor="ctr"/>
            <a:lstStyle/>
            <a:p>
              <a:pPr algn="ctr">
                <a:lnSpc>
                  <a:spcPts val="2280"/>
                </a:lnSpc>
              </a:pPr>
              <a:r>
                <a:rPr lang="en-US" sz="1900">
                  <a:solidFill>
                    <a:srgbClr val="3D5E89"/>
                  </a:solidFill>
                  <a:latin typeface="League Spartan"/>
                  <a:ea typeface="League Spartan"/>
                  <a:cs typeface="League Spartan"/>
                  <a:sym typeface="League Spartan"/>
                </a:rPr>
                <a:t>Karin Pohl</a:t>
              </a:r>
            </a:p>
          </p:txBody>
        </p:sp>
      </p:grpSp>
      <p:grpSp>
        <p:nvGrpSpPr>
          <p:cNvPr id="27" name="Group 27"/>
          <p:cNvGrpSpPr/>
          <p:nvPr/>
        </p:nvGrpSpPr>
        <p:grpSpPr>
          <a:xfrm>
            <a:off x="7121009" y="6605874"/>
            <a:ext cx="4045982" cy="701320"/>
            <a:chOff x="0" y="0"/>
            <a:chExt cx="5394642" cy="935093"/>
          </a:xfrm>
        </p:grpSpPr>
        <p:sp>
          <p:nvSpPr>
            <p:cNvPr id="28" name="Freeform 28"/>
            <p:cNvSpPr/>
            <p:nvPr/>
          </p:nvSpPr>
          <p:spPr>
            <a:xfrm>
              <a:off x="0" y="0"/>
              <a:ext cx="5394642" cy="935093"/>
            </a:xfrm>
            <a:custGeom>
              <a:avLst/>
              <a:gdLst/>
              <a:ahLst/>
              <a:cxnLst/>
              <a:rect l="l" t="t" r="r" b="b"/>
              <a:pathLst>
                <a:path w="5394642" h="935093">
                  <a:moveTo>
                    <a:pt x="160446" y="0"/>
                  </a:moveTo>
                  <a:lnTo>
                    <a:pt x="5234196" y="0"/>
                  </a:lnTo>
                  <a:cubicBezTo>
                    <a:pt x="5322808" y="0"/>
                    <a:pt x="5394642" y="71834"/>
                    <a:pt x="5394642" y="160446"/>
                  </a:cubicBezTo>
                  <a:lnTo>
                    <a:pt x="5394642" y="774647"/>
                  </a:lnTo>
                  <a:cubicBezTo>
                    <a:pt x="5394642" y="863259"/>
                    <a:pt x="5322808" y="935093"/>
                    <a:pt x="5234196" y="935093"/>
                  </a:cubicBezTo>
                  <a:lnTo>
                    <a:pt x="160446" y="935093"/>
                  </a:lnTo>
                  <a:cubicBezTo>
                    <a:pt x="71834" y="935093"/>
                    <a:pt x="0" y="863259"/>
                    <a:pt x="0" y="774647"/>
                  </a:cubicBezTo>
                  <a:lnTo>
                    <a:pt x="0" y="160446"/>
                  </a:lnTo>
                  <a:cubicBezTo>
                    <a:pt x="0" y="71834"/>
                    <a:pt x="71834" y="0"/>
                    <a:pt x="160446" y="0"/>
                  </a:cubicBezTo>
                  <a:close/>
                </a:path>
              </a:pathLst>
            </a:custGeom>
            <a:solidFill>
              <a:srgbClr val="D4E1F6"/>
            </a:solidFill>
          </p:spPr>
          <p:txBody>
            <a:bodyPr/>
            <a:lstStyle/>
            <a:p>
              <a:endParaRPr lang="en-US"/>
            </a:p>
          </p:txBody>
        </p:sp>
        <p:sp>
          <p:nvSpPr>
            <p:cNvPr id="29" name="TextBox 29"/>
            <p:cNvSpPr txBox="1"/>
            <p:nvPr/>
          </p:nvSpPr>
          <p:spPr>
            <a:xfrm>
              <a:off x="0" y="9525"/>
              <a:ext cx="5394642" cy="925568"/>
            </a:xfrm>
            <a:prstGeom prst="rect">
              <a:avLst/>
            </a:prstGeom>
          </p:spPr>
          <p:txBody>
            <a:bodyPr lIns="0" tIns="0" rIns="0" bIns="0" rtlCol="0" anchor="ctr"/>
            <a:lstStyle/>
            <a:p>
              <a:pPr algn="ctr">
                <a:lnSpc>
                  <a:spcPts val="2280"/>
                </a:lnSpc>
              </a:pPr>
              <a:r>
                <a:rPr lang="en-US" sz="1900">
                  <a:solidFill>
                    <a:srgbClr val="3D5E89"/>
                  </a:solidFill>
                  <a:latin typeface="League Spartan"/>
                  <a:ea typeface="League Spartan"/>
                  <a:cs typeface="League Spartan"/>
                  <a:sym typeface="League Spartan"/>
                </a:rPr>
                <a:t>Eduardo Kusar - Nicolas Vidal - Kevin Soto</a:t>
              </a:r>
            </a:p>
          </p:txBody>
        </p:sp>
      </p:grpSp>
      <p:sp>
        <p:nvSpPr>
          <p:cNvPr id="30" name="Freeform 30"/>
          <p:cNvSpPr/>
          <p:nvPr/>
        </p:nvSpPr>
        <p:spPr>
          <a:xfrm>
            <a:off x="14027721" y="4287844"/>
            <a:ext cx="1125287" cy="1085902"/>
          </a:xfrm>
          <a:custGeom>
            <a:avLst/>
            <a:gdLst/>
            <a:ahLst/>
            <a:cxnLst/>
            <a:rect l="l" t="t" r="r" b="b"/>
            <a:pathLst>
              <a:path w="1125287" h="1085902">
                <a:moveTo>
                  <a:pt x="0" y="0"/>
                </a:moveTo>
                <a:lnTo>
                  <a:pt x="1125287" y="0"/>
                </a:lnTo>
                <a:lnTo>
                  <a:pt x="1125287" y="1085902"/>
                </a:lnTo>
                <a:lnTo>
                  <a:pt x="0" y="10859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1" name="TextBox 31"/>
          <p:cNvSpPr txBox="1"/>
          <p:nvPr/>
        </p:nvSpPr>
        <p:spPr>
          <a:xfrm>
            <a:off x="3300331" y="2895099"/>
            <a:ext cx="12020332" cy="558165"/>
          </a:xfrm>
          <a:prstGeom prst="rect">
            <a:avLst/>
          </a:prstGeom>
        </p:spPr>
        <p:txBody>
          <a:bodyPr lIns="0" tIns="0" rIns="0" bIns="0" rtlCol="0" anchor="t">
            <a:spAutoFit/>
          </a:bodyPr>
          <a:lstStyle/>
          <a:p>
            <a:pPr marL="0" lvl="0" indent="0" algn="ctr">
              <a:lnSpc>
                <a:spcPts val="4649"/>
              </a:lnSpc>
              <a:spcBef>
                <a:spcPct val="0"/>
              </a:spcBef>
            </a:pPr>
            <a:r>
              <a:rPr lang="en-US" sz="3099">
                <a:solidFill>
                  <a:srgbClr val="000000"/>
                </a:solidFill>
                <a:latin typeface="Raleway"/>
                <a:ea typeface="Raleway"/>
                <a:cs typeface="Raleway"/>
                <a:sym typeface="Raleway"/>
              </a:rPr>
              <a:t>Trabajamos bajo los </a:t>
            </a:r>
            <a:r>
              <a:rPr lang="en-US" sz="3099" b="1">
                <a:solidFill>
                  <a:srgbClr val="000000"/>
                </a:solidFill>
                <a:latin typeface="Raleway Bold"/>
                <a:ea typeface="Raleway Bold"/>
                <a:cs typeface="Raleway Bold"/>
                <a:sym typeface="Raleway Bold"/>
              </a:rPr>
              <a:t>tres roles clave</a:t>
            </a:r>
            <a:r>
              <a:rPr lang="en-US" sz="3099">
                <a:solidFill>
                  <a:srgbClr val="000000"/>
                </a:solidFill>
                <a:latin typeface="Raleway"/>
                <a:ea typeface="Raleway"/>
                <a:cs typeface="Raleway"/>
                <a:sym typeface="Raleway"/>
              </a:rPr>
              <a:t> del marco de </a:t>
            </a:r>
            <a:r>
              <a:rPr lang="en-US" sz="3099" b="1">
                <a:solidFill>
                  <a:srgbClr val="000000"/>
                </a:solidFill>
                <a:latin typeface="Raleway Bold"/>
                <a:ea typeface="Raleway Bold"/>
                <a:cs typeface="Raleway Bold"/>
                <a:sym typeface="Raleway Bold"/>
              </a:rPr>
              <a:t>Scrum </a:t>
            </a:r>
          </a:p>
        </p:txBody>
      </p:sp>
      <p:sp>
        <p:nvSpPr>
          <p:cNvPr id="32" name="TextBox 32"/>
          <p:cNvSpPr txBox="1"/>
          <p:nvPr/>
        </p:nvSpPr>
        <p:spPr>
          <a:xfrm>
            <a:off x="2126690" y="5957316"/>
            <a:ext cx="3171547" cy="495300"/>
          </a:xfrm>
          <a:prstGeom prst="rect">
            <a:avLst/>
          </a:prstGeom>
        </p:spPr>
        <p:txBody>
          <a:bodyPr lIns="0" tIns="0" rIns="0" bIns="0" rtlCol="0" anchor="t">
            <a:spAutoFit/>
          </a:bodyPr>
          <a:lstStyle/>
          <a:p>
            <a:pPr marL="0" lvl="0" indent="0" algn="l">
              <a:lnSpc>
                <a:spcPts val="3951"/>
              </a:lnSpc>
              <a:spcBef>
                <a:spcPct val="0"/>
              </a:spcBef>
            </a:pPr>
            <a:r>
              <a:rPr lang="en-US" sz="3293" b="1">
                <a:solidFill>
                  <a:srgbClr val="3B567A"/>
                </a:solidFill>
                <a:latin typeface="League Spartan"/>
                <a:ea typeface="League Spartan"/>
                <a:cs typeface="League Spartan"/>
                <a:sym typeface="League Spartan"/>
              </a:rPr>
              <a:t>Scrum Master</a:t>
            </a:r>
          </a:p>
        </p:txBody>
      </p:sp>
      <p:sp>
        <p:nvSpPr>
          <p:cNvPr id="33" name="TextBox 33"/>
          <p:cNvSpPr txBox="1"/>
          <p:nvPr/>
        </p:nvSpPr>
        <p:spPr>
          <a:xfrm>
            <a:off x="6887337" y="5957316"/>
            <a:ext cx="4679823" cy="495300"/>
          </a:xfrm>
          <a:prstGeom prst="rect">
            <a:avLst/>
          </a:prstGeom>
        </p:spPr>
        <p:txBody>
          <a:bodyPr lIns="0" tIns="0" rIns="0" bIns="0" rtlCol="0" anchor="t">
            <a:spAutoFit/>
          </a:bodyPr>
          <a:lstStyle/>
          <a:p>
            <a:pPr marL="0" lvl="0" indent="0" algn="l">
              <a:lnSpc>
                <a:spcPts val="3951"/>
              </a:lnSpc>
              <a:spcBef>
                <a:spcPct val="0"/>
              </a:spcBef>
            </a:pPr>
            <a:r>
              <a:rPr lang="en-US" sz="3293" b="1">
                <a:solidFill>
                  <a:srgbClr val="3B567A"/>
                </a:solidFill>
                <a:latin typeface="League Spartan"/>
                <a:ea typeface="League Spartan"/>
                <a:cs typeface="League Spartan"/>
                <a:sym typeface="League Spartan"/>
              </a:rPr>
              <a:t>Equipo de Desarrollo</a:t>
            </a:r>
          </a:p>
        </p:txBody>
      </p:sp>
      <p:sp>
        <p:nvSpPr>
          <p:cNvPr id="34" name="TextBox 34"/>
          <p:cNvSpPr txBox="1"/>
          <p:nvPr/>
        </p:nvSpPr>
        <p:spPr>
          <a:xfrm>
            <a:off x="13157835" y="5957316"/>
            <a:ext cx="3376858" cy="495300"/>
          </a:xfrm>
          <a:prstGeom prst="rect">
            <a:avLst/>
          </a:prstGeom>
        </p:spPr>
        <p:txBody>
          <a:bodyPr lIns="0" tIns="0" rIns="0" bIns="0" rtlCol="0" anchor="t">
            <a:spAutoFit/>
          </a:bodyPr>
          <a:lstStyle/>
          <a:p>
            <a:pPr marL="0" lvl="0" indent="0" algn="l">
              <a:lnSpc>
                <a:spcPts val="3951"/>
              </a:lnSpc>
              <a:spcBef>
                <a:spcPct val="0"/>
              </a:spcBef>
            </a:pPr>
            <a:r>
              <a:rPr lang="en-US" sz="3293" b="1">
                <a:solidFill>
                  <a:srgbClr val="3B567A"/>
                </a:solidFill>
                <a:latin typeface="League Spartan"/>
                <a:ea typeface="League Spartan"/>
                <a:cs typeface="League Spartan"/>
                <a:sym typeface="League Spartan"/>
              </a:rPr>
              <a:t>Product Owner</a:t>
            </a:r>
          </a:p>
        </p:txBody>
      </p:sp>
      <p:sp>
        <p:nvSpPr>
          <p:cNvPr id="35" name="TextBox 35"/>
          <p:cNvSpPr txBox="1"/>
          <p:nvPr/>
        </p:nvSpPr>
        <p:spPr>
          <a:xfrm>
            <a:off x="1843419" y="7457790"/>
            <a:ext cx="3738090"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Guía del equipo y del cumplimiento de la metodología Scrum</a:t>
            </a:r>
          </a:p>
        </p:txBody>
      </p:sp>
      <p:sp>
        <p:nvSpPr>
          <p:cNvPr id="36" name="TextBox 36"/>
          <p:cNvSpPr txBox="1"/>
          <p:nvPr/>
        </p:nvSpPr>
        <p:spPr>
          <a:xfrm>
            <a:off x="7381744" y="7398735"/>
            <a:ext cx="3738090" cy="13627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Equipo autogestionado y encargado de generar incrementos</a:t>
            </a:r>
          </a:p>
        </p:txBody>
      </p:sp>
      <p:sp>
        <p:nvSpPr>
          <p:cNvPr id="37" name="TextBox 37"/>
          <p:cNvSpPr txBox="1"/>
          <p:nvPr/>
        </p:nvSpPr>
        <p:spPr>
          <a:xfrm>
            <a:off x="12721319" y="7398735"/>
            <a:ext cx="3738090" cy="1819911"/>
          </a:xfrm>
          <a:prstGeom prst="rect">
            <a:avLst/>
          </a:prstGeom>
        </p:spPr>
        <p:txBody>
          <a:bodyPr lIns="0" tIns="0" rIns="0" bIns="0" rtlCol="0" anchor="t">
            <a:spAutoFit/>
          </a:bodyPr>
          <a:lstStyle/>
          <a:p>
            <a:pPr algn="ctr">
              <a:lnSpc>
                <a:spcPts val="3639"/>
              </a:lnSpc>
              <a:spcBef>
                <a:spcPct val="0"/>
              </a:spcBef>
            </a:pPr>
            <a:r>
              <a:rPr lang="en-US" sz="2599">
                <a:solidFill>
                  <a:srgbClr val="3B567A"/>
                </a:solidFill>
                <a:latin typeface="Open Sans 1"/>
                <a:ea typeface="Open Sans 1"/>
                <a:cs typeface="Open Sans 1"/>
                <a:sym typeface="Open Sans 1"/>
              </a:rPr>
              <a:t>Define prioridades, valida los avances y entregables del producto.</a:t>
            </a:r>
          </a:p>
        </p:txBody>
      </p:sp>
      <p:sp>
        <p:nvSpPr>
          <p:cNvPr id="38" name="Freeform 38"/>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9" name="TextBox 39"/>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2447925"/>
          </a:xfrm>
          <a:prstGeom prst="rect">
            <a:avLst/>
          </a:prstGeom>
        </p:spPr>
        <p:txBody>
          <a:bodyPr lIns="0" tIns="0" rIns="0" bIns="0" rtlCol="0" anchor="t">
            <a:spAutoFit/>
          </a:bodyPr>
          <a:lstStyle/>
          <a:p>
            <a:pPr algn="ctr">
              <a:lnSpc>
                <a:spcPts val="9600"/>
              </a:lnSpc>
            </a:pPr>
            <a:r>
              <a:rPr lang="en-US" sz="8000" b="1">
                <a:solidFill>
                  <a:srgbClr val="FFFFFF"/>
                </a:solidFill>
                <a:latin typeface="League Spartan"/>
                <a:ea typeface="League Spartan"/>
                <a:cs typeface="League Spartan"/>
                <a:sym typeface="League Spartan"/>
              </a:rPr>
              <a:t>10 Evidencias</a:t>
            </a:r>
          </a:p>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por Sprint</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2447925"/>
          </a:xfrm>
          <a:prstGeom prst="rect">
            <a:avLst/>
          </a:prstGeom>
        </p:spPr>
        <p:txBody>
          <a:bodyPr lIns="0" tIns="0" rIns="0" bIns="0" rtlCol="0" anchor="t">
            <a:spAutoFit/>
          </a:bodyPr>
          <a:lstStyle/>
          <a:p>
            <a:pPr algn="ctr">
              <a:lnSpc>
                <a:spcPts val="9600"/>
              </a:lnSpc>
            </a:pPr>
            <a:r>
              <a:rPr lang="en-US" sz="8000" b="1">
                <a:solidFill>
                  <a:srgbClr val="FFFFFF"/>
                </a:solidFill>
                <a:latin typeface="League Spartan"/>
                <a:ea typeface="League Spartan"/>
                <a:cs typeface="League Spartan"/>
                <a:sym typeface="League Spartan"/>
              </a:rPr>
              <a:t>Sprint 1</a:t>
            </a:r>
          </a:p>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Terminado</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299065" y="873813"/>
            <a:ext cx="14084886" cy="1171575"/>
          </a:xfrm>
          <a:prstGeom prst="rect">
            <a:avLst/>
          </a:prstGeom>
        </p:spPr>
        <p:txBody>
          <a:bodyPr lIns="0" tIns="0" rIns="0" bIns="0" rtlCol="0" anchor="t">
            <a:spAutoFit/>
          </a:bodyPr>
          <a:lstStyle/>
          <a:p>
            <a:pPr marL="0" lvl="0" indent="0" algn="ctr">
              <a:lnSpc>
                <a:spcPts val="9360"/>
              </a:lnSpc>
              <a:spcBef>
                <a:spcPct val="0"/>
              </a:spcBef>
            </a:pPr>
            <a:r>
              <a:rPr lang="en-US" sz="7800" b="1">
                <a:solidFill>
                  <a:srgbClr val="3B567A"/>
                </a:solidFill>
                <a:latin typeface="League Spartan"/>
                <a:ea typeface="League Spartan"/>
                <a:cs typeface="League Spartan"/>
                <a:sym typeface="League Spartan"/>
              </a:rPr>
              <a:t>Sprint 1 - Backlog</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Freeform 5"/>
          <p:cNvSpPr/>
          <p:nvPr/>
        </p:nvSpPr>
        <p:spPr>
          <a:xfrm>
            <a:off x="0" y="3260623"/>
            <a:ext cx="18288000" cy="6560000"/>
          </a:xfrm>
          <a:custGeom>
            <a:avLst/>
            <a:gdLst/>
            <a:ahLst/>
            <a:cxnLst/>
            <a:rect l="l" t="t" r="r" b="b"/>
            <a:pathLst>
              <a:path w="18288000" h="6560000">
                <a:moveTo>
                  <a:pt x="0" y="0"/>
                </a:moveTo>
                <a:lnTo>
                  <a:pt x="18288000" y="0"/>
                </a:lnTo>
                <a:lnTo>
                  <a:pt x="18288000" y="6560000"/>
                </a:lnTo>
                <a:lnTo>
                  <a:pt x="0" y="6560000"/>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26</a:t>
            </a:r>
          </a:p>
        </p:txBody>
      </p:sp>
      <p:sp>
        <p:nvSpPr>
          <p:cNvPr id="7" name="TextBox 7"/>
          <p:cNvSpPr txBox="1"/>
          <p:nvPr/>
        </p:nvSpPr>
        <p:spPr>
          <a:xfrm>
            <a:off x="5722429" y="2422423"/>
            <a:ext cx="6320135" cy="390525"/>
          </a:xfrm>
          <a:prstGeom prst="rect">
            <a:avLst/>
          </a:prstGeom>
        </p:spPr>
        <p:txBody>
          <a:bodyPr lIns="0" tIns="0" rIns="0" bIns="0" rtlCol="0" anchor="t">
            <a:spAutoFit/>
          </a:bodyPr>
          <a:lstStyle/>
          <a:p>
            <a:pPr algn="ctr">
              <a:lnSpc>
                <a:spcPts val="3120"/>
              </a:lnSpc>
              <a:spcBef>
                <a:spcPct val="0"/>
              </a:spcBef>
            </a:pPr>
            <a:r>
              <a:rPr lang="en-US" sz="2600" b="1">
                <a:solidFill>
                  <a:srgbClr val="000000"/>
                </a:solidFill>
                <a:latin typeface="League Spartan"/>
                <a:ea typeface="League Spartan"/>
                <a:cs typeface="League Spartan"/>
                <a:sym typeface="League Spartan"/>
              </a:rPr>
              <a:t>Completamos 12 historias de usuario</a:t>
            </a:r>
          </a:p>
        </p:txBody>
      </p:sp>
      <p:sp>
        <p:nvSpPr>
          <p:cNvPr id="8" name="TextBox 8"/>
          <p:cNvSpPr txBox="1"/>
          <p:nvPr/>
        </p:nvSpPr>
        <p:spPr>
          <a:xfrm>
            <a:off x="2103120" y="1859995"/>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 10.1 Sprint backlog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299065" y="873813"/>
            <a:ext cx="14084886" cy="1171575"/>
          </a:xfrm>
          <a:prstGeom prst="rect">
            <a:avLst/>
          </a:prstGeom>
        </p:spPr>
        <p:txBody>
          <a:bodyPr lIns="0" tIns="0" rIns="0" bIns="0" rtlCol="0" anchor="t">
            <a:spAutoFit/>
          </a:bodyPr>
          <a:lstStyle/>
          <a:p>
            <a:pPr marL="0" lvl="0" indent="0" algn="ctr">
              <a:lnSpc>
                <a:spcPts val="9360"/>
              </a:lnSpc>
              <a:spcBef>
                <a:spcPct val="0"/>
              </a:spcBef>
            </a:pPr>
            <a:r>
              <a:rPr lang="en-US" sz="7800" b="1">
                <a:solidFill>
                  <a:srgbClr val="3B567A"/>
                </a:solidFill>
                <a:latin typeface="League Spartan"/>
                <a:ea typeface="League Spartan"/>
                <a:cs typeface="League Spartan"/>
                <a:sym typeface="League Spartan"/>
              </a:rPr>
              <a:t>Sprint 1 - kanban</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27</a:t>
            </a:r>
          </a:p>
        </p:txBody>
      </p:sp>
      <p:sp>
        <p:nvSpPr>
          <p:cNvPr id="6" name="TextBox 6"/>
          <p:cNvSpPr txBox="1"/>
          <p:nvPr/>
        </p:nvSpPr>
        <p:spPr>
          <a:xfrm>
            <a:off x="212217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10.2 Kanban Board (Trello)</a:t>
            </a:r>
          </a:p>
        </p:txBody>
      </p:sp>
      <p:sp>
        <p:nvSpPr>
          <p:cNvPr id="7" name="Freeform 7"/>
          <p:cNvSpPr/>
          <p:nvPr/>
        </p:nvSpPr>
        <p:spPr>
          <a:xfrm>
            <a:off x="1206212" y="2820112"/>
            <a:ext cx="15608853" cy="7303765"/>
          </a:xfrm>
          <a:custGeom>
            <a:avLst/>
            <a:gdLst/>
            <a:ahLst/>
            <a:cxnLst/>
            <a:rect l="l" t="t" r="r" b="b"/>
            <a:pathLst>
              <a:path w="15608853" h="7303765">
                <a:moveTo>
                  <a:pt x="0" y="0"/>
                </a:moveTo>
                <a:lnTo>
                  <a:pt x="15608853" y="0"/>
                </a:lnTo>
                <a:lnTo>
                  <a:pt x="15608853" y="7303765"/>
                </a:lnTo>
                <a:lnTo>
                  <a:pt x="0" y="7303765"/>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1668581" y="975757"/>
            <a:ext cx="15066938" cy="838200"/>
          </a:xfrm>
          <a:prstGeom prst="rect">
            <a:avLst/>
          </a:prstGeom>
        </p:spPr>
        <p:txBody>
          <a:bodyPr lIns="0" tIns="0" rIns="0" bIns="0" rtlCol="0" anchor="t">
            <a:spAutoFit/>
          </a:bodyPr>
          <a:lstStyle/>
          <a:p>
            <a:pPr marL="0" lvl="0" indent="0" algn="ctr">
              <a:lnSpc>
                <a:spcPts val="6600"/>
              </a:lnSpc>
              <a:spcBef>
                <a:spcPct val="0"/>
              </a:spcBef>
            </a:pPr>
            <a:r>
              <a:rPr lang="en-US" sz="5500" b="1">
                <a:solidFill>
                  <a:srgbClr val="3B567A"/>
                </a:solidFill>
                <a:latin typeface="League Spartan"/>
                <a:ea typeface="League Spartan"/>
                <a:cs typeface="League Spartan"/>
                <a:sym typeface="League Spartan"/>
              </a:rPr>
              <a:t>Sprint 1 - Impedimentos</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718242" y="3384202"/>
            <a:ext cx="16851516" cy="5969348"/>
            <a:chOff x="0" y="0"/>
            <a:chExt cx="22851781" cy="8094834"/>
          </a:xfrm>
        </p:grpSpPr>
        <p:sp>
          <p:nvSpPr>
            <p:cNvPr id="5" name="Freeform 5"/>
            <p:cNvSpPr/>
            <p:nvPr/>
          </p:nvSpPr>
          <p:spPr>
            <a:xfrm>
              <a:off x="0" y="0"/>
              <a:ext cx="22851782" cy="8094835"/>
            </a:xfrm>
            <a:custGeom>
              <a:avLst/>
              <a:gdLst/>
              <a:ahLst/>
              <a:cxnLst/>
              <a:rect l="l" t="t" r="r" b="b"/>
              <a:pathLst>
                <a:path w="22851782" h="8094835">
                  <a:moveTo>
                    <a:pt x="0" y="485690"/>
                  </a:moveTo>
                  <a:cubicBezTo>
                    <a:pt x="0" y="217443"/>
                    <a:pt x="584613" y="0"/>
                    <a:pt x="1305816" y="0"/>
                  </a:cubicBezTo>
                  <a:lnTo>
                    <a:pt x="21545965" y="0"/>
                  </a:lnTo>
                  <a:cubicBezTo>
                    <a:pt x="22267168" y="0"/>
                    <a:pt x="22851782" y="217443"/>
                    <a:pt x="22851782" y="485690"/>
                  </a:cubicBezTo>
                  <a:lnTo>
                    <a:pt x="22851782" y="7609144"/>
                  </a:lnTo>
                  <a:cubicBezTo>
                    <a:pt x="22851782" y="7877391"/>
                    <a:pt x="22267168" y="8094835"/>
                    <a:pt x="21545965" y="8094835"/>
                  </a:cubicBezTo>
                  <a:lnTo>
                    <a:pt x="1305816" y="8094835"/>
                  </a:lnTo>
                  <a:cubicBezTo>
                    <a:pt x="584613" y="8094835"/>
                    <a:pt x="0" y="7877391"/>
                    <a:pt x="0" y="7609144"/>
                  </a:cubicBezTo>
                  <a:close/>
                </a:path>
              </a:pathLst>
            </a:custGeom>
            <a:blipFill>
              <a:blip r:embed="rId3"/>
              <a:stretch>
                <a:fillRect t="-3890" r="-408" b="-23860"/>
              </a:stretch>
            </a:blipFill>
            <a:ln w="9525" cap="sq">
              <a:solidFill>
                <a:srgbClr val="000000"/>
              </a:solidFill>
              <a:prstDash val="solid"/>
              <a:miter/>
            </a:ln>
          </p:spPr>
          <p:txBody>
            <a:bodyPr/>
            <a:lstStyle/>
            <a:p>
              <a:endParaRPr lang="en-US"/>
            </a:p>
          </p:txBody>
        </p:sp>
      </p:grpSp>
      <p:grpSp>
        <p:nvGrpSpPr>
          <p:cNvPr id="6" name="Group 6"/>
          <p:cNvGrpSpPr/>
          <p:nvPr/>
        </p:nvGrpSpPr>
        <p:grpSpPr>
          <a:xfrm>
            <a:off x="1028700" y="2474013"/>
            <a:ext cx="3108960" cy="1005840"/>
            <a:chOff x="0" y="0"/>
            <a:chExt cx="4145280" cy="1341120"/>
          </a:xfrm>
        </p:grpSpPr>
        <p:sp>
          <p:nvSpPr>
            <p:cNvPr id="7" name="Freeform 7"/>
            <p:cNvSpPr/>
            <p:nvPr/>
          </p:nvSpPr>
          <p:spPr>
            <a:xfrm>
              <a:off x="0" y="0"/>
              <a:ext cx="4145280" cy="1341120"/>
            </a:xfrm>
            <a:custGeom>
              <a:avLst/>
              <a:gdLst/>
              <a:ahLst/>
              <a:cxnLst/>
              <a:rect l="l" t="t" r="r" b="b"/>
              <a:pathLst>
                <a:path w="4145280" h="1341120">
                  <a:moveTo>
                    <a:pt x="0" y="0"/>
                  </a:moveTo>
                  <a:lnTo>
                    <a:pt x="4145280" y="0"/>
                  </a:lnTo>
                  <a:lnTo>
                    <a:pt x="4145280" y="1341120"/>
                  </a:lnTo>
                  <a:lnTo>
                    <a:pt x="0" y="1341120"/>
                  </a:lnTo>
                  <a:close/>
                </a:path>
              </a:pathLst>
            </a:custGeom>
            <a:blipFill>
              <a:blip r:embed="rId4">
                <a:alphaModFix amt="0"/>
              </a:blip>
              <a:stretch>
                <a:fillRect t="-10226" b="-10226"/>
              </a:stretch>
            </a:blipFill>
            <a:ln cap="sq">
              <a:noFill/>
              <a:prstDash val="solid"/>
              <a:miter/>
            </a:ln>
          </p:spPr>
          <p:txBody>
            <a:bodyPr/>
            <a:lstStyle/>
            <a:p>
              <a:endParaRPr lang="en-US"/>
            </a:p>
          </p:txBody>
        </p:sp>
        <p:sp>
          <p:nvSpPr>
            <p:cNvPr id="8" name="TextBox 8"/>
            <p:cNvSpPr txBox="1"/>
            <p:nvPr/>
          </p:nvSpPr>
          <p:spPr>
            <a:xfrm>
              <a:off x="0" y="0"/>
              <a:ext cx="4145280" cy="1341120"/>
            </a:xfrm>
            <a:prstGeom prst="rect">
              <a:avLst/>
            </a:prstGeom>
          </p:spPr>
          <p:txBody>
            <a:bodyPr lIns="0" tIns="0" rIns="0" bIns="0" rtlCol="0" anchor="ctr"/>
            <a:lstStyle/>
            <a:p>
              <a:pPr algn="l">
                <a:lnSpc>
                  <a:spcPts val="3360"/>
                </a:lnSpc>
              </a:pPr>
              <a:r>
                <a:rPr lang="en-US" sz="2800" b="1">
                  <a:solidFill>
                    <a:srgbClr val="3B567A"/>
                  </a:solidFill>
                  <a:latin typeface="League Spartan"/>
                  <a:ea typeface="League Spartan"/>
                  <a:cs typeface="League Spartan"/>
                  <a:sym typeface="League Spartan"/>
                </a:rPr>
                <a:t>11 Impedimentos</a:t>
              </a:r>
            </a:p>
          </p:txBody>
        </p:sp>
      </p:grpSp>
      <p:grpSp>
        <p:nvGrpSpPr>
          <p:cNvPr id="9" name="Group 9"/>
          <p:cNvGrpSpPr/>
          <p:nvPr/>
        </p:nvGrpSpPr>
        <p:grpSpPr>
          <a:xfrm>
            <a:off x="4137660" y="2474013"/>
            <a:ext cx="3840480" cy="1005840"/>
            <a:chOff x="0" y="0"/>
            <a:chExt cx="5120640" cy="1341120"/>
          </a:xfrm>
        </p:grpSpPr>
        <p:sp>
          <p:nvSpPr>
            <p:cNvPr id="10" name="Freeform 10"/>
            <p:cNvSpPr/>
            <p:nvPr/>
          </p:nvSpPr>
          <p:spPr>
            <a:xfrm>
              <a:off x="0" y="0"/>
              <a:ext cx="5120640" cy="1341120"/>
            </a:xfrm>
            <a:custGeom>
              <a:avLst/>
              <a:gdLst/>
              <a:ahLst/>
              <a:cxnLst/>
              <a:rect l="l" t="t" r="r" b="b"/>
              <a:pathLst>
                <a:path w="5120640" h="1341120">
                  <a:moveTo>
                    <a:pt x="0" y="0"/>
                  </a:moveTo>
                  <a:lnTo>
                    <a:pt x="5120640" y="0"/>
                  </a:lnTo>
                  <a:lnTo>
                    <a:pt x="5120640" y="1341120"/>
                  </a:lnTo>
                  <a:lnTo>
                    <a:pt x="0" y="1341120"/>
                  </a:lnTo>
                  <a:close/>
                </a:path>
              </a:pathLst>
            </a:custGeom>
            <a:blipFill>
              <a:blip r:embed="rId4">
                <a:alphaModFix amt="0"/>
              </a:blip>
              <a:stretch>
                <a:fillRect t="-24397" b="-24397"/>
              </a:stretch>
            </a:blipFill>
            <a:ln cap="sq">
              <a:noFill/>
              <a:prstDash val="solid"/>
              <a:miter/>
            </a:ln>
          </p:spPr>
          <p:txBody>
            <a:bodyPr/>
            <a:lstStyle/>
            <a:p>
              <a:endParaRPr lang="en-US"/>
            </a:p>
          </p:txBody>
        </p:sp>
        <p:sp>
          <p:nvSpPr>
            <p:cNvPr id="11" name="TextBox 11"/>
            <p:cNvSpPr txBox="1"/>
            <p:nvPr/>
          </p:nvSpPr>
          <p:spPr>
            <a:xfrm>
              <a:off x="0" y="0"/>
              <a:ext cx="5120640" cy="1341120"/>
            </a:xfrm>
            <a:prstGeom prst="rect">
              <a:avLst/>
            </a:prstGeom>
          </p:spPr>
          <p:txBody>
            <a:bodyPr lIns="0" tIns="0" rIns="0" bIns="0" rtlCol="0" anchor="ctr"/>
            <a:lstStyle/>
            <a:p>
              <a:pPr marL="453390" lvl="1" indent="-226695" algn="l">
                <a:lnSpc>
                  <a:spcPts val="2520"/>
                </a:lnSpc>
                <a:buFont typeface="Arial"/>
                <a:buChar char="•"/>
              </a:pPr>
              <a:r>
                <a:rPr lang="en-US" sz="2100" b="1">
                  <a:solidFill>
                    <a:srgbClr val="545454"/>
                  </a:solidFill>
                  <a:latin typeface="Open Sans 2 Bold"/>
                  <a:ea typeface="Open Sans 2 Bold"/>
                  <a:cs typeface="Open Sans 2 Bold"/>
                  <a:sym typeface="Open Sans 2 Bold"/>
                </a:rPr>
                <a:t>Todos resueltos</a:t>
              </a:r>
            </a:p>
          </p:txBody>
        </p:sp>
      </p:grpSp>
      <p:sp>
        <p:nvSpPr>
          <p:cNvPr id="12" name="Freeform 12"/>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28</a:t>
            </a:r>
          </a:p>
        </p:txBody>
      </p:sp>
      <p:sp>
        <p:nvSpPr>
          <p:cNvPr id="14" name="TextBox 14"/>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10.3 Log de Impedimentos</a:t>
            </a:r>
          </a:p>
        </p:txBody>
      </p:sp>
      <p:sp>
        <p:nvSpPr>
          <p:cNvPr id="15" name="TextBox 15"/>
          <p:cNvSpPr txBox="1"/>
          <p:nvPr/>
        </p:nvSpPr>
        <p:spPr>
          <a:xfrm>
            <a:off x="1028700" y="9534525"/>
            <a:ext cx="14977837" cy="352425"/>
          </a:xfrm>
          <a:prstGeom prst="rect">
            <a:avLst/>
          </a:prstGeom>
        </p:spPr>
        <p:txBody>
          <a:bodyPr lIns="0" tIns="0" rIns="0" bIns="0" rtlCol="0" anchor="t">
            <a:spAutoFit/>
          </a:bodyPr>
          <a:lstStyle/>
          <a:p>
            <a:pPr algn="l">
              <a:lnSpc>
                <a:spcPts val="2879"/>
              </a:lnSpc>
              <a:spcBef>
                <a:spcPct val="0"/>
              </a:spcBef>
            </a:pPr>
            <a:r>
              <a:rPr lang="en-US" sz="2399">
                <a:solidFill>
                  <a:srgbClr val="000000"/>
                </a:solidFill>
                <a:latin typeface="Open Sans 1"/>
                <a:ea typeface="Open Sans 1"/>
                <a:cs typeface="Open Sans 1"/>
                <a:sym typeface="Open Sans 1"/>
              </a:rPr>
              <a:t>Se detallaron tareas en Trello, se corrigieron pruebas E2E y se adelantó trabajo antes de Fiestas Patrias.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1668581" y="975757"/>
            <a:ext cx="15066938" cy="838200"/>
          </a:xfrm>
          <a:prstGeom prst="rect">
            <a:avLst/>
          </a:prstGeom>
        </p:spPr>
        <p:txBody>
          <a:bodyPr lIns="0" tIns="0" rIns="0" bIns="0" rtlCol="0" anchor="t">
            <a:spAutoFit/>
          </a:bodyPr>
          <a:lstStyle/>
          <a:p>
            <a:pPr marL="0" lvl="0" indent="0" algn="ctr">
              <a:lnSpc>
                <a:spcPts val="6600"/>
              </a:lnSpc>
              <a:spcBef>
                <a:spcPct val="0"/>
              </a:spcBef>
            </a:pPr>
            <a:r>
              <a:rPr lang="en-US" sz="5500" b="1">
                <a:solidFill>
                  <a:srgbClr val="3B567A"/>
                </a:solidFill>
                <a:latin typeface="League Spartan"/>
                <a:ea typeface="League Spartan"/>
                <a:cs typeface="League Spartan"/>
                <a:sym typeface="League Spartan"/>
              </a:rPr>
              <a:t>Sprint 1 - burndown chart</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Freeform 5"/>
          <p:cNvSpPr/>
          <p:nvPr/>
        </p:nvSpPr>
        <p:spPr>
          <a:xfrm>
            <a:off x="203582" y="3315590"/>
            <a:ext cx="8452648" cy="4232877"/>
          </a:xfrm>
          <a:custGeom>
            <a:avLst/>
            <a:gdLst/>
            <a:ahLst/>
            <a:cxnLst/>
            <a:rect l="l" t="t" r="r" b="b"/>
            <a:pathLst>
              <a:path w="8452648" h="4232877">
                <a:moveTo>
                  <a:pt x="0" y="0"/>
                </a:moveTo>
                <a:lnTo>
                  <a:pt x="8452648" y="0"/>
                </a:lnTo>
                <a:lnTo>
                  <a:pt x="8452648" y="4232877"/>
                </a:lnTo>
                <a:lnTo>
                  <a:pt x="0" y="4232877"/>
                </a:lnTo>
                <a:lnTo>
                  <a:pt x="0" y="0"/>
                </a:lnTo>
                <a:close/>
              </a:path>
            </a:pathLst>
          </a:custGeom>
          <a:blipFill>
            <a:blip r:embed="rId4"/>
            <a:stretch>
              <a:fillRect/>
            </a:stretch>
          </a:blipFill>
        </p:spPr>
        <p:txBody>
          <a:bodyPr/>
          <a:lstStyle/>
          <a:p>
            <a:endParaRPr lang="en-US"/>
          </a:p>
        </p:txBody>
      </p:sp>
      <p:sp>
        <p:nvSpPr>
          <p:cNvPr id="6" name="Freeform 6"/>
          <p:cNvSpPr/>
          <p:nvPr/>
        </p:nvSpPr>
        <p:spPr>
          <a:xfrm>
            <a:off x="8862696" y="3315590"/>
            <a:ext cx="9221722" cy="5497747"/>
          </a:xfrm>
          <a:custGeom>
            <a:avLst/>
            <a:gdLst/>
            <a:ahLst/>
            <a:cxnLst/>
            <a:rect l="l" t="t" r="r" b="b"/>
            <a:pathLst>
              <a:path w="9221722" h="5497747">
                <a:moveTo>
                  <a:pt x="0" y="0"/>
                </a:moveTo>
                <a:lnTo>
                  <a:pt x="9221722" y="0"/>
                </a:lnTo>
                <a:lnTo>
                  <a:pt x="9221722" y="5497747"/>
                </a:lnTo>
                <a:lnTo>
                  <a:pt x="0" y="5497747"/>
                </a:lnTo>
                <a:lnTo>
                  <a:pt x="0" y="0"/>
                </a:lnTo>
                <a:close/>
              </a:path>
            </a:pathLst>
          </a:custGeom>
          <a:blipFill>
            <a:blip r:embed="rId5"/>
            <a:stretch>
              <a:fillRect l="-1036" r="-1036"/>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29</a:t>
            </a:r>
          </a:p>
        </p:txBody>
      </p:sp>
      <p:sp>
        <p:nvSpPr>
          <p:cNvPr id="8" name="TextBox 8"/>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10.4 Burndown chart</a:t>
            </a:r>
          </a:p>
        </p:txBody>
      </p:sp>
      <p:sp>
        <p:nvSpPr>
          <p:cNvPr id="9" name="TextBox 9"/>
          <p:cNvSpPr txBox="1"/>
          <p:nvPr/>
        </p:nvSpPr>
        <p:spPr>
          <a:xfrm>
            <a:off x="203582" y="7684417"/>
            <a:ext cx="8452648" cy="1467474"/>
          </a:xfrm>
          <a:prstGeom prst="rect">
            <a:avLst/>
          </a:prstGeom>
        </p:spPr>
        <p:txBody>
          <a:bodyPr lIns="0" tIns="0" rIns="0" bIns="0" rtlCol="0" anchor="t">
            <a:spAutoFit/>
          </a:bodyPr>
          <a:lstStyle/>
          <a:p>
            <a:pPr algn="l">
              <a:lnSpc>
                <a:spcPts val="2905"/>
              </a:lnSpc>
            </a:pPr>
            <a:r>
              <a:rPr lang="en-US" sz="2421" b="1">
                <a:solidFill>
                  <a:srgbClr val="3B567A"/>
                </a:solidFill>
                <a:latin typeface="Open Sans 2 Bold"/>
                <a:ea typeface="Open Sans 2 Bold"/>
                <a:cs typeface="Open Sans 2 Bold"/>
                <a:sym typeface="Open Sans 2 Bold"/>
              </a:rPr>
              <a:t>Sprint 1: </a:t>
            </a:r>
            <a:r>
              <a:rPr lang="en-US" sz="2421">
                <a:solidFill>
                  <a:srgbClr val="000000"/>
                </a:solidFill>
                <a:latin typeface="Open Sans 2"/>
                <a:ea typeface="Open Sans 2"/>
                <a:cs typeface="Open Sans 2"/>
                <a:sym typeface="Open Sans 2"/>
              </a:rPr>
              <a:t>trabajo siempre adelantado a la línea ideal. </a:t>
            </a:r>
          </a:p>
          <a:p>
            <a:pPr algn="l">
              <a:lnSpc>
                <a:spcPts val="2905"/>
              </a:lnSpc>
            </a:pPr>
            <a:endParaRPr lang="en-US" sz="2421">
              <a:solidFill>
                <a:srgbClr val="000000"/>
              </a:solidFill>
              <a:latin typeface="Open Sans 2"/>
              <a:ea typeface="Open Sans 2"/>
              <a:cs typeface="Open Sans 2"/>
              <a:sym typeface="Open Sans 2"/>
            </a:endParaRPr>
          </a:p>
          <a:p>
            <a:pPr algn="l">
              <a:lnSpc>
                <a:spcPts val="2905"/>
              </a:lnSpc>
            </a:pPr>
            <a:r>
              <a:rPr lang="en-US" sz="2421">
                <a:solidFill>
                  <a:srgbClr val="000000"/>
                </a:solidFill>
                <a:latin typeface="Open Sans 2"/>
                <a:ea typeface="Open Sans 2"/>
                <a:cs typeface="Open Sans 2"/>
                <a:sym typeface="Open Sans 2"/>
              </a:rPr>
              <a:t>El 17 y 18/09 hubo una pausa por Fiestas Patrias y se llegó a 0 h el 24/09, un día antes.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092164" y="854763"/>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10.5 Acta Sprint Review</a:t>
            </a:r>
          </a:p>
        </p:txBody>
      </p:sp>
      <p:sp>
        <p:nvSpPr>
          <p:cNvPr id="3" name="Freeform 3"/>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Sprint 1 firmado por el Product Owner el 24/09</a:t>
            </a:r>
          </a:p>
        </p:txBody>
      </p:sp>
      <p:grpSp>
        <p:nvGrpSpPr>
          <p:cNvPr id="5" name="Group 5"/>
          <p:cNvGrpSpPr/>
          <p:nvPr/>
        </p:nvGrpSpPr>
        <p:grpSpPr>
          <a:xfrm>
            <a:off x="1280160" y="2606040"/>
            <a:ext cx="5669280" cy="7315200"/>
            <a:chOff x="0" y="0"/>
            <a:chExt cx="7559040" cy="9753600"/>
          </a:xfrm>
        </p:grpSpPr>
        <p:sp>
          <p:nvSpPr>
            <p:cNvPr id="6" name="Freeform 6"/>
            <p:cNvSpPr/>
            <p:nvPr/>
          </p:nvSpPr>
          <p:spPr>
            <a:xfrm>
              <a:off x="0" y="0"/>
              <a:ext cx="7559040" cy="9753600"/>
            </a:xfrm>
            <a:custGeom>
              <a:avLst/>
              <a:gdLst/>
              <a:ahLst/>
              <a:cxnLst/>
              <a:rect l="l" t="t" r="r" b="b"/>
              <a:pathLst>
                <a:path w="7559040" h="9753600">
                  <a:moveTo>
                    <a:pt x="0" y="453517"/>
                  </a:moveTo>
                  <a:cubicBezTo>
                    <a:pt x="0" y="203073"/>
                    <a:pt x="203073" y="0"/>
                    <a:pt x="453517" y="0"/>
                  </a:cubicBezTo>
                  <a:lnTo>
                    <a:pt x="7105523" y="0"/>
                  </a:lnTo>
                  <a:cubicBezTo>
                    <a:pt x="7355967" y="0"/>
                    <a:pt x="7559040" y="203073"/>
                    <a:pt x="7559040" y="453517"/>
                  </a:cubicBezTo>
                  <a:lnTo>
                    <a:pt x="7559040" y="9300083"/>
                  </a:lnTo>
                  <a:cubicBezTo>
                    <a:pt x="7559040" y="9550526"/>
                    <a:pt x="7355967" y="9753600"/>
                    <a:pt x="7105523" y="9753600"/>
                  </a:cubicBezTo>
                  <a:lnTo>
                    <a:pt x="453517" y="9753600"/>
                  </a:lnTo>
                  <a:cubicBezTo>
                    <a:pt x="203073" y="9753600"/>
                    <a:pt x="0" y="9550527"/>
                    <a:pt x="0" y="9300083"/>
                  </a:cubicBezTo>
                  <a:close/>
                </a:path>
              </a:pathLst>
            </a:custGeom>
            <a:solidFill>
              <a:srgbClr val="FFFFFF"/>
            </a:solidFill>
          </p:spPr>
          <p:txBody>
            <a:bodyPr/>
            <a:lstStyle/>
            <a:p>
              <a:endParaRPr lang="en-US"/>
            </a:p>
          </p:txBody>
        </p:sp>
      </p:grpSp>
      <p:grpSp>
        <p:nvGrpSpPr>
          <p:cNvPr id="7" name="Group 7"/>
          <p:cNvGrpSpPr/>
          <p:nvPr/>
        </p:nvGrpSpPr>
        <p:grpSpPr>
          <a:xfrm>
            <a:off x="1280160" y="2771960"/>
            <a:ext cx="5821270" cy="6983360"/>
            <a:chOff x="0" y="0"/>
            <a:chExt cx="7071360" cy="8483003"/>
          </a:xfrm>
        </p:grpSpPr>
        <p:sp>
          <p:nvSpPr>
            <p:cNvPr id="8" name="Freeform 8" descr="acta_p1.png"/>
            <p:cNvSpPr/>
            <p:nvPr/>
          </p:nvSpPr>
          <p:spPr>
            <a:xfrm>
              <a:off x="0" y="0"/>
              <a:ext cx="7071360" cy="8482965"/>
            </a:xfrm>
            <a:custGeom>
              <a:avLst/>
              <a:gdLst/>
              <a:ahLst/>
              <a:cxnLst/>
              <a:rect l="l" t="t" r="r" b="b"/>
              <a:pathLst>
                <a:path w="7071360" h="8482965">
                  <a:moveTo>
                    <a:pt x="0" y="0"/>
                  </a:moveTo>
                  <a:lnTo>
                    <a:pt x="7071360" y="0"/>
                  </a:lnTo>
                  <a:lnTo>
                    <a:pt x="7071360" y="8482965"/>
                  </a:lnTo>
                  <a:lnTo>
                    <a:pt x="0" y="8482965"/>
                  </a:lnTo>
                  <a:lnTo>
                    <a:pt x="0" y="0"/>
                  </a:lnTo>
                  <a:close/>
                </a:path>
              </a:pathLst>
            </a:custGeom>
            <a:blipFill>
              <a:blip r:embed="rId3"/>
              <a:stretch>
                <a:fillRect/>
              </a:stretch>
            </a:blipFill>
          </p:spPr>
          <p:txBody>
            <a:bodyPr/>
            <a:lstStyle/>
            <a:p>
              <a:endParaRPr lang="en-US"/>
            </a:p>
          </p:txBody>
        </p:sp>
      </p:grpSp>
      <p:grpSp>
        <p:nvGrpSpPr>
          <p:cNvPr id="9" name="Group 9"/>
          <p:cNvGrpSpPr/>
          <p:nvPr/>
        </p:nvGrpSpPr>
        <p:grpSpPr>
          <a:xfrm>
            <a:off x="7315200" y="2606040"/>
            <a:ext cx="9875520" cy="2377440"/>
            <a:chOff x="0" y="0"/>
            <a:chExt cx="13167360" cy="3169920"/>
          </a:xfrm>
        </p:grpSpPr>
        <p:sp>
          <p:nvSpPr>
            <p:cNvPr id="10" name="Freeform 10"/>
            <p:cNvSpPr/>
            <p:nvPr/>
          </p:nvSpPr>
          <p:spPr>
            <a:xfrm>
              <a:off x="0" y="0"/>
              <a:ext cx="13167361" cy="3169920"/>
            </a:xfrm>
            <a:custGeom>
              <a:avLst/>
              <a:gdLst/>
              <a:ahLst/>
              <a:cxnLst/>
              <a:rect l="l" t="t" r="r" b="b"/>
              <a:pathLst>
                <a:path w="13167361" h="3169920">
                  <a:moveTo>
                    <a:pt x="0" y="190246"/>
                  </a:moveTo>
                  <a:cubicBezTo>
                    <a:pt x="0" y="85090"/>
                    <a:pt x="85090" y="0"/>
                    <a:pt x="190246" y="0"/>
                  </a:cubicBezTo>
                  <a:lnTo>
                    <a:pt x="12977114" y="0"/>
                  </a:lnTo>
                  <a:cubicBezTo>
                    <a:pt x="13082143" y="0"/>
                    <a:pt x="13167361" y="85090"/>
                    <a:pt x="13167361" y="190246"/>
                  </a:cubicBezTo>
                  <a:lnTo>
                    <a:pt x="13167361" y="2979674"/>
                  </a:lnTo>
                  <a:cubicBezTo>
                    <a:pt x="13167361" y="3084703"/>
                    <a:pt x="13082270" y="3169920"/>
                    <a:pt x="12977114" y="3169920"/>
                  </a:cubicBezTo>
                  <a:lnTo>
                    <a:pt x="190246" y="3169920"/>
                  </a:lnTo>
                  <a:cubicBezTo>
                    <a:pt x="85090" y="3169920"/>
                    <a:pt x="0" y="3084830"/>
                    <a:pt x="0" y="2979674"/>
                  </a:cubicBezTo>
                  <a:close/>
                </a:path>
              </a:pathLst>
            </a:custGeom>
            <a:solidFill>
              <a:srgbClr val="FFFFFF"/>
            </a:solidFill>
          </p:spPr>
          <p:txBody>
            <a:bodyPr/>
            <a:lstStyle/>
            <a:p>
              <a:endParaRPr lang="en-US"/>
            </a:p>
          </p:txBody>
        </p:sp>
      </p:grpSp>
      <p:grpSp>
        <p:nvGrpSpPr>
          <p:cNvPr id="11" name="Group 11"/>
          <p:cNvGrpSpPr/>
          <p:nvPr/>
        </p:nvGrpSpPr>
        <p:grpSpPr>
          <a:xfrm>
            <a:off x="7543800" y="2743200"/>
            <a:ext cx="9418320" cy="1553928"/>
            <a:chOff x="0" y="0"/>
            <a:chExt cx="12557760" cy="2071903"/>
          </a:xfrm>
        </p:grpSpPr>
        <p:sp>
          <p:nvSpPr>
            <p:cNvPr id="12" name="Freeform 12"/>
            <p:cNvSpPr/>
            <p:nvPr/>
          </p:nvSpPr>
          <p:spPr>
            <a:xfrm>
              <a:off x="0" y="0"/>
              <a:ext cx="12557760" cy="2071878"/>
            </a:xfrm>
            <a:custGeom>
              <a:avLst/>
              <a:gdLst/>
              <a:ahLst/>
              <a:cxnLst/>
              <a:rect l="l" t="t" r="r" b="b"/>
              <a:pathLst>
                <a:path w="12557760" h="2071878">
                  <a:moveTo>
                    <a:pt x="0" y="0"/>
                  </a:moveTo>
                  <a:lnTo>
                    <a:pt x="12557760" y="0"/>
                  </a:lnTo>
                  <a:lnTo>
                    <a:pt x="12557760" y="2071878"/>
                  </a:lnTo>
                  <a:lnTo>
                    <a:pt x="0" y="2071878"/>
                  </a:lnTo>
                  <a:lnTo>
                    <a:pt x="0" y="0"/>
                  </a:lnTo>
                  <a:close/>
                </a:path>
              </a:pathLst>
            </a:custGeom>
            <a:blipFill>
              <a:blip r:embed="rId4"/>
              <a:stretch>
                <a:fillRect t="-6822" b="-6822"/>
              </a:stretch>
            </a:blipFill>
          </p:spPr>
          <p:txBody>
            <a:bodyPr/>
            <a:lstStyle/>
            <a:p>
              <a:endParaRPr lang="en-US"/>
            </a:p>
          </p:txBody>
        </p:sp>
      </p:grpSp>
      <p:grpSp>
        <p:nvGrpSpPr>
          <p:cNvPr id="13" name="Group 13"/>
          <p:cNvGrpSpPr/>
          <p:nvPr/>
        </p:nvGrpSpPr>
        <p:grpSpPr>
          <a:xfrm>
            <a:off x="7406640" y="5422392"/>
            <a:ext cx="384048" cy="384048"/>
            <a:chOff x="0" y="0"/>
            <a:chExt cx="512064" cy="512064"/>
          </a:xfrm>
        </p:grpSpPr>
        <p:sp>
          <p:nvSpPr>
            <p:cNvPr id="14" name="Freeform 14"/>
            <p:cNvSpPr/>
            <p:nvPr/>
          </p:nvSpPr>
          <p:spPr>
            <a:xfrm>
              <a:off x="0" y="0"/>
              <a:ext cx="512064" cy="512064"/>
            </a:xfrm>
            <a:custGeom>
              <a:avLst/>
              <a:gdLst/>
              <a:ahLst/>
              <a:cxnLst/>
              <a:rect l="l" t="t" r="r" b="b"/>
              <a:pathLst>
                <a:path w="512064" h="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3B567A"/>
            </a:solidFill>
          </p:spPr>
          <p:txBody>
            <a:bodyPr/>
            <a:lstStyle/>
            <a:p>
              <a:endParaRPr lang="en-US"/>
            </a:p>
          </p:txBody>
        </p:sp>
      </p:grpSp>
      <p:grpSp>
        <p:nvGrpSpPr>
          <p:cNvPr id="15" name="Group 15"/>
          <p:cNvGrpSpPr/>
          <p:nvPr/>
        </p:nvGrpSpPr>
        <p:grpSpPr>
          <a:xfrm>
            <a:off x="7406640" y="6702552"/>
            <a:ext cx="384048" cy="384048"/>
            <a:chOff x="0" y="0"/>
            <a:chExt cx="512064" cy="512064"/>
          </a:xfrm>
        </p:grpSpPr>
        <p:sp>
          <p:nvSpPr>
            <p:cNvPr id="16" name="Freeform 16"/>
            <p:cNvSpPr/>
            <p:nvPr/>
          </p:nvSpPr>
          <p:spPr>
            <a:xfrm>
              <a:off x="0" y="0"/>
              <a:ext cx="512064" cy="512064"/>
            </a:xfrm>
            <a:custGeom>
              <a:avLst/>
              <a:gdLst/>
              <a:ahLst/>
              <a:cxnLst/>
              <a:rect l="l" t="t" r="r" b="b"/>
              <a:pathLst>
                <a:path w="512064" h="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3B567A"/>
            </a:solidFill>
          </p:spPr>
          <p:txBody>
            <a:bodyPr/>
            <a:lstStyle/>
            <a:p>
              <a:endParaRPr lang="en-US"/>
            </a:p>
          </p:txBody>
        </p:sp>
      </p:grpSp>
      <p:grpSp>
        <p:nvGrpSpPr>
          <p:cNvPr id="17" name="Group 17"/>
          <p:cNvGrpSpPr/>
          <p:nvPr/>
        </p:nvGrpSpPr>
        <p:grpSpPr>
          <a:xfrm>
            <a:off x="7406640" y="7982712"/>
            <a:ext cx="384048" cy="384048"/>
            <a:chOff x="0" y="0"/>
            <a:chExt cx="512064" cy="512064"/>
          </a:xfrm>
        </p:grpSpPr>
        <p:sp>
          <p:nvSpPr>
            <p:cNvPr id="18" name="Freeform 18"/>
            <p:cNvSpPr/>
            <p:nvPr/>
          </p:nvSpPr>
          <p:spPr>
            <a:xfrm>
              <a:off x="0" y="0"/>
              <a:ext cx="512064" cy="512064"/>
            </a:xfrm>
            <a:custGeom>
              <a:avLst/>
              <a:gdLst/>
              <a:ahLst/>
              <a:cxnLst/>
              <a:rect l="l" t="t" r="r" b="b"/>
              <a:pathLst>
                <a:path w="512064" h="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3B567A"/>
            </a:solidFill>
          </p:spPr>
          <p:txBody>
            <a:bodyPr/>
            <a:lstStyle/>
            <a:p>
              <a:endParaRPr lang="en-US"/>
            </a:p>
          </p:txBody>
        </p:sp>
      </p:grpSp>
      <p:sp>
        <p:nvSpPr>
          <p:cNvPr id="19" name="Freeform 19"/>
          <p:cNvSpPr/>
          <p:nvPr/>
        </p:nvSpPr>
        <p:spPr>
          <a:xfrm rot="-10708320">
            <a:off x="-2226888" y="1406709"/>
            <a:ext cx="3194580" cy="4114800"/>
          </a:xfrm>
          <a:custGeom>
            <a:avLst/>
            <a:gdLst/>
            <a:ahLst/>
            <a:cxnLst/>
            <a:rect l="l" t="t" r="r" b="b"/>
            <a:pathLst>
              <a:path w="3194580" h="4114800">
                <a:moveTo>
                  <a:pt x="0" y="0"/>
                </a:moveTo>
                <a:lnTo>
                  <a:pt x="3194580" y="0"/>
                </a:lnTo>
                <a:lnTo>
                  <a:pt x="319458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l="-389" r="-389"/>
            </a:stretch>
          </a:blipFill>
        </p:spPr>
        <p:txBody>
          <a:bodyPr/>
          <a:lstStyle/>
          <a:p>
            <a:endParaRPr lang="en-US"/>
          </a:p>
        </p:txBody>
      </p:sp>
      <p:sp>
        <p:nvSpPr>
          <p:cNvPr id="20" name="Freeform 20"/>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1" name="TextBox 21"/>
          <p:cNvSpPr txBox="1"/>
          <p:nvPr/>
        </p:nvSpPr>
        <p:spPr>
          <a:xfrm>
            <a:off x="7543800" y="4434840"/>
            <a:ext cx="9418320" cy="228600"/>
          </a:xfrm>
          <a:prstGeom prst="rect">
            <a:avLst/>
          </a:prstGeom>
        </p:spPr>
        <p:txBody>
          <a:bodyPr lIns="0" tIns="0" rIns="0" bIns="0" rtlCol="0" anchor="t">
            <a:spAutoFit/>
          </a:bodyPr>
          <a:lstStyle/>
          <a:p>
            <a:pPr algn="l">
              <a:lnSpc>
                <a:spcPts val="1800"/>
              </a:lnSpc>
            </a:pPr>
            <a:r>
              <a:rPr lang="en-US" sz="1500">
                <a:solidFill>
                  <a:srgbClr val="545454"/>
                </a:solidFill>
                <a:latin typeface="Open Sans 2"/>
                <a:ea typeface="Open Sans 2"/>
                <a:cs typeface="Open Sans 2"/>
                <a:sym typeface="Open Sans 2"/>
              </a:rPr>
              <a:t>Página de firmas del acta (PDF)</a:t>
            </a:r>
          </a:p>
        </p:txBody>
      </p:sp>
      <p:sp>
        <p:nvSpPr>
          <p:cNvPr id="22" name="TextBox 22"/>
          <p:cNvSpPr txBox="1"/>
          <p:nvPr/>
        </p:nvSpPr>
        <p:spPr>
          <a:xfrm>
            <a:off x="8001000" y="5349240"/>
            <a:ext cx="9144000" cy="704850"/>
          </a:xfrm>
          <a:prstGeom prst="rect">
            <a:avLst/>
          </a:prstGeom>
        </p:spPr>
        <p:txBody>
          <a:bodyPr lIns="0" tIns="0" rIns="0" bIns="0" rtlCol="0" anchor="t">
            <a:spAutoFit/>
          </a:bodyPr>
          <a:lstStyle/>
          <a:p>
            <a:pPr algn="l">
              <a:lnSpc>
                <a:spcPts val="3119"/>
              </a:lnSpc>
            </a:pPr>
            <a:r>
              <a:rPr lang="en-US" sz="2599" b="1">
                <a:solidFill>
                  <a:srgbClr val="3B567A"/>
                </a:solidFill>
                <a:latin typeface="League Spartan"/>
                <a:ea typeface="League Spartan"/>
                <a:cs typeface="League Spartan"/>
                <a:sym typeface="League Spartan"/>
              </a:rPr>
              <a:t>Realizado el 24/09 por Zoom</a:t>
            </a:r>
          </a:p>
          <a:p>
            <a:pPr algn="l">
              <a:lnSpc>
                <a:spcPts val="2519"/>
              </a:lnSpc>
            </a:pPr>
            <a:r>
              <a:rPr lang="en-US" sz="2099">
                <a:solidFill>
                  <a:srgbClr val="545454"/>
                </a:solidFill>
                <a:latin typeface="Open Sans 2"/>
                <a:ea typeface="Open Sans 2"/>
                <a:cs typeface="Open Sans 2"/>
                <a:sym typeface="Open Sans 2"/>
              </a:rPr>
              <a:t>Sprint Review con Karin Pohl, Product Owner de Masterbase</a:t>
            </a:r>
          </a:p>
        </p:txBody>
      </p:sp>
      <p:sp>
        <p:nvSpPr>
          <p:cNvPr id="23" name="TextBox 23"/>
          <p:cNvSpPr txBox="1"/>
          <p:nvPr/>
        </p:nvSpPr>
        <p:spPr>
          <a:xfrm>
            <a:off x="8001000" y="6629400"/>
            <a:ext cx="9144000" cy="781050"/>
          </a:xfrm>
          <a:prstGeom prst="rect">
            <a:avLst/>
          </a:prstGeom>
        </p:spPr>
        <p:txBody>
          <a:bodyPr lIns="0" tIns="0" rIns="0" bIns="0" rtlCol="0" anchor="t">
            <a:spAutoFit/>
          </a:bodyPr>
          <a:lstStyle/>
          <a:p>
            <a:pPr algn="l">
              <a:lnSpc>
                <a:spcPts val="3119"/>
              </a:lnSpc>
            </a:pPr>
            <a:r>
              <a:rPr lang="en-US" sz="2599" b="1">
                <a:solidFill>
                  <a:srgbClr val="3B567A"/>
                </a:solidFill>
                <a:latin typeface="League Spartan"/>
                <a:ea typeface="League Spartan"/>
                <a:cs typeface="League Spartan"/>
                <a:sym typeface="League Spartan"/>
              </a:rPr>
              <a:t>Revisamos 12 historias de usuarios y sus criterios de aceptación</a:t>
            </a:r>
          </a:p>
        </p:txBody>
      </p:sp>
      <p:sp>
        <p:nvSpPr>
          <p:cNvPr id="24" name="TextBox 24"/>
          <p:cNvSpPr txBox="1"/>
          <p:nvPr/>
        </p:nvSpPr>
        <p:spPr>
          <a:xfrm>
            <a:off x="8001000" y="7909560"/>
            <a:ext cx="9144000" cy="1019175"/>
          </a:xfrm>
          <a:prstGeom prst="rect">
            <a:avLst/>
          </a:prstGeom>
        </p:spPr>
        <p:txBody>
          <a:bodyPr lIns="0" tIns="0" rIns="0" bIns="0" rtlCol="0" anchor="t">
            <a:spAutoFit/>
          </a:bodyPr>
          <a:lstStyle/>
          <a:p>
            <a:pPr algn="l">
              <a:lnSpc>
                <a:spcPts val="3119"/>
              </a:lnSpc>
            </a:pPr>
            <a:r>
              <a:rPr lang="en-US" sz="2599" b="1">
                <a:solidFill>
                  <a:srgbClr val="3B567A"/>
                </a:solidFill>
                <a:latin typeface="League Spartan"/>
                <a:ea typeface="League Spartan"/>
                <a:cs typeface="League Spartan"/>
                <a:sym typeface="League Spartan"/>
              </a:rPr>
              <a:t>7 observaciones del cliente</a:t>
            </a:r>
          </a:p>
          <a:p>
            <a:pPr algn="l">
              <a:lnSpc>
                <a:spcPts val="2519"/>
              </a:lnSpc>
            </a:pPr>
            <a:r>
              <a:rPr lang="en-US" sz="2099">
                <a:solidFill>
                  <a:srgbClr val="545454"/>
                </a:solidFill>
                <a:latin typeface="Open Sans 2"/>
                <a:ea typeface="Open Sans 2"/>
                <a:cs typeface="Open Sans 2"/>
                <a:sym typeface="Open Sans 2"/>
              </a:rPr>
              <a:t>T</a:t>
            </a:r>
            <a:r>
              <a:rPr lang="en-US" sz="2099" b="1">
                <a:solidFill>
                  <a:srgbClr val="545454"/>
                </a:solidFill>
                <a:latin typeface="Open Sans 2 Bold"/>
                <a:ea typeface="Open Sans 2 Bold"/>
                <a:cs typeface="Open Sans 2 Bold"/>
                <a:sym typeface="Open Sans 2 Bold"/>
              </a:rPr>
              <a:t>ipo de documento, historial con estado, notificaciones por perfil, versiones y plazos; pasaron al backlog</a:t>
            </a:r>
          </a:p>
        </p:txBody>
      </p:sp>
      <p:sp>
        <p:nvSpPr>
          <p:cNvPr id="25" name="TextBox 25"/>
          <p:cNvSpPr txBox="1"/>
          <p:nvPr/>
        </p:nvSpPr>
        <p:spPr>
          <a:xfrm>
            <a:off x="7406640" y="9300210"/>
            <a:ext cx="6241489" cy="314325"/>
          </a:xfrm>
          <a:prstGeom prst="rect">
            <a:avLst/>
          </a:prstGeom>
        </p:spPr>
        <p:txBody>
          <a:bodyPr lIns="0" tIns="0" rIns="0" bIns="0" rtlCol="0" anchor="t">
            <a:spAutoFit/>
          </a:bodyPr>
          <a:lstStyle/>
          <a:p>
            <a:pPr algn="l">
              <a:lnSpc>
                <a:spcPts val="2519"/>
              </a:lnSpc>
            </a:pPr>
            <a:r>
              <a:rPr lang="en-US" sz="2099" b="1" i="1">
                <a:solidFill>
                  <a:srgbClr val="7F69C1"/>
                </a:solidFill>
                <a:latin typeface="Open Sans 2 Bold Italics"/>
                <a:ea typeface="Open Sans 2 Bold Italics"/>
                <a:cs typeface="Open Sans 2 Bold Italics"/>
                <a:sym typeface="Open Sans 2 Bold Italics"/>
              </a:rPr>
              <a:t>Sprint 2: Review con la clienta al cierre, el 16/10</a:t>
            </a:r>
          </a:p>
        </p:txBody>
      </p:sp>
      <p:sp>
        <p:nvSpPr>
          <p:cNvPr id="26" name="TextBox 2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2447925"/>
          </a:xfrm>
          <a:prstGeom prst="rect">
            <a:avLst/>
          </a:prstGeom>
        </p:spPr>
        <p:txBody>
          <a:bodyPr lIns="0" tIns="0" rIns="0" bIns="0" rtlCol="0" anchor="t">
            <a:spAutoFit/>
          </a:bodyPr>
          <a:lstStyle/>
          <a:p>
            <a:pPr algn="ctr">
              <a:lnSpc>
                <a:spcPts val="9600"/>
              </a:lnSpc>
            </a:pPr>
            <a:r>
              <a:rPr lang="en-US" sz="8000" b="1">
                <a:solidFill>
                  <a:srgbClr val="FFFFFF"/>
                </a:solidFill>
                <a:latin typeface="League Spartan"/>
                <a:ea typeface="League Spartan"/>
                <a:cs typeface="League Spartan"/>
                <a:sym typeface="League Spartan"/>
              </a:rPr>
              <a:t>Sprint 2</a:t>
            </a:r>
          </a:p>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En curso</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Freeform 2"/>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4" name="Freeform 4"/>
          <p:cNvSpPr/>
          <p:nvPr/>
        </p:nvSpPr>
        <p:spPr>
          <a:xfrm>
            <a:off x="0" y="3222993"/>
            <a:ext cx="18288000" cy="6624250"/>
          </a:xfrm>
          <a:custGeom>
            <a:avLst/>
            <a:gdLst/>
            <a:ahLst/>
            <a:cxnLst/>
            <a:rect l="l" t="t" r="r" b="b"/>
            <a:pathLst>
              <a:path w="18288000" h="6624250">
                <a:moveTo>
                  <a:pt x="0" y="0"/>
                </a:moveTo>
                <a:lnTo>
                  <a:pt x="18288000" y="0"/>
                </a:lnTo>
                <a:lnTo>
                  <a:pt x="18288000" y="6624250"/>
                </a:lnTo>
                <a:lnTo>
                  <a:pt x="0" y="6624250"/>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32</a:t>
            </a:r>
          </a:p>
        </p:txBody>
      </p:sp>
      <p:sp>
        <p:nvSpPr>
          <p:cNvPr id="6" name="TextBox 6"/>
          <p:cNvSpPr txBox="1"/>
          <p:nvPr/>
        </p:nvSpPr>
        <p:spPr>
          <a:xfrm>
            <a:off x="2103120" y="845238"/>
            <a:ext cx="14443919" cy="1143000"/>
          </a:xfrm>
          <a:prstGeom prst="rect">
            <a:avLst/>
          </a:prstGeom>
        </p:spPr>
        <p:txBody>
          <a:bodyPr lIns="0" tIns="0" rIns="0" bIns="0" rtlCol="0" anchor="t">
            <a:spAutoFit/>
          </a:bodyPr>
          <a:lstStyle/>
          <a:p>
            <a:pPr marL="0" lvl="0" indent="0" algn="ctr">
              <a:lnSpc>
                <a:spcPts val="9000"/>
              </a:lnSpc>
              <a:spcBef>
                <a:spcPct val="0"/>
              </a:spcBef>
            </a:pPr>
            <a:r>
              <a:rPr lang="en-US" sz="7500" b="1">
                <a:solidFill>
                  <a:srgbClr val="3B567A"/>
                </a:solidFill>
                <a:latin typeface="League Spartan"/>
                <a:ea typeface="League Spartan"/>
                <a:cs typeface="League Spartan"/>
                <a:sym typeface="League Spartan"/>
              </a:rPr>
              <a:t>Sprint 2 - Backlog</a:t>
            </a:r>
          </a:p>
        </p:txBody>
      </p:sp>
      <p:sp>
        <p:nvSpPr>
          <p:cNvPr id="7" name="TextBox 7"/>
          <p:cNvSpPr txBox="1"/>
          <p:nvPr/>
        </p:nvSpPr>
        <p:spPr>
          <a:xfrm>
            <a:off x="2103120" y="1859995"/>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 10.1 Sprint backlog</a:t>
            </a:r>
          </a:p>
        </p:txBody>
      </p:sp>
      <p:sp>
        <p:nvSpPr>
          <p:cNvPr id="8" name="TextBox 8"/>
          <p:cNvSpPr txBox="1"/>
          <p:nvPr/>
        </p:nvSpPr>
        <p:spPr>
          <a:xfrm>
            <a:off x="3973860" y="2546718"/>
            <a:ext cx="10340280" cy="390525"/>
          </a:xfrm>
          <a:prstGeom prst="rect">
            <a:avLst/>
          </a:prstGeom>
        </p:spPr>
        <p:txBody>
          <a:bodyPr lIns="0" tIns="0" rIns="0" bIns="0" rtlCol="0" anchor="t">
            <a:spAutoFit/>
          </a:bodyPr>
          <a:lstStyle/>
          <a:p>
            <a:pPr algn="ctr">
              <a:lnSpc>
                <a:spcPts val="3120"/>
              </a:lnSpc>
              <a:spcBef>
                <a:spcPct val="0"/>
              </a:spcBef>
            </a:pPr>
            <a:r>
              <a:rPr lang="en-US" sz="2600" b="1">
                <a:solidFill>
                  <a:srgbClr val="000000"/>
                </a:solidFill>
                <a:latin typeface="League Spartan"/>
                <a:ea typeface="League Spartan"/>
                <a:cs typeface="League Spartan"/>
                <a:sym typeface="League Spartan"/>
              </a:rPr>
              <a:t>Planificamos 14 historias de usuario. Llevamos 12 completas.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299065" y="873813"/>
            <a:ext cx="14084886" cy="1171575"/>
          </a:xfrm>
          <a:prstGeom prst="rect">
            <a:avLst/>
          </a:prstGeom>
        </p:spPr>
        <p:txBody>
          <a:bodyPr lIns="0" tIns="0" rIns="0" bIns="0" rtlCol="0" anchor="t">
            <a:spAutoFit/>
          </a:bodyPr>
          <a:lstStyle/>
          <a:p>
            <a:pPr marL="0" lvl="0" indent="0" algn="ctr">
              <a:lnSpc>
                <a:spcPts val="9360"/>
              </a:lnSpc>
              <a:spcBef>
                <a:spcPct val="0"/>
              </a:spcBef>
            </a:pPr>
            <a:r>
              <a:rPr lang="en-US" sz="7800" b="1">
                <a:solidFill>
                  <a:srgbClr val="3B567A"/>
                </a:solidFill>
                <a:latin typeface="League Spartan"/>
                <a:ea typeface="League Spartan"/>
                <a:cs typeface="League Spartan"/>
                <a:sym typeface="League Spartan"/>
              </a:rPr>
              <a:t>Sprint 2 - kanban</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Freeform 5"/>
          <p:cNvSpPr/>
          <p:nvPr/>
        </p:nvSpPr>
        <p:spPr>
          <a:xfrm>
            <a:off x="598205" y="2578788"/>
            <a:ext cx="17091589" cy="7438284"/>
          </a:xfrm>
          <a:custGeom>
            <a:avLst/>
            <a:gdLst/>
            <a:ahLst/>
            <a:cxnLst/>
            <a:rect l="l" t="t" r="r" b="b"/>
            <a:pathLst>
              <a:path w="17091589" h="7438284">
                <a:moveTo>
                  <a:pt x="0" y="0"/>
                </a:moveTo>
                <a:lnTo>
                  <a:pt x="17091590" y="0"/>
                </a:lnTo>
                <a:lnTo>
                  <a:pt x="17091590" y="7438283"/>
                </a:lnTo>
                <a:lnTo>
                  <a:pt x="0" y="7438283"/>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33</a:t>
            </a:r>
          </a:p>
        </p:txBody>
      </p:sp>
      <p:sp>
        <p:nvSpPr>
          <p:cNvPr id="7" name="TextBox 7"/>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10.2 Kanban Board (Trello)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1668581" y="975757"/>
            <a:ext cx="15066938" cy="838200"/>
          </a:xfrm>
          <a:prstGeom prst="rect">
            <a:avLst/>
          </a:prstGeom>
        </p:spPr>
        <p:txBody>
          <a:bodyPr lIns="0" tIns="0" rIns="0" bIns="0" rtlCol="0" anchor="t">
            <a:spAutoFit/>
          </a:bodyPr>
          <a:lstStyle/>
          <a:p>
            <a:pPr marL="0" lvl="0" indent="0" algn="ctr">
              <a:lnSpc>
                <a:spcPts val="6600"/>
              </a:lnSpc>
              <a:spcBef>
                <a:spcPct val="0"/>
              </a:spcBef>
            </a:pPr>
            <a:r>
              <a:rPr lang="en-US" sz="5500" b="1">
                <a:solidFill>
                  <a:srgbClr val="3B567A"/>
                </a:solidFill>
                <a:latin typeface="League Spartan"/>
                <a:ea typeface="League Spartan"/>
                <a:cs typeface="League Spartan"/>
                <a:sym typeface="League Spartan"/>
              </a:rPr>
              <a:t>Sprint 2 - Impedimentos</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028700" y="2769288"/>
            <a:ext cx="3108960" cy="1005840"/>
            <a:chOff x="0" y="0"/>
            <a:chExt cx="4145280" cy="1341120"/>
          </a:xfrm>
        </p:grpSpPr>
        <p:sp>
          <p:nvSpPr>
            <p:cNvPr id="5" name="Freeform 5"/>
            <p:cNvSpPr/>
            <p:nvPr/>
          </p:nvSpPr>
          <p:spPr>
            <a:xfrm>
              <a:off x="0" y="0"/>
              <a:ext cx="4145280" cy="1341120"/>
            </a:xfrm>
            <a:custGeom>
              <a:avLst/>
              <a:gdLst/>
              <a:ahLst/>
              <a:cxnLst/>
              <a:rect l="l" t="t" r="r" b="b"/>
              <a:pathLst>
                <a:path w="4145280" h="1341120">
                  <a:moveTo>
                    <a:pt x="0" y="0"/>
                  </a:moveTo>
                  <a:lnTo>
                    <a:pt x="4145280" y="0"/>
                  </a:lnTo>
                  <a:lnTo>
                    <a:pt x="4145280" y="1341120"/>
                  </a:lnTo>
                  <a:lnTo>
                    <a:pt x="0" y="1341120"/>
                  </a:lnTo>
                  <a:close/>
                </a:path>
              </a:pathLst>
            </a:custGeom>
            <a:blipFill>
              <a:blip r:embed="rId3">
                <a:alphaModFix amt="0"/>
              </a:blip>
              <a:stretch>
                <a:fillRect t="-10226" b="-10226"/>
              </a:stretch>
            </a:blipFill>
            <a:ln cap="sq">
              <a:noFill/>
              <a:prstDash val="solid"/>
              <a:miter/>
            </a:ln>
          </p:spPr>
          <p:txBody>
            <a:bodyPr/>
            <a:lstStyle/>
            <a:p>
              <a:endParaRPr lang="en-US"/>
            </a:p>
          </p:txBody>
        </p:sp>
        <p:sp>
          <p:nvSpPr>
            <p:cNvPr id="6" name="TextBox 6"/>
            <p:cNvSpPr txBox="1"/>
            <p:nvPr/>
          </p:nvSpPr>
          <p:spPr>
            <a:xfrm>
              <a:off x="0" y="0"/>
              <a:ext cx="4145280" cy="1341120"/>
            </a:xfrm>
            <a:prstGeom prst="rect">
              <a:avLst/>
            </a:prstGeom>
          </p:spPr>
          <p:txBody>
            <a:bodyPr lIns="0" tIns="0" rIns="0" bIns="0" rtlCol="0" anchor="ctr"/>
            <a:lstStyle/>
            <a:p>
              <a:pPr algn="l">
                <a:lnSpc>
                  <a:spcPts val="3360"/>
                </a:lnSpc>
              </a:pPr>
              <a:r>
                <a:rPr lang="en-US" sz="2800" b="1">
                  <a:solidFill>
                    <a:srgbClr val="3B567A"/>
                  </a:solidFill>
                  <a:latin typeface="League Spartan"/>
                  <a:ea typeface="League Spartan"/>
                  <a:cs typeface="League Spartan"/>
                  <a:sym typeface="League Spartan"/>
                </a:rPr>
                <a:t>1 Impedimentos</a:t>
              </a:r>
            </a:p>
          </p:txBody>
        </p:sp>
      </p:grpSp>
      <p:grpSp>
        <p:nvGrpSpPr>
          <p:cNvPr id="7" name="Group 7"/>
          <p:cNvGrpSpPr/>
          <p:nvPr/>
        </p:nvGrpSpPr>
        <p:grpSpPr>
          <a:xfrm>
            <a:off x="4137660" y="2769288"/>
            <a:ext cx="3840480" cy="1005840"/>
            <a:chOff x="0" y="0"/>
            <a:chExt cx="5120640" cy="1341120"/>
          </a:xfrm>
        </p:grpSpPr>
        <p:sp>
          <p:nvSpPr>
            <p:cNvPr id="8" name="Freeform 8"/>
            <p:cNvSpPr/>
            <p:nvPr/>
          </p:nvSpPr>
          <p:spPr>
            <a:xfrm>
              <a:off x="0" y="0"/>
              <a:ext cx="5120640" cy="1341120"/>
            </a:xfrm>
            <a:custGeom>
              <a:avLst/>
              <a:gdLst/>
              <a:ahLst/>
              <a:cxnLst/>
              <a:rect l="l" t="t" r="r" b="b"/>
              <a:pathLst>
                <a:path w="5120640" h="1341120">
                  <a:moveTo>
                    <a:pt x="0" y="0"/>
                  </a:moveTo>
                  <a:lnTo>
                    <a:pt x="5120640" y="0"/>
                  </a:lnTo>
                  <a:lnTo>
                    <a:pt x="5120640" y="1341120"/>
                  </a:lnTo>
                  <a:lnTo>
                    <a:pt x="0" y="1341120"/>
                  </a:lnTo>
                  <a:close/>
                </a:path>
              </a:pathLst>
            </a:custGeom>
            <a:blipFill>
              <a:blip r:embed="rId3">
                <a:alphaModFix amt="0"/>
              </a:blip>
              <a:stretch>
                <a:fillRect t="-24397" b="-24397"/>
              </a:stretch>
            </a:blipFill>
            <a:ln cap="sq">
              <a:noFill/>
              <a:prstDash val="solid"/>
              <a:miter/>
            </a:ln>
          </p:spPr>
          <p:txBody>
            <a:bodyPr/>
            <a:lstStyle/>
            <a:p>
              <a:endParaRPr lang="en-US"/>
            </a:p>
          </p:txBody>
        </p:sp>
        <p:sp>
          <p:nvSpPr>
            <p:cNvPr id="9" name="TextBox 9"/>
            <p:cNvSpPr txBox="1"/>
            <p:nvPr/>
          </p:nvSpPr>
          <p:spPr>
            <a:xfrm>
              <a:off x="0" y="0"/>
              <a:ext cx="5120640" cy="1341120"/>
            </a:xfrm>
            <a:prstGeom prst="rect">
              <a:avLst/>
            </a:prstGeom>
          </p:spPr>
          <p:txBody>
            <a:bodyPr lIns="0" tIns="0" rIns="0" bIns="0" rtlCol="0" anchor="ctr"/>
            <a:lstStyle/>
            <a:p>
              <a:pPr marL="453390" lvl="1" indent="-226695" algn="l">
                <a:lnSpc>
                  <a:spcPts val="2520"/>
                </a:lnSpc>
                <a:buFont typeface="Arial"/>
                <a:buChar char="•"/>
              </a:pPr>
              <a:r>
                <a:rPr lang="en-US" sz="2100" b="1">
                  <a:solidFill>
                    <a:srgbClr val="545454"/>
                  </a:solidFill>
                  <a:latin typeface="Open Sans 2 Bold"/>
                  <a:ea typeface="Open Sans 2 Bold"/>
                  <a:cs typeface="Open Sans 2 Bold"/>
                  <a:sym typeface="Open Sans 2 Bold"/>
                </a:rPr>
                <a:t>Resuelto!</a:t>
              </a:r>
            </a:p>
          </p:txBody>
        </p:sp>
      </p:grpSp>
      <p:sp>
        <p:nvSpPr>
          <p:cNvPr id="10" name="Freeform 10"/>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4"/>
            <a:stretch>
              <a:fillRect/>
            </a:stretch>
          </a:blipFill>
        </p:spPr>
        <p:txBody>
          <a:bodyPr/>
          <a:lstStyle/>
          <a:p>
            <a:endParaRPr lang="en-US"/>
          </a:p>
        </p:txBody>
      </p:sp>
      <p:sp>
        <p:nvSpPr>
          <p:cNvPr id="11" name="Freeform 11"/>
          <p:cNvSpPr/>
          <p:nvPr/>
        </p:nvSpPr>
        <p:spPr>
          <a:xfrm>
            <a:off x="280203" y="3775128"/>
            <a:ext cx="17657986" cy="2362329"/>
          </a:xfrm>
          <a:custGeom>
            <a:avLst/>
            <a:gdLst/>
            <a:ahLst/>
            <a:cxnLst/>
            <a:rect l="l" t="t" r="r" b="b"/>
            <a:pathLst>
              <a:path w="17657986" h="2362329">
                <a:moveTo>
                  <a:pt x="0" y="0"/>
                </a:moveTo>
                <a:lnTo>
                  <a:pt x="17657986" y="0"/>
                </a:lnTo>
                <a:lnTo>
                  <a:pt x="17657986" y="2362329"/>
                </a:lnTo>
                <a:lnTo>
                  <a:pt x="0" y="2362329"/>
                </a:lnTo>
                <a:lnTo>
                  <a:pt x="0" y="0"/>
                </a:lnTo>
                <a:close/>
              </a:path>
            </a:pathLst>
          </a:custGeom>
          <a:blipFill>
            <a:blip r:embed="rId5"/>
            <a:stretch>
              <a:fillRect/>
            </a:stretch>
          </a:blipFill>
        </p:spPr>
        <p:txBody>
          <a:bodyPr/>
          <a:lstStyle/>
          <a:p>
            <a:endParaRPr lang="en-US"/>
          </a:p>
        </p:txBody>
      </p:sp>
      <p:sp>
        <p:nvSpPr>
          <p:cNvPr id="12" name="TextBox 12"/>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34</a:t>
            </a:r>
          </a:p>
        </p:txBody>
      </p:sp>
      <p:sp>
        <p:nvSpPr>
          <p:cNvPr id="13" name="TextBox 13"/>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10.3 Log de Impedimentos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1668581" y="975757"/>
            <a:ext cx="15066938" cy="838200"/>
          </a:xfrm>
          <a:prstGeom prst="rect">
            <a:avLst/>
          </a:prstGeom>
        </p:spPr>
        <p:txBody>
          <a:bodyPr lIns="0" tIns="0" rIns="0" bIns="0" rtlCol="0" anchor="t">
            <a:spAutoFit/>
          </a:bodyPr>
          <a:lstStyle/>
          <a:p>
            <a:pPr marL="0" lvl="0" indent="0" algn="ctr">
              <a:lnSpc>
                <a:spcPts val="6600"/>
              </a:lnSpc>
              <a:spcBef>
                <a:spcPct val="0"/>
              </a:spcBef>
            </a:pPr>
            <a:r>
              <a:rPr lang="en-US" sz="5500" b="1">
                <a:solidFill>
                  <a:srgbClr val="3B567A"/>
                </a:solidFill>
                <a:latin typeface="League Spartan"/>
                <a:ea typeface="League Spartan"/>
                <a:cs typeface="League Spartan"/>
                <a:sym typeface="League Spartan"/>
              </a:rPr>
              <a:t>Sprint 1 - burndown chart</a:t>
            </a:r>
          </a:p>
        </p:txBody>
      </p:sp>
      <p:sp>
        <p:nvSpPr>
          <p:cNvPr id="3" name="Freeform 3"/>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Freeform 5"/>
          <p:cNvSpPr/>
          <p:nvPr/>
        </p:nvSpPr>
        <p:spPr>
          <a:xfrm>
            <a:off x="280203" y="3336958"/>
            <a:ext cx="8138009" cy="4113164"/>
          </a:xfrm>
          <a:custGeom>
            <a:avLst/>
            <a:gdLst/>
            <a:ahLst/>
            <a:cxnLst/>
            <a:rect l="l" t="t" r="r" b="b"/>
            <a:pathLst>
              <a:path w="8138009" h="4113164">
                <a:moveTo>
                  <a:pt x="0" y="0"/>
                </a:moveTo>
                <a:lnTo>
                  <a:pt x="8138009" y="0"/>
                </a:lnTo>
                <a:lnTo>
                  <a:pt x="8138009" y="4113164"/>
                </a:lnTo>
                <a:lnTo>
                  <a:pt x="0" y="4113164"/>
                </a:lnTo>
                <a:lnTo>
                  <a:pt x="0" y="0"/>
                </a:lnTo>
                <a:close/>
              </a:path>
            </a:pathLst>
          </a:custGeom>
          <a:blipFill>
            <a:blip r:embed="rId4"/>
            <a:stretch>
              <a:fillRect/>
            </a:stretch>
          </a:blipFill>
        </p:spPr>
        <p:txBody>
          <a:bodyPr/>
          <a:lstStyle/>
          <a:p>
            <a:endParaRPr lang="en-US"/>
          </a:p>
        </p:txBody>
      </p:sp>
      <p:sp>
        <p:nvSpPr>
          <p:cNvPr id="6" name="Freeform 6"/>
          <p:cNvSpPr/>
          <p:nvPr/>
        </p:nvSpPr>
        <p:spPr>
          <a:xfrm>
            <a:off x="8732852" y="2894522"/>
            <a:ext cx="9236375" cy="5308450"/>
          </a:xfrm>
          <a:custGeom>
            <a:avLst/>
            <a:gdLst/>
            <a:ahLst/>
            <a:cxnLst/>
            <a:rect l="l" t="t" r="r" b="b"/>
            <a:pathLst>
              <a:path w="9236375" h="5308450">
                <a:moveTo>
                  <a:pt x="0" y="0"/>
                </a:moveTo>
                <a:lnTo>
                  <a:pt x="9236374" y="0"/>
                </a:lnTo>
                <a:lnTo>
                  <a:pt x="9236374" y="5308450"/>
                </a:lnTo>
                <a:lnTo>
                  <a:pt x="0" y="5308450"/>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35</a:t>
            </a:r>
          </a:p>
        </p:txBody>
      </p:sp>
      <p:sp>
        <p:nvSpPr>
          <p:cNvPr id="8" name="TextBox 8"/>
          <p:cNvSpPr txBox="1"/>
          <p:nvPr/>
        </p:nvSpPr>
        <p:spPr>
          <a:xfrm>
            <a:off x="2103120" y="2073963"/>
            <a:ext cx="14081760" cy="400050"/>
          </a:xfrm>
          <a:prstGeom prst="rect">
            <a:avLst/>
          </a:prstGeom>
        </p:spPr>
        <p:txBody>
          <a:bodyPr lIns="0" tIns="0" rIns="0" bIns="0" rtlCol="0" anchor="t">
            <a:spAutoFit/>
          </a:bodyPr>
          <a:lstStyle/>
          <a:p>
            <a:pPr algn="ctr">
              <a:lnSpc>
                <a:spcPts val="3120"/>
              </a:lnSpc>
            </a:pPr>
            <a:r>
              <a:rPr lang="en-US" sz="2600">
                <a:solidFill>
                  <a:srgbClr val="000000"/>
                </a:solidFill>
                <a:latin typeface="Raleway"/>
                <a:ea typeface="Raleway"/>
                <a:cs typeface="Raleway"/>
                <a:sym typeface="Raleway"/>
              </a:rPr>
              <a:t>10.4 Burndown chart</a:t>
            </a:r>
          </a:p>
        </p:txBody>
      </p:sp>
      <p:sp>
        <p:nvSpPr>
          <p:cNvPr id="9" name="TextBox 9"/>
          <p:cNvSpPr txBox="1"/>
          <p:nvPr/>
        </p:nvSpPr>
        <p:spPr>
          <a:xfrm>
            <a:off x="280203" y="8316897"/>
            <a:ext cx="8452648" cy="1085850"/>
          </a:xfrm>
          <a:prstGeom prst="rect">
            <a:avLst/>
          </a:prstGeom>
        </p:spPr>
        <p:txBody>
          <a:bodyPr lIns="0" tIns="0" rIns="0" bIns="0" rtlCol="0" anchor="t">
            <a:spAutoFit/>
          </a:bodyPr>
          <a:lstStyle/>
          <a:p>
            <a:pPr algn="l">
              <a:lnSpc>
                <a:spcPts val="2905"/>
              </a:lnSpc>
            </a:pPr>
            <a:r>
              <a:rPr lang="en-US" sz="2421" b="1">
                <a:solidFill>
                  <a:srgbClr val="7F69C1"/>
                </a:solidFill>
                <a:latin typeface="Open Sans 2 Bold"/>
                <a:ea typeface="Open Sans 2 Bold"/>
                <a:cs typeface="Open Sans 2 Bold"/>
                <a:sym typeface="Open Sans 2 Bold"/>
              </a:rPr>
              <a:t>Sprint 2</a:t>
            </a:r>
            <a:r>
              <a:rPr lang="en-US" sz="2421" b="1">
                <a:solidFill>
                  <a:srgbClr val="000000"/>
                </a:solidFill>
                <a:latin typeface="Open Sans 2 Bold"/>
                <a:ea typeface="Open Sans 2 Bold"/>
                <a:cs typeface="Open Sans 2 Bold"/>
                <a:sym typeface="Open Sans 2 Bold"/>
              </a:rPr>
              <a:t>: </a:t>
            </a:r>
            <a:r>
              <a:rPr lang="en-US" sz="2421">
                <a:solidFill>
                  <a:srgbClr val="000000"/>
                </a:solidFill>
                <a:latin typeface="Open Sans 2"/>
                <a:ea typeface="Open Sans 2"/>
                <a:cs typeface="Open Sans 2"/>
                <a:sym typeface="Open Sans 2"/>
              </a:rPr>
              <a:t>Al día de hoy, 12/10, se estiman 20 h pendientes.</a:t>
            </a:r>
          </a:p>
          <a:p>
            <a:pPr algn="l">
              <a:lnSpc>
                <a:spcPts val="2905"/>
              </a:lnSpc>
            </a:pPr>
            <a:endParaRPr lang="en-US" sz="2421">
              <a:solidFill>
                <a:srgbClr val="000000"/>
              </a:solidFill>
              <a:latin typeface="Open Sans 2"/>
              <a:ea typeface="Open Sans 2"/>
              <a:cs typeface="Open Sans 2"/>
              <a:sym typeface="Open Sans 2"/>
            </a:endParaRPr>
          </a:p>
          <a:p>
            <a:pPr algn="l">
              <a:lnSpc>
                <a:spcPts val="2905"/>
              </a:lnSpc>
            </a:pPr>
            <a:r>
              <a:rPr lang="en-US" sz="2421">
                <a:solidFill>
                  <a:srgbClr val="000000"/>
                </a:solidFill>
                <a:latin typeface="Open Sans 2"/>
                <a:ea typeface="Open Sans 2"/>
                <a:cs typeface="Open Sans 2"/>
                <a:sym typeface="Open Sans 2"/>
              </a:rPr>
              <a:t>Vamos 4 horas adelantados, sin ningún atraso importante.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11 Cronograma</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423582" y="0"/>
            <a:ext cx="13236826" cy="10287000"/>
          </a:xfrm>
          <a:custGeom>
            <a:avLst/>
            <a:gdLst/>
            <a:ahLst/>
            <a:cxnLst/>
            <a:rect l="l" t="t" r="r" b="b"/>
            <a:pathLst>
              <a:path w="13236826" h="10287000">
                <a:moveTo>
                  <a:pt x="0" y="0"/>
                </a:moveTo>
                <a:lnTo>
                  <a:pt x="13236826" y="0"/>
                </a:lnTo>
                <a:lnTo>
                  <a:pt x="13236826" y="10287000"/>
                </a:lnTo>
                <a:lnTo>
                  <a:pt x="0" y="10287000"/>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13460441" y="243434"/>
            <a:ext cx="457755" cy="11297988"/>
            <a:chOff x="0" y="0"/>
            <a:chExt cx="120561" cy="2975602"/>
          </a:xfrm>
        </p:grpSpPr>
        <p:sp>
          <p:nvSpPr>
            <p:cNvPr id="5" name="Freeform 5"/>
            <p:cNvSpPr/>
            <p:nvPr/>
          </p:nvSpPr>
          <p:spPr>
            <a:xfrm>
              <a:off x="0" y="0"/>
              <a:ext cx="120561" cy="2975602"/>
            </a:xfrm>
            <a:custGeom>
              <a:avLst/>
              <a:gdLst/>
              <a:ahLst/>
              <a:cxnLst/>
              <a:rect l="l" t="t" r="r" b="b"/>
              <a:pathLst>
                <a:path w="120561" h="2975602">
                  <a:moveTo>
                    <a:pt x="0" y="0"/>
                  </a:moveTo>
                  <a:lnTo>
                    <a:pt x="120561" y="0"/>
                  </a:lnTo>
                  <a:lnTo>
                    <a:pt x="120561" y="2975602"/>
                  </a:lnTo>
                  <a:lnTo>
                    <a:pt x="0" y="2975602"/>
                  </a:lnTo>
                  <a:close/>
                </a:path>
              </a:pathLst>
            </a:custGeom>
            <a:solidFill>
              <a:srgbClr val="004AAD">
                <a:alpha val="20784"/>
              </a:srgbClr>
            </a:solidFill>
          </p:spPr>
          <p:txBody>
            <a:bodyPr/>
            <a:lstStyle/>
            <a:p>
              <a:endParaRPr lang="en-US"/>
            </a:p>
          </p:txBody>
        </p:sp>
        <p:sp>
          <p:nvSpPr>
            <p:cNvPr id="6" name="TextBox 6"/>
            <p:cNvSpPr txBox="1"/>
            <p:nvPr/>
          </p:nvSpPr>
          <p:spPr>
            <a:xfrm>
              <a:off x="0" y="-9525"/>
              <a:ext cx="120561" cy="2985127"/>
            </a:xfrm>
            <a:prstGeom prst="rect">
              <a:avLst/>
            </a:prstGeom>
          </p:spPr>
          <p:txBody>
            <a:bodyPr lIns="50800" tIns="50800" rIns="50800" bIns="50800" rtlCol="0" anchor="ctr"/>
            <a:lstStyle/>
            <a:p>
              <a:pPr algn="ctr">
                <a:lnSpc>
                  <a:spcPts val="3120"/>
                </a:lnSpc>
              </a:pPr>
              <a:endParaRPr/>
            </a:p>
          </p:txBody>
        </p:sp>
      </p:grpSp>
      <p:sp>
        <p:nvSpPr>
          <p:cNvPr id="7" name="TextBox 7"/>
          <p:cNvSpPr txBox="1"/>
          <p:nvPr/>
        </p:nvSpPr>
        <p:spPr>
          <a:xfrm>
            <a:off x="280203" y="3443425"/>
            <a:ext cx="3845116" cy="650406"/>
          </a:xfrm>
          <a:prstGeom prst="rect">
            <a:avLst/>
          </a:prstGeom>
        </p:spPr>
        <p:txBody>
          <a:bodyPr lIns="0" tIns="0" rIns="0" bIns="0" rtlCol="0" anchor="t">
            <a:spAutoFit/>
          </a:bodyPr>
          <a:lstStyle/>
          <a:p>
            <a:pPr marL="0" lvl="0" indent="0" algn="ctr">
              <a:lnSpc>
                <a:spcPts val="5046"/>
              </a:lnSpc>
              <a:spcBef>
                <a:spcPct val="0"/>
              </a:spcBef>
            </a:pPr>
            <a:r>
              <a:rPr lang="en-US" sz="4205" b="1">
                <a:solidFill>
                  <a:srgbClr val="3B567A"/>
                </a:solidFill>
                <a:latin typeface="League Spartan"/>
                <a:ea typeface="League Spartan"/>
                <a:cs typeface="League Spartan"/>
                <a:sym typeface="League Spartan"/>
              </a:rPr>
              <a:t>Cronograma</a:t>
            </a:r>
          </a:p>
        </p:txBody>
      </p:sp>
      <p:sp>
        <p:nvSpPr>
          <p:cNvPr id="8" name="TextBox 8"/>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37</a:t>
            </a:r>
          </a:p>
        </p:txBody>
      </p:sp>
      <p:sp>
        <p:nvSpPr>
          <p:cNvPr id="9" name="TextBox 9"/>
          <p:cNvSpPr txBox="1"/>
          <p:nvPr/>
        </p:nvSpPr>
        <p:spPr>
          <a:xfrm>
            <a:off x="508264" y="4604681"/>
            <a:ext cx="3388995" cy="790575"/>
          </a:xfrm>
          <a:prstGeom prst="rect">
            <a:avLst/>
          </a:prstGeom>
        </p:spPr>
        <p:txBody>
          <a:bodyPr lIns="0" tIns="0" rIns="0" bIns="0" rtlCol="0" anchor="t">
            <a:spAutoFit/>
          </a:bodyPr>
          <a:lstStyle/>
          <a:p>
            <a:pPr algn="ctr">
              <a:lnSpc>
                <a:spcPts val="3120"/>
              </a:lnSpc>
            </a:pPr>
            <a:r>
              <a:rPr lang="en-US" sz="2600" b="1">
                <a:solidFill>
                  <a:srgbClr val="000000"/>
                </a:solidFill>
                <a:latin typeface="Raleway Bold"/>
                <a:ea typeface="Raleway Bold"/>
                <a:cs typeface="Raleway Bold"/>
                <a:sym typeface="Raleway Bold"/>
              </a:rPr>
              <a:t>Ajustado según retroalimentación.</a:t>
            </a:r>
          </a:p>
        </p:txBody>
      </p:sp>
      <p:sp>
        <p:nvSpPr>
          <p:cNvPr id="10" name="TextBox 10"/>
          <p:cNvSpPr txBox="1"/>
          <p:nvPr/>
        </p:nvSpPr>
        <p:spPr>
          <a:xfrm>
            <a:off x="280203" y="6871018"/>
            <a:ext cx="3657600" cy="2162175"/>
          </a:xfrm>
          <a:prstGeom prst="rect">
            <a:avLst/>
          </a:prstGeom>
        </p:spPr>
        <p:txBody>
          <a:bodyPr lIns="0" tIns="0" rIns="0" bIns="0" rtlCol="0" anchor="t">
            <a:spAutoFit/>
          </a:bodyPr>
          <a:lstStyle/>
          <a:p>
            <a:pPr algn="l">
              <a:lnSpc>
                <a:spcPts val="2879"/>
              </a:lnSpc>
            </a:pPr>
            <a:r>
              <a:rPr lang="en-US" sz="2399" b="1">
                <a:solidFill>
                  <a:srgbClr val="FF751F"/>
                </a:solidFill>
                <a:latin typeface="Open Sans 2 Bold"/>
                <a:ea typeface="Open Sans 2 Bold"/>
                <a:cs typeface="Open Sans 2 Bold"/>
                <a:sym typeface="Open Sans 2 Bold"/>
              </a:rPr>
              <a:t>Hoy: </a:t>
            </a:r>
            <a:r>
              <a:rPr lang="en-US" sz="2399">
                <a:solidFill>
                  <a:srgbClr val="000000"/>
                </a:solidFill>
                <a:latin typeface="Open Sans 2"/>
                <a:ea typeface="Open Sans 2"/>
                <a:cs typeface="Open Sans 2"/>
                <a:sym typeface="Open Sans 2"/>
              </a:rPr>
              <a:t>semana 10 (12/10), terminando el Sprint 2</a:t>
            </a:r>
          </a:p>
          <a:p>
            <a:pPr algn="l">
              <a:lnSpc>
                <a:spcPts val="2879"/>
              </a:lnSpc>
            </a:pPr>
            <a:endParaRPr lang="en-US" sz="2399">
              <a:solidFill>
                <a:srgbClr val="000000"/>
              </a:solidFill>
              <a:latin typeface="Open Sans 2"/>
              <a:ea typeface="Open Sans 2"/>
              <a:cs typeface="Open Sans 2"/>
              <a:sym typeface="Open Sans 2"/>
            </a:endParaRPr>
          </a:p>
          <a:p>
            <a:pPr algn="l">
              <a:lnSpc>
                <a:spcPts val="2879"/>
              </a:lnSpc>
            </a:pPr>
            <a:r>
              <a:rPr lang="en-US" sz="2399" b="1">
                <a:solidFill>
                  <a:srgbClr val="7F69C1"/>
                </a:solidFill>
                <a:latin typeface="Open Sans 2 Bold"/>
                <a:ea typeface="Open Sans 2 Bold"/>
                <a:cs typeface="Open Sans 2 Bold"/>
                <a:sym typeface="Open Sans 2 Bold"/>
              </a:rPr>
              <a:t>Hitos: </a:t>
            </a:r>
            <a:r>
              <a:rPr lang="en-US" sz="2399">
                <a:solidFill>
                  <a:srgbClr val="000000"/>
                </a:solidFill>
                <a:latin typeface="Open Sans 2"/>
                <a:ea typeface="Open Sans 2"/>
                <a:cs typeface="Open Sans 2"/>
                <a:sym typeface="Open Sans 2"/>
              </a:rPr>
              <a:t>presentaciones e incrementos. H4 es la defensa final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164097" y="2315326"/>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12 Demostración en Vivo</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38</a:t>
            </a:r>
          </a:p>
        </p:txBody>
      </p:sp>
      <p:grpSp>
        <p:nvGrpSpPr>
          <p:cNvPr id="8" name="Group 8"/>
          <p:cNvGrpSpPr/>
          <p:nvPr/>
        </p:nvGrpSpPr>
        <p:grpSpPr>
          <a:xfrm>
            <a:off x="4861924" y="3915028"/>
            <a:ext cx="8229600" cy="1143000"/>
            <a:chOff x="0" y="0"/>
            <a:chExt cx="10972800" cy="1524000"/>
          </a:xfrm>
        </p:grpSpPr>
        <p:sp>
          <p:nvSpPr>
            <p:cNvPr id="9" name="Freeform 9"/>
            <p:cNvSpPr/>
            <p:nvPr/>
          </p:nvSpPr>
          <p:spPr>
            <a:xfrm>
              <a:off x="0" y="0"/>
              <a:ext cx="10972800" cy="1524000"/>
            </a:xfrm>
            <a:custGeom>
              <a:avLst/>
              <a:gdLst/>
              <a:ahLst/>
              <a:cxnLst/>
              <a:rect l="l" t="t" r="r" b="b"/>
              <a:pathLst>
                <a:path w="10972800" h="1524000">
                  <a:moveTo>
                    <a:pt x="0" y="381000"/>
                  </a:moveTo>
                  <a:cubicBezTo>
                    <a:pt x="0" y="170561"/>
                    <a:pt x="170561" y="0"/>
                    <a:pt x="381000" y="0"/>
                  </a:cubicBezTo>
                  <a:lnTo>
                    <a:pt x="10591800" y="0"/>
                  </a:lnTo>
                  <a:cubicBezTo>
                    <a:pt x="10802239" y="0"/>
                    <a:pt x="10972800" y="170561"/>
                    <a:pt x="10972800" y="381000"/>
                  </a:cubicBezTo>
                  <a:lnTo>
                    <a:pt x="10972800" y="1143000"/>
                  </a:lnTo>
                  <a:cubicBezTo>
                    <a:pt x="10972800" y="1353439"/>
                    <a:pt x="10802239" y="1524000"/>
                    <a:pt x="10591800" y="1524000"/>
                  </a:cubicBezTo>
                  <a:lnTo>
                    <a:pt x="381000" y="1524000"/>
                  </a:lnTo>
                  <a:cubicBezTo>
                    <a:pt x="170561" y="1524000"/>
                    <a:pt x="0" y="1353439"/>
                    <a:pt x="0" y="1143000"/>
                  </a:cubicBezTo>
                  <a:close/>
                </a:path>
              </a:pathLst>
            </a:custGeom>
            <a:solidFill>
              <a:srgbClr val="FFFFFF"/>
            </a:solidFill>
          </p:spPr>
          <p:txBody>
            <a:bodyPr/>
            <a:lstStyle/>
            <a:p>
              <a:endParaRPr lang="en-US"/>
            </a:p>
          </p:txBody>
        </p:sp>
      </p:grpSp>
      <p:grpSp>
        <p:nvGrpSpPr>
          <p:cNvPr id="10" name="Group 10"/>
          <p:cNvGrpSpPr/>
          <p:nvPr/>
        </p:nvGrpSpPr>
        <p:grpSpPr>
          <a:xfrm>
            <a:off x="4861924" y="3915028"/>
            <a:ext cx="8229600" cy="1143000"/>
            <a:chOff x="0" y="0"/>
            <a:chExt cx="10972800" cy="1524000"/>
          </a:xfrm>
        </p:grpSpPr>
        <p:sp>
          <p:nvSpPr>
            <p:cNvPr id="11" name="Freeform 11"/>
            <p:cNvSpPr/>
            <p:nvPr/>
          </p:nvSpPr>
          <p:spPr>
            <a:xfrm>
              <a:off x="0" y="0"/>
              <a:ext cx="10972800" cy="1524000"/>
            </a:xfrm>
            <a:custGeom>
              <a:avLst/>
              <a:gdLst/>
              <a:ahLst/>
              <a:cxnLst/>
              <a:rect l="l" t="t" r="r" b="b"/>
              <a:pathLst>
                <a:path w="10972800" h="1524000">
                  <a:moveTo>
                    <a:pt x="0" y="0"/>
                  </a:moveTo>
                  <a:lnTo>
                    <a:pt x="10972800" y="0"/>
                  </a:lnTo>
                  <a:lnTo>
                    <a:pt x="10972800" y="1524000"/>
                  </a:lnTo>
                  <a:lnTo>
                    <a:pt x="0" y="1524000"/>
                  </a:lnTo>
                  <a:close/>
                </a:path>
              </a:pathLst>
            </a:custGeom>
            <a:blipFill>
              <a:blip r:embed="rId5">
                <a:alphaModFix amt="0"/>
              </a:blip>
              <a:stretch>
                <a:fillRect t="-90292" b="-90292"/>
              </a:stretch>
            </a:blipFill>
          </p:spPr>
          <p:txBody>
            <a:bodyPr/>
            <a:lstStyle/>
            <a:p>
              <a:endParaRPr lang="en-US"/>
            </a:p>
          </p:txBody>
        </p:sp>
        <p:sp>
          <p:nvSpPr>
            <p:cNvPr id="12" name="TextBox 12"/>
            <p:cNvSpPr txBox="1"/>
            <p:nvPr/>
          </p:nvSpPr>
          <p:spPr>
            <a:xfrm>
              <a:off x="0" y="0"/>
              <a:ext cx="10972800" cy="1524000"/>
            </a:xfrm>
            <a:prstGeom prst="rect">
              <a:avLst/>
            </a:prstGeom>
          </p:spPr>
          <p:txBody>
            <a:bodyPr lIns="0" tIns="0" rIns="0" bIns="0" rtlCol="0" anchor="ctr"/>
            <a:lstStyle/>
            <a:p>
              <a:pPr algn="ctr">
                <a:lnSpc>
                  <a:spcPts val="4320"/>
                </a:lnSpc>
              </a:pPr>
              <a:r>
                <a:rPr lang="en-US" sz="3600" b="1">
                  <a:solidFill>
                    <a:srgbClr val="3B567A"/>
                  </a:solidFill>
                  <a:latin typeface="League Spartan"/>
                  <a:ea typeface="League Spartan"/>
                  <a:cs typeface="League Spartan"/>
                  <a:sym typeface="League Spartan"/>
                </a:rPr>
                <a:t>En vivo: http://107.173.204.19</a:t>
              </a:r>
            </a:p>
          </p:txBody>
        </p:sp>
      </p:grpSp>
      <p:sp>
        <p:nvSpPr>
          <p:cNvPr id="13" name="TextBox 13"/>
          <p:cNvSpPr txBox="1"/>
          <p:nvPr/>
        </p:nvSpPr>
        <p:spPr>
          <a:xfrm>
            <a:off x="4038964" y="5515228"/>
            <a:ext cx="10058400" cy="419100"/>
          </a:xfrm>
          <a:prstGeom prst="rect">
            <a:avLst/>
          </a:prstGeom>
        </p:spPr>
        <p:txBody>
          <a:bodyPr lIns="0" tIns="0" rIns="0" bIns="0" rtlCol="0" anchor="t">
            <a:spAutoFit/>
          </a:bodyPr>
          <a:lstStyle/>
          <a:p>
            <a:pPr algn="l">
              <a:lnSpc>
                <a:spcPts val="3359"/>
              </a:lnSpc>
            </a:pPr>
            <a:r>
              <a:rPr lang="en-US" sz="2799" b="1">
                <a:solidFill>
                  <a:srgbClr val="D4E1F6"/>
                </a:solidFill>
                <a:latin typeface="League Spartan"/>
                <a:ea typeface="League Spartan"/>
                <a:cs typeface="League Spartan"/>
                <a:sym typeface="League Spartan"/>
              </a:rPr>
              <a:t>Historias de usuario clave</a:t>
            </a:r>
          </a:p>
        </p:txBody>
      </p:sp>
      <p:sp>
        <p:nvSpPr>
          <p:cNvPr id="14" name="TextBox 14"/>
          <p:cNvSpPr txBox="1"/>
          <p:nvPr/>
        </p:nvSpPr>
        <p:spPr>
          <a:xfrm>
            <a:off x="4038964" y="6237223"/>
            <a:ext cx="10515600" cy="1962150"/>
          </a:xfrm>
          <a:prstGeom prst="rect">
            <a:avLst/>
          </a:prstGeom>
        </p:spPr>
        <p:txBody>
          <a:bodyPr lIns="0" tIns="0" rIns="0" bIns="0" rtlCol="0" anchor="t">
            <a:spAutoFit/>
          </a:bodyPr>
          <a:lstStyle/>
          <a:p>
            <a:pPr algn="l">
              <a:lnSpc>
                <a:spcPts val="3120"/>
              </a:lnSpc>
            </a:pPr>
            <a:r>
              <a:rPr lang="en-US" sz="2600" b="1">
                <a:solidFill>
                  <a:srgbClr val="D4E1F6"/>
                </a:solidFill>
                <a:latin typeface="Open Sans 2 Bold"/>
                <a:ea typeface="Open Sans 2 Bold"/>
                <a:cs typeface="Open Sans 2 Bold"/>
                <a:sym typeface="Open Sans 2 Bold"/>
              </a:rPr>
              <a:t>1.  </a:t>
            </a:r>
            <a:r>
              <a:rPr lang="en-US" sz="2600">
                <a:solidFill>
                  <a:srgbClr val="FFFFFF"/>
                </a:solidFill>
                <a:latin typeface="Open Sans 2"/>
                <a:ea typeface="Open Sans 2"/>
                <a:cs typeface="Open Sans 2"/>
                <a:sym typeface="Open Sans 2"/>
              </a:rPr>
              <a:t>Iniciar sesión con Keycloak (Sprint 1)</a:t>
            </a:r>
          </a:p>
          <a:p>
            <a:pPr algn="l">
              <a:lnSpc>
                <a:spcPts val="3120"/>
              </a:lnSpc>
            </a:pPr>
            <a:r>
              <a:rPr lang="en-US" sz="2600" b="1">
                <a:solidFill>
                  <a:srgbClr val="D4E1F6"/>
                </a:solidFill>
                <a:latin typeface="Open Sans 2 Bold"/>
                <a:ea typeface="Open Sans 2 Bold"/>
                <a:cs typeface="Open Sans 2 Bold"/>
                <a:sym typeface="Open Sans 2 Bold"/>
              </a:rPr>
              <a:t>2.  </a:t>
            </a:r>
            <a:r>
              <a:rPr lang="en-US" sz="2600">
                <a:solidFill>
                  <a:srgbClr val="FFFFFF"/>
                </a:solidFill>
                <a:latin typeface="Open Sans 2"/>
                <a:ea typeface="Open Sans 2"/>
                <a:cs typeface="Open Sans 2"/>
                <a:sym typeface="Open Sans 2"/>
              </a:rPr>
              <a:t>Registrar documento y seguir su estado (Sprint 1)</a:t>
            </a:r>
          </a:p>
          <a:p>
            <a:pPr algn="l">
              <a:lnSpc>
                <a:spcPts val="3120"/>
              </a:lnSpc>
            </a:pPr>
            <a:r>
              <a:rPr lang="en-US" sz="2600" b="1">
                <a:solidFill>
                  <a:srgbClr val="D4E1F6"/>
                </a:solidFill>
                <a:latin typeface="Open Sans 2 Bold"/>
                <a:ea typeface="Open Sans 2 Bold"/>
                <a:cs typeface="Open Sans 2 Bold"/>
                <a:sym typeface="Open Sans 2 Bold"/>
              </a:rPr>
              <a:t>3.  </a:t>
            </a:r>
            <a:r>
              <a:rPr lang="en-US" sz="2600">
                <a:solidFill>
                  <a:srgbClr val="FFFFFF"/>
                </a:solidFill>
                <a:latin typeface="Open Sans 2"/>
                <a:ea typeface="Open Sans 2"/>
                <a:cs typeface="Open Sans 2"/>
                <a:sym typeface="Open Sans 2"/>
              </a:rPr>
              <a:t>Revisar: aprobar, rechazar o pedir corrección (Sprint 1)</a:t>
            </a:r>
          </a:p>
          <a:p>
            <a:pPr algn="l">
              <a:lnSpc>
                <a:spcPts val="3120"/>
              </a:lnSpc>
            </a:pPr>
            <a:r>
              <a:rPr lang="en-US" sz="2600" b="1">
                <a:solidFill>
                  <a:srgbClr val="D4E1F6"/>
                </a:solidFill>
                <a:latin typeface="Open Sans 2 Bold"/>
                <a:ea typeface="Open Sans 2 Bold"/>
                <a:cs typeface="Open Sans 2 Bold"/>
                <a:sym typeface="Open Sans 2 Bold"/>
              </a:rPr>
              <a:t>4.  </a:t>
            </a:r>
            <a:r>
              <a:rPr lang="en-US" sz="2600">
                <a:solidFill>
                  <a:srgbClr val="FFFFFF"/>
                </a:solidFill>
                <a:latin typeface="Open Sans 2"/>
                <a:ea typeface="Open Sans 2"/>
                <a:cs typeface="Open Sans 2"/>
                <a:sym typeface="Open Sans 2"/>
              </a:rPr>
              <a:t>Corregir, ver historial y notificaciones (Sprint 1)</a:t>
            </a:r>
          </a:p>
          <a:p>
            <a:pPr algn="l">
              <a:lnSpc>
                <a:spcPts val="3120"/>
              </a:lnSpc>
            </a:pPr>
            <a:r>
              <a:rPr lang="en-US" sz="2600" b="1">
                <a:solidFill>
                  <a:srgbClr val="D4E1F6"/>
                </a:solidFill>
                <a:latin typeface="Open Sans 2 Bold"/>
                <a:ea typeface="Open Sans 2 Bold"/>
                <a:cs typeface="Open Sans 2 Bold"/>
                <a:sym typeface="Open Sans 2 Bold"/>
              </a:rPr>
              <a:t>5.  </a:t>
            </a:r>
            <a:r>
              <a:rPr lang="en-US" sz="2600">
                <a:solidFill>
                  <a:srgbClr val="FFFFFF"/>
                </a:solidFill>
                <a:latin typeface="Open Sans 2"/>
                <a:ea typeface="Open Sans 2"/>
                <a:cs typeface="Open Sans 2"/>
                <a:sym typeface="Open Sans 2"/>
              </a:rPr>
              <a:t>Crear área y configurar un flujo (Sprint 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2447925"/>
          </a:xfrm>
          <a:prstGeom prst="rect">
            <a:avLst/>
          </a:prstGeom>
        </p:spPr>
        <p:txBody>
          <a:bodyPr lIns="0" tIns="0" rIns="0" bIns="0" rtlCol="0" anchor="t">
            <a:spAutoFit/>
          </a:bodyPr>
          <a:lstStyle/>
          <a:p>
            <a:pPr algn="ctr">
              <a:lnSpc>
                <a:spcPts val="9600"/>
              </a:lnSpc>
            </a:pPr>
            <a:r>
              <a:rPr lang="en-US" sz="8000" b="1">
                <a:solidFill>
                  <a:srgbClr val="FFFFFF"/>
                </a:solidFill>
                <a:latin typeface="League Spartan"/>
                <a:ea typeface="League Spartan"/>
                <a:cs typeface="League Spartan"/>
                <a:sym typeface="League Spartan"/>
              </a:rPr>
              <a:t>13 Conclusiones y</a:t>
            </a:r>
          </a:p>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Próximos Pasos</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092164" y="864288"/>
            <a:ext cx="14084886" cy="847725"/>
          </a:xfrm>
          <a:prstGeom prst="rect">
            <a:avLst/>
          </a:prstGeom>
        </p:spPr>
        <p:txBody>
          <a:bodyPr lIns="0" tIns="0" rIns="0" bIns="0" rtlCol="0" anchor="t">
            <a:spAutoFit/>
          </a:bodyPr>
          <a:lstStyle/>
          <a:p>
            <a:pPr marL="0" lvl="0" indent="0" algn="ctr">
              <a:lnSpc>
                <a:spcPts val="6720"/>
              </a:lnSpc>
              <a:spcBef>
                <a:spcPct val="0"/>
              </a:spcBef>
            </a:pPr>
            <a:r>
              <a:rPr lang="en-US" sz="5600" b="1">
                <a:solidFill>
                  <a:srgbClr val="3B567A"/>
                </a:solidFill>
                <a:latin typeface="League Spartan"/>
                <a:ea typeface="League Spartan"/>
                <a:cs typeface="League Spartan"/>
                <a:sym typeface="League Spartan"/>
              </a:rPr>
              <a:t>Conclusiones y Próximos Pasos</a:t>
            </a:r>
          </a:p>
        </p:txBody>
      </p:sp>
      <p:sp>
        <p:nvSpPr>
          <p:cNvPr id="3" name="Freeform 3"/>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2"/>
            <a:stretch>
              <a:fillRect/>
            </a:stretch>
          </a:blipFill>
        </p:spPr>
        <p:txBody>
          <a:bodyPr/>
          <a:lstStyle/>
          <a:p>
            <a:endParaRPr lang="en-US"/>
          </a:p>
        </p:txBody>
      </p:sp>
      <p:sp>
        <p:nvSpPr>
          <p:cNvPr id="4" name="Freeform 4"/>
          <p:cNvSpPr/>
          <p:nvPr/>
        </p:nvSpPr>
        <p:spPr>
          <a:xfrm flipH="1" flipV="1">
            <a:off x="-623359" y="-1963677"/>
            <a:ext cx="4223721" cy="4223721"/>
          </a:xfrm>
          <a:custGeom>
            <a:avLst/>
            <a:gdLst/>
            <a:ahLst/>
            <a:cxnLst/>
            <a:rect l="l" t="t" r="r" b="b"/>
            <a:pathLst>
              <a:path w="4223721" h="4223721">
                <a:moveTo>
                  <a:pt x="4223721" y="4223722"/>
                </a:moveTo>
                <a:lnTo>
                  <a:pt x="0" y="4223722"/>
                </a:lnTo>
                <a:lnTo>
                  <a:pt x="0" y="0"/>
                </a:lnTo>
                <a:lnTo>
                  <a:pt x="4223721" y="0"/>
                </a:lnTo>
                <a:lnTo>
                  <a:pt x="4223721" y="4223722"/>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40</a:t>
            </a:r>
          </a:p>
        </p:txBody>
      </p:sp>
      <p:grpSp>
        <p:nvGrpSpPr>
          <p:cNvPr id="6" name="Group 6"/>
          <p:cNvGrpSpPr/>
          <p:nvPr/>
        </p:nvGrpSpPr>
        <p:grpSpPr>
          <a:xfrm>
            <a:off x="1280160" y="2377440"/>
            <a:ext cx="7680960" cy="7543800"/>
            <a:chOff x="0" y="0"/>
            <a:chExt cx="10241280" cy="10058400"/>
          </a:xfrm>
        </p:grpSpPr>
        <p:sp>
          <p:nvSpPr>
            <p:cNvPr id="7" name="Freeform 7"/>
            <p:cNvSpPr/>
            <p:nvPr/>
          </p:nvSpPr>
          <p:spPr>
            <a:xfrm>
              <a:off x="0" y="0"/>
              <a:ext cx="10241280" cy="10058400"/>
            </a:xfrm>
            <a:custGeom>
              <a:avLst/>
              <a:gdLst/>
              <a:ahLst/>
              <a:cxnLst/>
              <a:rect l="l" t="t" r="r" b="b"/>
              <a:pathLst>
                <a:path w="10241280" h="10058400">
                  <a:moveTo>
                    <a:pt x="0" y="603504"/>
                  </a:moveTo>
                  <a:cubicBezTo>
                    <a:pt x="0" y="270256"/>
                    <a:pt x="270256" y="0"/>
                    <a:pt x="603504" y="0"/>
                  </a:cubicBezTo>
                  <a:lnTo>
                    <a:pt x="9637776" y="0"/>
                  </a:lnTo>
                  <a:cubicBezTo>
                    <a:pt x="9971024" y="0"/>
                    <a:pt x="10241280" y="270256"/>
                    <a:pt x="10241280" y="603504"/>
                  </a:cubicBezTo>
                  <a:lnTo>
                    <a:pt x="10241280" y="9454896"/>
                  </a:lnTo>
                  <a:cubicBezTo>
                    <a:pt x="10241280" y="9788144"/>
                    <a:pt x="9971024" y="10058400"/>
                    <a:pt x="9637776" y="10058400"/>
                  </a:cubicBezTo>
                  <a:lnTo>
                    <a:pt x="603504" y="10058400"/>
                  </a:lnTo>
                  <a:cubicBezTo>
                    <a:pt x="270256" y="10058400"/>
                    <a:pt x="0" y="9788144"/>
                    <a:pt x="0" y="9454896"/>
                  </a:cubicBezTo>
                  <a:close/>
                </a:path>
              </a:pathLst>
            </a:custGeom>
            <a:solidFill>
              <a:srgbClr val="FFFFFF"/>
            </a:solidFill>
            <a:ln w="9525" cap="sq">
              <a:solidFill>
                <a:srgbClr val="000000"/>
              </a:solidFill>
              <a:prstDash val="solid"/>
              <a:miter/>
            </a:ln>
          </p:spPr>
          <p:txBody>
            <a:bodyPr/>
            <a:lstStyle/>
            <a:p>
              <a:endParaRPr lang="en-US"/>
            </a:p>
          </p:txBody>
        </p:sp>
      </p:grpSp>
      <p:sp>
        <p:nvSpPr>
          <p:cNvPr id="8" name="TextBox 8"/>
          <p:cNvSpPr txBox="1"/>
          <p:nvPr/>
        </p:nvSpPr>
        <p:spPr>
          <a:xfrm>
            <a:off x="1737360" y="2697480"/>
            <a:ext cx="6858000" cy="561975"/>
          </a:xfrm>
          <a:prstGeom prst="rect">
            <a:avLst/>
          </a:prstGeom>
        </p:spPr>
        <p:txBody>
          <a:bodyPr lIns="0" tIns="0" rIns="0" bIns="0" rtlCol="0" anchor="t">
            <a:spAutoFit/>
          </a:bodyPr>
          <a:lstStyle/>
          <a:p>
            <a:pPr algn="l">
              <a:lnSpc>
                <a:spcPts val="4439"/>
              </a:lnSpc>
            </a:pPr>
            <a:r>
              <a:rPr lang="en-US" sz="3699" b="1">
                <a:solidFill>
                  <a:srgbClr val="3B567A"/>
                </a:solidFill>
                <a:latin typeface="League Spartan"/>
                <a:ea typeface="League Spartan"/>
                <a:cs typeface="League Spartan"/>
                <a:sym typeface="League Spartan"/>
              </a:rPr>
              <a:t>Conclusiones</a:t>
            </a:r>
          </a:p>
        </p:txBody>
      </p:sp>
      <p:grpSp>
        <p:nvGrpSpPr>
          <p:cNvPr id="9" name="Group 9"/>
          <p:cNvGrpSpPr/>
          <p:nvPr/>
        </p:nvGrpSpPr>
        <p:grpSpPr>
          <a:xfrm>
            <a:off x="9372600" y="2377440"/>
            <a:ext cx="7818120" cy="7543800"/>
            <a:chOff x="0" y="0"/>
            <a:chExt cx="10424160" cy="10058400"/>
          </a:xfrm>
        </p:grpSpPr>
        <p:sp>
          <p:nvSpPr>
            <p:cNvPr id="10" name="Freeform 10"/>
            <p:cNvSpPr/>
            <p:nvPr/>
          </p:nvSpPr>
          <p:spPr>
            <a:xfrm>
              <a:off x="0" y="0"/>
              <a:ext cx="10424161" cy="10058400"/>
            </a:xfrm>
            <a:custGeom>
              <a:avLst/>
              <a:gdLst/>
              <a:ahLst/>
              <a:cxnLst/>
              <a:rect l="l" t="t" r="r" b="b"/>
              <a:pathLst>
                <a:path w="10424161" h="10058400">
                  <a:moveTo>
                    <a:pt x="0" y="603504"/>
                  </a:moveTo>
                  <a:cubicBezTo>
                    <a:pt x="0" y="270256"/>
                    <a:pt x="270256" y="0"/>
                    <a:pt x="603504" y="0"/>
                  </a:cubicBezTo>
                  <a:lnTo>
                    <a:pt x="9820656" y="0"/>
                  </a:lnTo>
                  <a:cubicBezTo>
                    <a:pt x="10153904" y="0"/>
                    <a:pt x="10424161" y="270256"/>
                    <a:pt x="10424161" y="603504"/>
                  </a:cubicBezTo>
                  <a:lnTo>
                    <a:pt x="10424161" y="9454896"/>
                  </a:lnTo>
                  <a:cubicBezTo>
                    <a:pt x="10424161" y="9788144"/>
                    <a:pt x="10153904" y="10058400"/>
                    <a:pt x="9820656" y="10058400"/>
                  </a:cubicBezTo>
                  <a:lnTo>
                    <a:pt x="603504" y="10058400"/>
                  </a:lnTo>
                  <a:cubicBezTo>
                    <a:pt x="270256" y="10058400"/>
                    <a:pt x="0" y="9788144"/>
                    <a:pt x="0" y="9454896"/>
                  </a:cubicBezTo>
                  <a:close/>
                </a:path>
              </a:pathLst>
            </a:custGeom>
            <a:solidFill>
              <a:srgbClr val="FFFFFF"/>
            </a:solidFill>
            <a:ln w="9525" cap="sq">
              <a:solidFill>
                <a:srgbClr val="000000"/>
              </a:solidFill>
              <a:prstDash val="solid"/>
              <a:miter/>
            </a:ln>
          </p:spPr>
          <p:txBody>
            <a:bodyPr/>
            <a:lstStyle/>
            <a:p>
              <a:endParaRPr lang="en-US"/>
            </a:p>
          </p:txBody>
        </p:sp>
      </p:grpSp>
      <p:sp>
        <p:nvSpPr>
          <p:cNvPr id="11" name="TextBox 11"/>
          <p:cNvSpPr txBox="1"/>
          <p:nvPr/>
        </p:nvSpPr>
        <p:spPr>
          <a:xfrm>
            <a:off x="9829800" y="2697480"/>
            <a:ext cx="6858000" cy="561975"/>
          </a:xfrm>
          <a:prstGeom prst="rect">
            <a:avLst/>
          </a:prstGeom>
        </p:spPr>
        <p:txBody>
          <a:bodyPr lIns="0" tIns="0" rIns="0" bIns="0" rtlCol="0" anchor="t">
            <a:spAutoFit/>
          </a:bodyPr>
          <a:lstStyle/>
          <a:p>
            <a:pPr algn="l">
              <a:lnSpc>
                <a:spcPts val="4439"/>
              </a:lnSpc>
            </a:pPr>
            <a:r>
              <a:rPr lang="en-US" sz="3699" b="1">
                <a:solidFill>
                  <a:srgbClr val="3B567A"/>
                </a:solidFill>
                <a:latin typeface="League Spartan"/>
                <a:ea typeface="League Spartan"/>
                <a:cs typeface="League Spartan"/>
                <a:sym typeface="League Spartan"/>
              </a:rPr>
              <a:t>Próximos pasos</a:t>
            </a:r>
          </a:p>
        </p:txBody>
      </p:sp>
      <p:grpSp>
        <p:nvGrpSpPr>
          <p:cNvPr id="12" name="Group 12"/>
          <p:cNvGrpSpPr/>
          <p:nvPr/>
        </p:nvGrpSpPr>
        <p:grpSpPr>
          <a:xfrm>
            <a:off x="9829800" y="3657600"/>
            <a:ext cx="1828800" cy="548640"/>
            <a:chOff x="0" y="0"/>
            <a:chExt cx="2438400" cy="731520"/>
          </a:xfrm>
        </p:grpSpPr>
        <p:sp>
          <p:nvSpPr>
            <p:cNvPr id="13" name="Freeform 13"/>
            <p:cNvSpPr/>
            <p:nvPr/>
          </p:nvSpPr>
          <p:spPr>
            <a:xfrm>
              <a:off x="0" y="0"/>
              <a:ext cx="2438400" cy="731520"/>
            </a:xfrm>
            <a:custGeom>
              <a:avLst/>
              <a:gdLst/>
              <a:ahLst/>
              <a:cxnLst/>
              <a:rect l="l" t="t" r="r" b="b"/>
              <a:pathLst>
                <a:path w="2438400" h="73152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7F69C1"/>
            </a:solidFill>
          </p:spPr>
          <p:txBody>
            <a:bodyPr/>
            <a:lstStyle/>
            <a:p>
              <a:endParaRPr lang="en-US"/>
            </a:p>
          </p:txBody>
        </p:sp>
      </p:grpSp>
      <p:grpSp>
        <p:nvGrpSpPr>
          <p:cNvPr id="14" name="Group 14"/>
          <p:cNvGrpSpPr/>
          <p:nvPr/>
        </p:nvGrpSpPr>
        <p:grpSpPr>
          <a:xfrm>
            <a:off x="9829800" y="3657600"/>
            <a:ext cx="1828800" cy="548640"/>
            <a:chOff x="0" y="0"/>
            <a:chExt cx="2438400" cy="731520"/>
          </a:xfrm>
        </p:grpSpPr>
        <p:sp>
          <p:nvSpPr>
            <p:cNvPr id="15" name="Freeform 15"/>
            <p:cNvSpPr/>
            <p:nvPr/>
          </p:nvSpPr>
          <p:spPr>
            <a:xfrm>
              <a:off x="0" y="0"/>
              <a:ext cx="2438400" cy="731520"/>
            </a:xfrm>
            <a:custGeom>
              <a:avLst/>
              <a:gdLst/>
              <a:ahLst/>
              <a:cxnLst/>
              <a:rect l="l" t="t" r="r" b="b"/>
              <a:pathLst>
                <a:path w="2438400" h="731520">
                  <a:moveTo>
                    <a:pt x="0" y="0"/>
                  </a:moveTo>
                  <a:lnTo>
                    <a:pt x="2438400" y="0"/>
                  </a:lnTo>
                  <a:lnTo>
                    <a:pt x="2438400" y="731520"/>
                  </a:lnTo>
                  <a:lnTo>
                    <a:pt x="0" y="731520"/>
                  </a:lnTo>
                  <a:close/>
                </a:path>
              </a:pathLst>
            </a:custGeom>
            <a:blipFill>
              <a:blip r:embed="rId4">
                <a:alphaModFix amt="0"/>
              </a:blip>
              <a:stretch>
                <a:fillRect t="-14950" b="-14950"/>
              </a:stretch>
            </a:blipFill>
          </p:spPr>
          <p:txBody>
            <a:bodyPr/>
            <a:lstStyle/>
            <a:p>
              <a:endParaRPr lang="en-US"/>
            </a:p>
          </p:txBody>
        </p:sp>
        <p:sp>
          <p:nvSpPr>
            <p:cNvPr id="16" name="TextBox 16"/>
            <p:cNvSpPr txBox="1"/>
            <p:nvPr/>
          </p:nvSpPr>
          <p:spPr>
            <a:xfrm>
              <a:off x="0" y="-9525"/>
              <a:ext cx="2438400" cy="741045"/>
            </a:xfrm>
            <a:prstGeom prst="rect">
              <a:avLst/>
            </a:prstGeom>
          </p:spPr>
          <p:txBody>
            <a:bodyPr lIns="0" tIns="0" rIns="0" bIns="0" rtlCol="0" anchor="ctr"/>
            <a:lstStyle/>
            <a:p>
              <a:pPr algn="ctr">
                <a:lnSpc>
                  <a:spcPts val="2519"/>
                </a:lnSpc>
              </a:pPr>
              <a:r>
                <a:rPr lang="en-US" sz="2099" b="1">
                  <a:solidFill>
                    <a:srgbClr val="FFFFFF"/>
                  </a:solidFill>
                  <a:latin typeface="League Spartan"/>
                  <a:ea typeface="League Spartan"/>
                  <a:cs typeface="League Spartan"/>
                  <a:sym typeface="League Spartan"/>
                </a:rPr>
                <a:t>16/10</a:t>
              </a:r>
            </a:p>
          </p:txBody>
        </p:sp>
      </p:grpSp>
      <p:sp>
        <p:nvSpPr>
          <p:cNvPr id="17" name="TextBox 17"/>
          <p:cNvSpPr txBox="1"/>
          <p:nvPr/>
        </p:nvSpPr>
        <p:spPr>
          <a:xfrm>
            <a:off x="11887200" y="3639312"/>
            <a:ext cx="5120640" cy="666750"/>
          </a:xfrm>
          <a:prstGeom prst="rect">
            <a:avLst/>
          </a:prstGeom>
        </p:spPr>
        <p:txBody>
          <a:bodyPr lIns="0" tIns="0" rIns="0" bIns="0" rtlCol="0" anchor="t">
            <a:spAutoFit/>
          </a:bodyPr>
          <a:lstStyle/>
          <a:p>
            <a:pPr algn="l">
              <a:lnSpc>
                <a:spcPts val="2639"/>
              </a:lnSpc>
            </a:pPr>
            <a:r>
              <a:rPr lang="en-US" sz="2199">
                <a:solidFill>
                  <a:srgbClr val="000000"/>
                </a:solidFill>
                <a:latin typeface="Open Sans 2"/>
                <a:ea typeface="Open Sans 2"/>
                <a:cs typeface="Open Sans 2"/>
                <a:sym typeface="Open Sans 2"/>
              </a:rPr>
              <a:t>Cerrar Sprint 2 con Sprint Review firmado.</a:t>
            </a:r>
          </a:p>
        </p:txBody>
      </p:sp>
      <p:grpSp>
        <p:nvGrpSpPr>
          <p:cNvPr id="18" name="Group 18"/>
          <p:cNvGrpSpPr/>
          <p:nvPr/>
        </p:nvGrpSpPr>
        <p:grpSpPr>
          <a:xfrm>
            <a:off x="9829800" y="5166360"/>
            <a:ext cx="1828800" cy="548640"/>
            <a:chOff x="0" y="0"/>
            <a:chExt cx="2438400" cy="731520"/>
          </a:xfrm>
        </p:grpSpPr>
        <p:sp>
          <p:nvSpPr>
            <p:cNvPr id="19" name="Freeform 19"/>
            <p:cNvSpPr/>
            <p:nvPr/>
          </p:nvSpPr>
          <p:spPr>
            <a:xfrm>
              <a:off x="0" y="0"/>
              <a:ext cx="2438400" cy="731520"/>
            </a:xfrm>
            <a:custGeom>
              <a:avLst/>
              <a:gdLst/>
              <a:ahLst/>
              <a:cxnLst/>
              <a:rect l="l" t="t" r="r" b="b"/>
              <a:pathLst>
                <a:path w="2438400" h="73152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3B567A"/>
            </a:solidFill>
          </p:spPr>
          <p:txBody>
            <a:bodyPr/>
            <a:lstStyle/>
            <a:p>
              <a:endParaRPr lang="en-US"/>
            </a:p>
          </p:txBody>
        </p:sp>
      </p:grpSp>
      <p:grpSp>
        <p:nvGrpSpPr>
          <p:cNvPr id="20" name="Group 20"/>
          <p:cNvGrpSpPr/>
          <p:nvPr/>
        </p:nvGrpSpPr>
        <p:grpSpPr>
          <a:xfrm>
            <a:off x="9829800" y="5166360"/>
            <a:ext cx="1828800" cy="548640"/>
            <a:chOff x="0" y="0"/>
            <a:chExt cx="2438400" cy="731520"/>
          </a:xfrm>
        </p:grpSpPr>
        <p:sp>
          <p:nvSpPr>
            <p:cNvPr id="21" name="Freeform 21"/>
            <p:cNvSpPr/>
            <p:nvPr/>
          </p:nvSpPr>
          <p:spPr>
            <a:xfrm>
              <a:off x="0" y="0"/>
              <a:ext cx="2438400" cy="731520"/>
            </a:xfrm>
            <a:custGeom>
              <a:avLst/>
              <a:gdLst/>
              <a:ahLst/>
              <a:cxnLst/>
              <a:rect l="l" t="t" r="r" b="b"/>
              <a:pathLst>
                <a:path w="2438400" h="731520">
                  <a:moveTo>
                    <a:pt x="0" y="0"/>
                  </a:moveTo>
                  <a:lnTo>
                    <a:pt x="2438400" y="0"/>
                  </a:lnTo>
                  <a:lnTo>
                    <a:pt x="2438400" y="731520"/>
                  </a:lnTo>
                  <a:lnTo>
                    <a:pt x="0" y="731520"/>
                  </a:lnTo>
                  <a:close/>
                </a:path>
              </a:pathLst>
            </a:custGeom>
            <a:blipFill>
              <a:blip r:embed="rId4">
                <a:alphaModFix amt="0"/>
              </a:blip>
              <a:stretch>
                <a:fillRect t="-14950" b="-14950"/>
              </a:stretch>
            </a:blipFill>
          </p:spPr>
          <p:txBody>
            <a:bodyPr/>
            <a:lstStyle/>
            <a:p>
              <a:endParaRPr lang="en-US"/>
            </a:p>
          </p:txBody>
        </p:sp>
        <p:sp>
          <p:nvSpPr>
            <p:cNvPr id="22" name="TextBox 22"/>
            <p:cNvSpPr txBox="1"/>
            <p:nvPr/>
          </p:nvSpPr>
          <p:spPr>
            <a:xfrm>
              <a:off x="0" y="-9525"/>
              <a:ext cx="2438400" cy="741045"/>
            </a:xfrm>
            <a:prstGeom prst="rect">
              <a:avLst/>
            </a:prstGeom>
          </p:spPr>
          <p:txBody>
            <a:bodyPr lIns="0" tIns="0" rIns="0" bIns="0" rtlCol="0" anchor="ctr"/>
            <a:lstStyle/>
            <a:p>
              <a:pPr algn="ctr">
                <a:lnSpc>
                  <a:spcPts val="2519"/>
                </a:lnSpc>
              </a:pPr>
              <a:r>
                <a:rPr lang="en-US" sz="2099" b="1">
                  <a:solidFill>
                    <a:srgbClr val="FFFFFF"/>
                  </a:solidFill>
                  <a:latin typeface="League Spartan"/>
                  <a:ea typeface="League Spartan"/>
                  <a:cs typeface="League Spartan"/>
                  <a:sym typeface="League Spartan"/>
                </a:rPr>
                <a:t>Sem 11</a:t>
              </a:r>
            </a:p>
          </p:txBody>
        </p:sp>
      </p:grpSp>
      <p:sp>
        <p:nvSpPr>
          <p:cNvPr id="23" name="TextBox 23"/>
          <p:cNvSpPr txBox="1"/>
          <p:nvPr/>
        </p:nvSpPr>
        <p:spPr>
          <a:xfrm>
            <a:off x="11887200" y="5148072"/>
            <a:ext cx="5120640" cy="666750"/>
          </a:xfrm>
          <a:prstGeom prst="rect">
            <a:avLst/>
          </a:prstGeom>
        </p:spPr>
        <p:txBody>
          <a:bodyPr lIns="0" tIns="0" rIns="0" bIns="0" rtlCol="0" anchor="t">
            <a:spAutoFit/>
          </a:bodyPr>
          <a:lstStyle/>
          <a:p>
            <a:pPr algn="l">
              <a:lnSpc>
                <a:spcPts val="2639"/>
              </a:lnSpc>
            </a:pPr>
            <a:r>
              <a:rPr lang="en-US" sz="2199">
                <a:solidFill>
                  <a:srgbClr val="000000"/>
                </a:solidFill>
                <a:latin typeface="Open Sans 2"/>
                <a:ea typeface="Open Sans 2"/>
                <a:cs typeface="Open Sans 2"/>
                <a:sym typeface="Open Sans 2"/>
              </a:rPr>
              <a:t>Negociar con la clienta el alcance extra para el Sprint 3.</a:t>
            </a:r>
          </a:p>
        </p:txBody>
      </p:sp>
      <p:grpSp>
        <p:nvGrpSpPr>
          <p:cNvPr id="24" name="Group 24"/>
          <p:cNvGrpSpPr/>
          <p:nvPr/>
        </p:nvGrpSpPr>
        <p:grpSpPr>
          <a:xfrm>
            <a:off x="9829800" y="6675120"/>
            <a:ext cx="1828800" cy="548640"/>
            <a:chOff x="0" y="0"/>
            <a:chExt cx="2438400" cy="731520"/>
          </a:xfrm>
        </p:grpSpPr>
        <p:sp>
          <p:nvSpPr>
            <p:cNvPr id="25" name="Freeform 25"/>
            <p:cNvSpPr/>
            <p:nvPr/>
          </p:nvSpPr>
          <p:spPr>
            <a:xfrm>
              <a:off x="0" y="0"/>
              <a:ext cx="2438400" cy="731520"/>
            </a:xfrm>
            <a:custGeom>
              <a:avLst/>
              <a:gdLst/>
              <a:ahLst/>
              <a:cxnLst/>
              <a:rect l="l" t="t" r="r" b="b"/>
              <a:pathLst>
                <a:path w="2438400" h="73152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3B567A"/>
            </a:solidFill>
          </p:spPr>
          <p:txBody>
            <a:bodyPr/>
            <a:lstStyle/>
            <a:p>
              <a:endParaRPr lang="en-US"/>
            </a:p>
          </p:txBody>
        </p:sp>
      </p:grpSp>
      <p:grpSp>
        <p:nvGrpSpPr>
          <p:cNvPr id="26" name="Group 26"/>
          <p:cNvGrpSpPr/>
          <p:nvPr/>
        </p:nvGrpSpPr>
        <p:grpSpPr>
          <a:xfrm>
            <a:off x="9829800" y="6675120"/>
            <a:ext cx="1828800" cy="548640"/>
            <a:chOff x="0" y="0"/>
            <a:chExt cx="2438400" cy="731520"/>
          </a:xfrm>
        </p:grpSpPr>
        <p:sp>
          <p:nvSpPr>
            <p:cNvPr id="27" name="Freeform 27"/>
            <p:cNvSpPr/>
            <p:nvPr/>
          </p:nvSpPr>
          <p:spPr>
            <a:xfrm>
              <a:off x="0" y="0"/>
              <a:ext cx="2438400" cy="731520"/>
            </a:xfrm>
            <a:custGeom>
              <a:avLst/>
              <a:gdLst/>
              <a:ahLst/>
              <a:cxnLst/>
              <a:rect l="l" t="t" r="r" b="b"/>
              <a:pathLst>
                <a:path w="2438400" h="731520">
                  <a:moveTo>
                    <a:pt x="0" y="0"/>
                  </a:moveTo>
                  <a:lnTo>
                    <a:pt x="2438400" y="0"/>
                  </a:lnTo>
                  <a:lnTo>
                    <a:pt x="2438400" y="731520"/>
                  </a:lnTo>
                  <a:lnTo>
                    <a:pt x="0" y="731520"/>
                  </a:lnTo>
                  <a:close/>
                </a:path>
              </a:pathLst>
            </a:custGeom>
            <a:blipFill>
              <a:blip r:embed="rId4">
                <a:alphaModFix amt="0"/>
              </a:blip>
              <a:stretch>
                <a:fillRect t="-14950" b="-14950"/>
              </a:stretch>
            </a:blipFill>
          </p:spPr>
          <p:txBody>
            <a:bodyPr/>
            <a:lstStyle/>
            <a:p>
              <a:endParaRPr lang="en-US"/>
            </a:p>
          </p:txBody>
        </p:sp>
        <p:sp>
          <p:nvSpPr>
            <p:cNvPr id="28" name="TextBox 28"/>
            <p:cNvSpPr txBox="1"/>
            <p:nvPr/>
          </p:nvSpPr>
          <p:spPr>
            <a:xfrm>
              <a:off x="0" y="-9525"/>
              <a:ext cx="2438400" cy="741045"/>
            </a:xfrm>
            <a:prstGeom prst="rect">
              <a:avLst/>
            </a:prstGeom>
          </p:spPr>
          <p:txBody>
            <a:bodyPr lIns="0" tIns="0" rIns="0" bIns="0" rtlCol="0" anchor="ctr"/>
            <a:lstStyle/>
            <a:p>
              <a:pPr algn="ctr">
                <a:lnSpc>
                  <a:spcPts val="2519"/>
                </a:lnSpc>
              </a:pPr>
              <a:r>
                <a:rPr lang="en-US" sz="2099" b="1">
                  <a:solidFill>
                    <a:srgbClr val="FFFFFF"/>
                  </a:solidFill>
                  <a:latin typeface="League Spartan"/>
                  <a:ea typeface="League Spartan"/>
                  <a:cs typeface="League Spartan"/>
                  <a:sym typeface="League Spartan"/>
                </a:rPr>
                <a:t>Sem 11-14</a:t>
              </a:r>
            </a:p>
          </p:txBody>
        </p:sp>
      </p:grpSp>
      <p:sp>
        <p:nvSpPr>
          <p:cNvPr id="29" name="TextBox 29"/>
          <p:cNvSpPr txBox="1"/>
          <p:nvPr/>
        </p:nvSpPr>
        <p:spPr>
          <a:xfrm>
            <a:off x="11887200" y="6656832"/>
            <a:ext cx="5120640" cy="1000125"/>
          </a:xfrm>
          <a:prstGeom prst="rect">
            <a:avLst/>
          </a:prstGeom>
        </p:spPr>
        <p:txBody>
          <a:bodyPr lIns="0" tIns="0" rIns="0" bIns="0" rtlCol="0" anchor="t">
            <a:spAutoFit/>
          </a:bodyPr>
          <a:lstStyle/>
          <a:p>
            <a:pPr algn="l">
              <a:lnSpc>
                <a:spcPts val="2639"/>
              </a:lnSpc>
            </a:pPr>
            <a:r>
              <a:rPr lang="en-US" sz="2199">
                <a:solidFill>
                  <a:srgbClr val="000000"/>
                </a:solidFill>
                <a:latin typeface="Open Sans 2"/>
                <a:ea typeface="Open Sans 2"/>
                <a:cs typeface="Open Sans 2"/>
                <a:sym typeface="Open Sans 2"/>
              </a:rPr>
              <a:t>Sprint 3: plantillas dinámicas, servicio de IA (revisión y autocompletado) y nuevo alcance.</a:t>
            </a:r>
          </a:p>
        </p:txBody>
      </p:sp>
      <p:grpSp>
        <p:nvGrpSpPr>
          <p:cNvPr id="30" name="Group 30"/>
          <p:cNvGrpSpPr/>
          <p:nvPr/>
        </p:nvGrpSpPr>
        <p:grpSpPr>
          <a:xfrm>
            <a:off x="9829800" y="8183880"/>
            <a:ext cx="1828800" cy="548640"/>
            <a:chOff x="0" y="0"/>
            <a:chExt cx="2438400" cy="731520"/>
          </a:xfrm>
        </p:grpSpPr>
        <p:sp>
          <p:nvSpPr>
            <p:cNvPr id="31" name="Freeform 31"/>
            <p:cNvSpPr/>
            <p:nvPr/>
          </p:nvSpPr>
          <p:spPr>
            <a:xfrm>
              <a:off x="0" y="0"/>
              <a:ext cx="2438400" cy="731520"/>
            </a:xfrm>
            <a:custGeom>
              <a:avLst/>
              <a:gdLst/>
              <a:ahLst/>
              <a:cxnLst/>
              <a:rect l="l" t="t" r="r" b="b"/>
              <a:pathLst>
                <a:path w="2438400" h="73152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3B567A"/>
            </a:solidFill>
          </p:spPr>
          <p:txBody>
            <a:bodyPr/>
            <a:lstStyle/>
            <a:p>
              <a:endParaRPr lang="en-US"/>
            </a:p>
          </p:txBody>
        </p:sp>
      </p:grpSp>
      <p:grpSp>
        <p:nvGrpSpPr>
          <p:cNvPr id="32" name="Group 32"/>
          <p:cNvGrpSpPr/>
          <p:nvPr/>
        </p:nvGrpSpPr>
        <p:grpSpPr>
          <a:xfrm>
            <a:off x="9829800" y="8183880"/>
            <a:ext cx="1828800" cy="548640"/>
            <a:chOff x="0" y="0"/>
            <a:chExt cx="2438400" cy="731520"/>
          </a:xfrm>
        </p:grpSpPr>
        <p:sp>
          <p:nvSpPr>
            <p:cNvPr id="33" name="Freeform 33"/>
            <p:cNvSpPr/>
            <p:nvPr/>
          </p:nvSpPr>
          <p:spPr>
            <a:xfrm>
              <a:off x="0" y="0"/>
              <a:ext cx="2438400" cy="731520"/>
            </a:xfrm>
            <a:custGeom>
              <a:avLst/>
              <a:gdLst/>
              <a:ahLst/>
              <a:cxnLst/>
              <a:rect l="l" t="t" r="r" b="b"/>
              <a:pathLst>
                <a:path w="2438400" h="731520">
                  <a:moveTo>
                    <a:pt x="0" y="0"/>
                  </a:moveTo>
                  <a:lnTo>
                    <a:pt x="2438400" y="0"/>
                  </a:lnTo>
                  <a:lnTo>
                    <a:pt x="2438400" y="731520"/>
                  </a:lnTo>
                  <a:lnTo>
                    <a:pt x="0" y="731520"/>
                  </a:lnTo>
                  <a:close/>
                </a:path>
              </a:pathLst>
            </a:custGeom>
            <a:blipFill>
              <a:blip r:embed="rId4">
                <a:alphaModFix amt="0"/>
              </a:blip>
              <a:stretch>
                <a:fillRect t="-14950" b="-14950"/>
              </a:stretch>
            </a:blipFill>
          </p:spPr>
          <p:txBody>
            <a:bodyPr/>
            <a:lstStyle/>
            <a:p>
              <a:endParaRPr lang="en-US"/>
            </a:p>
          </p:txBody>
        </p:sp>
        <p:sp>
          <p:nvSpPr>
            <p:cNvPr id="34" name="TextBox 34"/>
            <p:cNvSpPr txBox="1"/>
            <p:nvPr/>
          </p:nvSpPr>
          <p:spPr>
            <a:xfrm>
              <a:off x="0" y="-9525"/>
              <a:ext cx="2438400" cy="741045"/>
            </a:xfrm>
            <a:prstGeom prst="rect">
              <a:avLst/>
            </a:prstGeom>
          </p:spPr>
          <p:txBody>
            <a:bodyPr lIns="0" tIns="0" rIns="0" bIns="0" rtlCol="0" anchor="ctr"/>
            <a:lstStyle/>
            <a:p>
              <a:pPr algn="ctr">
                <a:lnSpc>
                  <a:spcPts val="2519"/>
                </a:lnSpc>
              </a:pPr>
              <a:r>
                <a:rPr lang="en-US" sz="2099" b="1">
                  <a:solidFill>
                    <a:srgbClr val="FFFFFF"/>
                  </a:solidFill>
                  <a:latin typeface="League Spartan"/>
                  <a:ea typeface="League Spartan"/>
                  <a:cs typeface="League Spartan"/>
                  <a:sym typeface="League Spartan"/>
                </a:rPr>
                <a:t>Sem 15-18</a:t>
              </a:r>
            </a:p>
          </p:txBody>
        </p:sp>
      </p:grpSp>
      <p:sp>
        <p:nvSpPr>
          <p:cNvPr id="35" name="TextBox 35"/>
          <p:cNvSpPr txBox="1"/>
          <p:nvPr/>
        </p:nvSpPr>
        <p:spPr>
          <a:xfrm>
            <a:off x="11887200" y="8165592"/>
            <a:ext cx="5120640" cy="666750"/>
          </a:xfrm>
          <a:prstGeom prst="rect">
            <a:avLst/>
          </a:prstGeom>
        </p:spPr>
        <p:txBody>
          <a:bodyPr lIns="0" tIns="0" rIns="0" bIns="0" rtlCol="0" anchor="t">
            <a:spAutoFit/>
          </a:bodyPr>
          <a:lstStyle/>
          <a:p>
            <a:pPr algn="l">
              <a:lnSpc>
                <a:spcPts val="2639"/>
              </a:lnSpc>
            </a:pPr>
            <a:r>
              <a:rPr lang="en-US" sz="2199">
                <a:solidFill>
                  <a:srgbClr val="000000"/>
                </a:solidFill>
                <a:latin typeface="Open Sans 2"/>
                <a:ea typeface="Open Sans 2"/>
                <a:cs typeface="Open Sans 2"/>
                <a:sym typeface="Open Sans 2"/>
              </a:rPr>
              <a:t>Fase 3: Manuales, documentación final y defensa</a:t>
            </a:r>
          </a:p>
        </p:txBody>
      </p:sp>
      <p:grpSp>
        <p:nvGrpSpPr>
          <p:cNvPr id="36" name="Group 36"/>
          <p:cNvGrpSpPr/>
          <p:nvPr/>
        </p:nvGrpSpPr>
        <p:grpSpPr>
          <a:xfrm>
            <a:off x="1737360" y="4064127"/>
            <a:ext cx="502920" cy="502920"/>
            <a:chOff x="0" y="0"/>
            <a:chExt cx="670560" cy="670560"/>
          </a:xfrm>
        </p:grpSpPr>
        <p:sp>
          <p:nvSpPr>
            <p:cNvPr id="37" name="Freeform 37"/>
            <p:cNvSpPr/>
            <p:nvPr/>
          </p:nvSpPr>
          <p:spPr>
            <a:xfrm>
              <a:off x="0" y="0"/>
              <a:ext cx="670560" cy="670560"/>
            </a:xfrm>
            <a:custGeom>
              <a:avLst/>
              <a:gdLst/>
              <a:ahLst/>
              <a:cxnLst/>
              <a:rect l="l" t="t" r="r" b="b"/>
              <a:pathLst>
                <a:path w="670560" h="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3B567A"/>
            </a:solidFill>
          </p:spPr>
          <p:txBody>
            <a:bodyPr/>
            <a:lstStyle/>
            <a:p>
              <a:endParaRPr lang="en-US"/>
            </a:p>
          </p:txBody>
        </p:sp>
      </p:grpSp>
      <p:grpSp>
        <p:nvGrpSpPr>
          <p:cNvPr id="38" name="Group 38"/>
          <p:cNvGrpSpPr/>
          <p:nvPr/>
        </p:nvGrpSpPr>
        <p:grpSpPr>
          <a:xfrm>
            <a:off x="1737360" y="4064127"/>
            <a:ext cx="502920" cy="502920"/>
            <a:chOff x="0" y="0"/>
            <a:chExt cx="670560" cy="670560"/>
          </a:xfrm>
        </p:grpSpPr>
        <p:sp>
          <p:nvSpPr>
            <p:cNvPr id="39" name="Freeform 39"/>
            <p:cNvSpPr/>
            <p:nvPr/>
          </p:nvSpPr>
          <p:spPr>
            <a:xfrm>
              <a:off x="0" y="0"/>
              <a:ext cx="670560" cy="670560"/>
            </a:xfrm>
            <a:custGeom>
              <a:avLst/>
              <a:gdLst/>
              <a:ahLst/>
              <a:cxnLst/>
              <a:rect l="l" t="t" r="r" b="b"/>
              <a:pathLst>
                <a:path w="670560" h="670560">
                  <a:moveTo>
                    <a:pt x="0" y="0"/>
                  </a:moveTo>
                  <a:lnTo>
                    <a:pt x="670560" y="0"/>
                  </a:lnTo>
                  <a:lnTo>
                    <a:pt x="670560" y="670560"/>
                  </a:lnTo>
                  <a:lnTo>
                    <a:pt x="0" y="670560"/>
                  </a:lnTo>
                  <a:close/>
                </a:path>
              </a:pathLst>
            </a:custGeom>
            <a:blipFill>
              <a:blip r:embed="rId4">
                <a:alphaModFix amt="0"/>
              </a:blip>
              <a:stretch>
                <a:fillRect l="-78303" r="-78303"/>
              </a:stretch>
            </a:blipFill>
          </p:spPr>
          <p:txBody>
            <a:bodyPr/>
            <a:lstStyle/>
            <a:p>
              <a:endParaRPr lang="en-US"/>
            </a:p>
          </p:txBody>
        </p:sp>
        <p:sp>
          <p:nvSpPr>
            <p:cNvPr id="40" name="TextBox 40"/>
            <p:cNvSpPr txBox="1"/>
            <p:nvPr/>
          </p:nvSpPr>
          <p:spPr>
            <a:xfrm>
              <a:off x="0" y="-47625"/>
              <a:ext cx="670560" cy="718185"/>
            </a:xfrm>
            <a:prstGeom prst="rect">
              <a:avLst/>
            </a:prstGeom>
          </p:spPr>
          <p:txBody>
            <a:bodyPr lIns="0" tIns="0" rIns="0" bIns="0" rtlCol="0" anchor="ctr"/>
            <a:lstStyle/>
            <a:p>
              <a:pPr algn="ctr">
                <a:lnSpc>
                  <a:spcPts val="2759"/>
                </a:lnSpc>
              </a:pPr>
              <a:r>
                <a:rPr lang="en-US" sz="2299" b="1">
                  <a:solidFill>
                    <a:srgbClr val="FFFFFF"/>
                  </a:solidFill>
                  <a:latin typeface="Calibri (MS) Bold"/>
                  <a:ea typeface="Calibri (MS) Bold"/>
                  <a:cs typeface="Calibri (MS) Bold"/>
                  <a:sym typeface="Calibri (MS) Bold"/>
                </a:rPr>
                <a:t>✓</a:t>
              </a:r>
            </a:p>
          </p:txBody>
        </p:sp>
      </p:grpSp>
      <p:sp>
        <p:nvSpPr>
          <p:cNvPr id="41" name="TextBox 41"/>
          <p:cNvSpPr txBox="1"/>
          <p:nvPr/>
        </p:nvSpPr>
        <p:spPr>
          <a:xfrm>
            <a:off x="2514600" y="3931920"/>
            <a:ext cx="6217920" cy="1076325"/>
          </a:xfrm>
          <a:prstGeom prst="rect">
            <a:avLst/>
          </a:prstGeom>
        </p:spPr>
        <p:txBody>
          <a:bodyPr lIns="0" tIns="0" rIns="0" bIns="0" rtlCol="0" anchor="t">
            <a:spAutoFit/>
          </a:bodyPr>
          <a:lstStyle/>
          <a:p>
            <a:pPr algn="l">
              <a:lnSpc>
                <a:spcPts val="3239"/>
              </a:lnSpc>
            </a:pPr>
            <a:r>
              <a:rPr lang="en-US" sz="2699" b="1">
                <a:solidFill>
                  <a:srgbClr val="3B567A"/>
                </a:solidFill>
                <a:latin typeface="League Spartan"/>
                <a:ea typeface="League Spartan"/>
                <a:cs typeface="League Spartan"/>
                <a:sym typeface="League Spartan"/>
              </a:rPr>
              <a:t>Flujo base operativo</a:t>
            </a:r>
          </a:p>
          <a:p>
            <a:pPr algn="l">
              <a:lnSpc>
                <a:spcPts val="2639"/>
              </a:lnSpc>
            </a:pPr>
            <a:r>
              <a:rPr lang="en-US" sz="2199">
                <a:solidFill>
                  <a:srgbClr val="545454"/>
                </a:solidFill>
                <a:latin typeface="Open Sans 2"/>
                <a:ea typeface="Open Sans 2"/>
                <a:cs typeface="Open Sans 2"/>
                <a:sym typeface="Open Sans 2"/>
              </a:rPr>
              <a:t>12/12 historias validadas por la clienta y 33 casos de prueba automatizados.</a:t>
            </a:r>
          </a:p>
        </p:txBody>
      </p:sp>
      <p:grpSp>
        <p:nvGrpSpPr>
          <p:cNvPr id="42" name="Group 42"/>
          <p:cNvGrpSpPr/>
          <p:nvPr/>
        </p:nvGrpSpPr>
        <p:grpSpPr>
          <a:xfrm>
            <a:off x="1737360" y="6030087"/>
            <a:ext cx="502920" cy="502920"/>
            <a:chOff x="0" y="0"/>
            <a:chExt cx="670560" cy="670560"/>
          </a:xfrm>
        </p:grpSpPr>
        <p:sp>
          <p:nvSpPr>
            <p:cNvPr id="43" name="Freeform 43"/>
            <p:cNvSpPr/>
            <p:nvPr/>
          </p:nvSpPr>
          <p:spPr>
            <a:xfrm>
              <a:off x="0" y="0"/>
              <a:ext cx="670560" cy="670560"/>
            </a:xfrm>
            <a:custGeom>
              <a:avLst/>
              <a:gdLst/>
              <a:ahLst/>
              <a:cxnLst/>
              <a:rect l="l" t="t" r="r" b="b"/>
              <a:pathLst>
                <a:path w="670560" h="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3B567A"/>
            </a:solidFill>
          </p:spPr>
          <p:txBody>
            <a:bodyPr/>
            <a:lstStyle/>
            <a:p>
              <a:endParaRPr lang="en-US"/>
            </a:p>
          </p:txBody>
        </p:sp>
      </p:grpSp>
      <p:grpSp>
        <p:nvGrpSpPr>
          <p:cNvPr id="44" name="Group 44"/>
          <p:cNvGrpSpPr/>
          <p:nvPr/>
        </p:nvGrpSpPr>
        <p:grpSpPr>
          <a:xfrm>
            <a:off x="1737360" y="6030087"/>
            <a:ext cx="502920" cy="502920"/>
            <a:chOff x="0" y="0"/>
            <a:chExt cx="670560" cy="670560"/>
          </a:xfrm>
        </p:grpSpPr>
        <p:sp>
          <p:nvSpPr>
            <p:cNvPr id="45" name="Freeform 45"/>
            <p:cNvSpPr/>
            <p:nvPr/>
          </p:nvSpPr>
          <p:spPr>
            <a:xfrm>
              <a:off x="0" y="0"/>
              <a:ext cx="670560" cy="670560"/>
            </a:xfrm>
            <a:custGeom>
              <a:avLst/>
              <a:gdLst/>
              <a:ahLst/>
              <a:cxnLst/>
              <a:rect l="l" t="t" r="r" b="b"/>
              <a:pathLst>
                <a:path w="670560" h="670560">
                  <a:moveTo>
                    <a:pt x="0" y="0"/>
                  </a:moveTo>
                  <a:lnTo>
                    <a:pt x="670560" y="0"/>
                  </a:lnTo>
                  <a:lnTo>
                    <a:pt x="670560" y="670560"/>
                  </a:lnTo>
                  <a:lnTo>
                    <a:pt x="0" y="670560"/>
                  </a:lnTo>
                  <a:close/>
                </a:path>
              </a:pathLst>
            </a:custGeom>
            <a:blipFill>
              <a:blip r:embed="rId4">
                <a:alphaModFix amt="0"/>
              </a:blip>
              <a:stretch>
                <a:fillRect l="-78303" r="-78303"/>
              </a:stretch>
            </a:blipFill>
          </p:spPr>
          <p:txBody>
            <a:bodyPr/>
            <a:lstStyle/>
            <a:p>
              <a:endParaRPr lang="en-US"/>
            </a:p>
          </p:txBody>
        </p:sp>
        <p:sp>
          <p:nvSpPr>
            <p:cNvPr id="46" name="TextBox 46"/>
            <p:cNvSpPr txBox="1"/>
            <p:nvPr/>
          </p:nvSpPr>
          <p:spPr>
            <a:xfrm>
              <a:off x="0" y="-47625"/>
              <a:ext cx="670560" cy="718185"/>
            </a:xfrm>
            <a:prstGeom prst="rect">
              <a:avLst/>
            </a:prstGeom>
          </p:spPr>
          <p:txBody>
            <a:bodyPr lIns="0" tIns="0" rIns="0" bIns="0" rtlCol="0" anchor="ctr"/>
            <a:lstStyle/>
            <a:p>
              <a:pPr algn="ctr">
                <a:lnSpc>
                  <a:spcPts val="2759"/>
                </a:lnSpc>
              </a:pPr>
              <a:r>
                <a:rPr lang="en-US" sz="2299" b="1">
                  <a:solidFill>
                    <a:srgbClr val="FFFFFF"/>
                  </a:solidFill>
                  <a:latin typeface="Calibri (MS) Bold"/>
                  <a:ea typeface="Calibri (MS) Bold"/>
                  <a:cs typeface="Calibri (MS) Bold"/>
                  <a:sym typeface="Calibri (MS) Bold"/>
                </a:rPr>
                <a:t>✓</a:t>
              </a:r>
            </a:p>
          </p:txBody>
        </p:sp>
      </p:grpSp>
      <p:sp>
        <p:nvSpPr>
          <p:cNvPr id="47" name="TextBox 47"/>
          <p:cNvSpPr txBox="1"/>
          <p:nvPr/>
        </p:nvSpPr>
        <p:spPr>
          <a:xfrm>
            <a:off x="2514600" y="5897880"/>
            <a:ext cx="6217920" cy="1076325"/>
          </a:xfrm>
          <a:prstGeom prst="rect">
            <a:avLst/>
          </a:prstGeom>
        </p:spPr>
        <p:txBody>
          <a:bodyPr lIns="0" tIns="0" rIns="0" bIns="0" rtlCol="0" anchor="t">
            <a:spAutoFit/>
          </a:bodyPr>
          <a:lstStyle/>
          <a:p>
            <a:pPr algn="l">
              <a:lnSpc>
                <a:spcPts val="3239"/>
              </a:lnSpc>
            </a:pPr>
            <a:r>
              <a:rPr lang="en-US" sz="2699" b="1">
                <a:solidFill>
                  <a:srgbClr val="3B567A"/>
                </a:solidFill>
                <a:latin typeface="League Spartan"/>
                <a:ea typeface="League Spartan"/>
                <a:cs typeface="League Spartan"/>
                <a:sym typeface="League Spartan"/>
              </a:rPr>
              <a:t>Feedback temprano</a:t>
            </a:r>
          </a:p>
          <a:p>
            <a:pPr algn="l">
              <a:lnSpc>
                <a:spcPts val="2639"/>
              </a:lnSpc>
            </a:pPr>
            <a:r>
              <a:rPr lang="en-US" sz="2199">
                <a:solidFill>
                  <a:srgbClr val="545454"/>
                </a:solidFill>
                <a:latin typeface="Open Sans 2"/>
                <a:ea typeface="Open Sans 2"/>
                <a:cs typeface="Open Sans 2"/>
                <a:sym typeface="Open Sans 2"/>
              </a:rPr>
              <a:t>Mejoró la solución, pero amplió el alcance: </a:t>
            </a:r>
            <a:r>
              <a:rPr lang="en-US" sz="2199" b="1">
                <a:solidFill>
                  <a:srgbClr val="545454"/>
                </a:solidFill>
                <a:latin typeface="Open Sans 2 Bold"/>
                <a:ea typeface="Open Sans 2 Bold"/>
                <a:cs typeface="Open Sans 2 Bold"/>
                <a:sym typeface="Open Sans 2 Bold"/>
              </a:rPr>
              <a:t>hay que priorizar</a:t>
            </a:r>
            <a:r>
              <a:rPr lang="en-US" sz="2199">
                <a:solidFill>
                  <a:srgbClr val="545454"/>
                </a:solidFill>
                <a:latin typeface="Open Sans 2"/>
                <a:ea typeface="Open Sans 2"/>
                <a:cs typeface="Open Sans 2"/>
                <a:sym typeface="Open Sans 2"/>
              </a:rPr>
              <a:t>.</a:t>
            </a:r>
          </a:p>
        </p:txBody>
      </p:sp>
      <p:grpSp>
        <p:nvGrpSpPr>
          <p:cNvPr id="48" name="Group 48"/>
          <p:cNvGrpSpPr/>
          <p:nvPr/>
        </p:nvGrpSpPr>
        <p:grpSpPr>
          <a:xfrm>
            <a:off x="1737360" y="7996047"/>
            <a:ext cx="502920" cy="502920"/>
            <a:chOff x="0" y="0"/>
            <a:chExt cx="670560" cy="670560"/>
          </a:xfrm>
        </p:grpSpPr>
        <p:sp>
          <p:nvSpPr>
            <p:cNvPr id="49" name="Freeform 49"/>
            <p:cNvSpPr/>
            <p:nvPr/>
          </p:nvSpPr>
          <p:spPr>
            <a:xfrm>
              <a:off x="0" y="0"/>
              <a:ext cx="670560" cy="670560"/>
            </a:xfrm>
            <a:custGeom>
              <a:avLst/>
              <a:gdLst/>
              <a:ahLst/>
              <a:cxnLst/>
              <a:rect l="l" t="t" r="r" b="b"/>
              <a:pathLst>
                <a:path w="670560" h="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3B567A"/>
            </a:solidFill>
          </p:spPr>
          <p:txBody>
            <a:bodyPr/>
            <a:lstStyle/>
            <a:p>
              <a:endParaRPr lang="en-US"/>
            </a:p>
          </p:txBody>
        </p:sp>
      </p:grpSp>
      <p:grpSp>
        <p:nvGrpSpPr>
          <p:cNvPr id="50" name="Group 50"/>
          <p:cNvGrpSpPr/>
          <p:nvPr/>
        </p:nvGrpSpPr>
        <p:grpSpPr>
          <a:xfrm>
            <a:off x="1737360" y="7996047"/>
            <a:ext cx="502920" cy="502920"/>
            <a:chOff x="0" y="0"/>
            <a:chExt cx="670560" cy="670560"/>
          </a:xfrm>
        </p:grpSpPr>
        <p:sp>
          <p:nvSpPr>
            <p:cNvPr id="51" name="Freeform 51"/>
            <p:cNvSpPr/>
            <p:nvPr/>
          </p:nvSpPr>
          <p:spPr>
            <a:xfrm>
              <a:off x="0" y="0"/>
              <a:ext cx="670560" cy="670560"/>
            </a:xfrm>
            <a:custGeom>
              <a:avLst/>
              <a:gdLst/>
              <a:ahLst/>
              <a:cxnLst/>
              <a:rect l="l" t="t" r="r" b="b"/>
              <a:pathLst>
                <a:path w="670560" h="670560">
                  <a:moveTo>
                    <a:pt x="0" y="0"/>
                  </a:moveTo>
                  <a:lnTo>
                    <a:pt x="670560" y="0"/>
                  </a:lnTo>
                  <a:lnTo>
                    <a:pt x="670560" y="670560"/>
                  </a:lnTo>
                  <a:lnTo>
                    <a:pt x="0" y="670560"/>
                  </a:lnTo>
                  <a:close/>
                </a:path>
              </a:pathLst>
            </a:custGeom>
            <a:blipFill>
              <a:blip r:embed="rId4">
                <a:alphaModFix amt="0"/>
              </a:blip>
              <a:stretch>
                <a:fillRect l="-78303" r="-78303"/>
              </a:stretch>
            </a:blipFill>
          </p:spPr>
          <p:txBody>
            <a:bodyPr/>
            <a:lstStyle/>
            <a:p>
              <a:endParaRPr lang="en-US"/>
            </a:p>
          </p:txBody>
        </p:sp>
        <p:sp>
          <p:nvSpPr>
            <p:cNvPr id="52" name="TextBox 52"/>
            <p:cNvSpPr txBox="1"/>
            <p:nvPr/>
          </p:nvSpPr>
          <p:spPr>
            <a:xfrm>
              <a:off x="0" y="-47625"/>
              <a:ext cx="670560" cy="718185"/>
            </a:xfrm>
            <a:prstGeom prst="rect">
              <a:avLst/>
            </a:prstGeom>
          </p:spPr>
          <p:txBody>
            <a:bodyPr lIns="0" tIns="0" rIns="0" bIns="0" rtlCol="0" anchor="ctr"/>
            <a:lstStyle/>
            <a:p>
              <a:pPr algn="ctr">
                <a:lnSpc>
                  <a:spcPts val="2759"/>
                </a:lnSpc>
              </a:pPr>
              <a:r>
                <a:rPr lang="en-US" sz="2299" b="1">
                  <a:solidFill>
                    <a:srgbClr val="FFFFFF"/>
                  </a:solidFill>
                  <a:latin typeface="Calibri (MS) Bold"/>
                  <a:ea typeface="Calibri (MS) Bold"/>
                  <a:cs typeface="Calibri (MS) Bold"/>
                  <a:sym typeface="Calibri (MS) Bold"/>
                </a:rPr>
                <a:t>✓</a:t>
              </a:r>
            </a:p>
          </p:txBody>
        </p:sp>
      </p:grpSp>
      <p:sp>
        <p:nvSpPr>
          <p:cNvPr id="53" name="TextBox 53"/>
          <p:cNvSpPr txBox="1"/>
          <p:nvPr/>
        </p:nvSpPr>
        <p:spPr>
          <a:xfrm>
            <a:off x="2514600" y="7863840"/>
            <a:ext cx="6217920" cy="1485900"/>
          </a:xfrm>
          <a:prstGeom prst="rect">
            <a:avLst/>
          </a:prstGeom>
        </p:spPr>
        <p:txBody>
          <a:bodyPr lIns="0" tIns="0" rIns="0" bIns="0" rtlCol="0" anchor="t">
            <a:spAutoFit/>
          </a:bodyPr>
          <a:lstStyle/>
          <a:p>
            <a:pPr algn="l">
              <a:lnSpc>
                <a:spcPts val="3239"/>
              </a:lnSpc>
            </a:pPr>
            <a:r>
              <a:rPr lang="en-US" sz="2699" b="1">
                <a:solidFill>
                  <a:srgbClr val="3B567A"/>
                </a:solidFill>
                <a:latin typeface="League Spartan"/>
                <a:ea typeface="League Spartan"/>
                <a:cs typeface="League Spartan"/>
                <a:sym typeface="League Spartan"/>
              </a:rPr>
              <a:t>Arquitectura desacoplada y con uso de contenedores (Docker)</a:t>
            </a:r>
          </a:p>
          <a:p>
            <a:pPr algn="l">
              <a:lnSpc>
                <a:spcPts val="2639"/>
              </a:lnSpc>
            </a:pPr>
            <a:r>
              <a:rPr lang="en-US" sz="2199">
                <a:solidFill>
                  <a:srgbClr val="545454"/>
                </a:solidFill>
                <a:latin typeface="Open Sans 2"/>
                <a:ea typeface="Open Sans 2"/>
                <a:cs typeface="Open Sans 2"/>
                <a:sym typeface="Open Sans 2"/>
              </a:rPr>
              <a:t>Facilitó trabajar en paralelo y desplegar en un VPS sin problemas de configuración.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3D5E89"/>
        </a:solidFill>
        <a:effectLst/>
      </p:bgPr>
    </p:bg>
    <p:spTree>
      <p:nvGrpSpPr>
        <p:cNvPr id="1" name=""/>
        <p:cNvGrpSpPr/>
        <p:nvPr/>
      </p:nvGrpSpPr>
      <p:grpSpPr>
        <a:xfrm>
          <a:off x="0" y="0"/>
          <a:ext cx="0" cy="0"/>
          <a:chOff x="0" y="0"/>
          <a:chExt cx="0" cy="0"/>
        </a:xfrm>
      </p:grpSpPr>
      <p:sp>
        <p:nvSpPr>
          <p:cNvPr id="2" name="TextBox 2"/>
          <p:cNvSpPr txBox="1"/>
          <p:nvPr/>
        </p:nvSpPr>
        <p:spPr>
          <a:xfrm>
            <a:off x="2011334" y="3581083"/>
            <a:ext cx="14265333"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FFFFFF"/>
                </a:solidFill>
                <a:latin typeface="League Spartan"/>
                <a:ea typeface="League Spartan"/>
                <a:cs typeface="League Spartan"/>
                <a:sym typeface="League Spartan"/>
              </a:rPr>
              <a:t>14 Reflexión Final</a:t>
            </a:r>
          </a:p>
        </p:txBody>
      </p:sp>
      <p:sp>
        <p:nvSpPr>
          <p:cNvPr id="3" name="Freeform 3"/>
          <p:cNvSpPr/>
          <p:nvPr/>
        </p:nvSpPr>
        <p:spPr>
          <a:xfrm rot="9142812">
            <a:off x="-2583699" y="5889479"/>
            <a:ext cx="4709171" cy="6065677"/>
          </a:xfrm>
          <a:custGeom>
            <a:avLst/>
            <a:gdLst/>
            <a:ahLst/>
            <a:cxnLst/>
            <a:rect l="l" t="t" r="r" b="b"/>
            <a:pathLst>
              <a:path w="4709171" h="6065677">
                <a:moveTo>
                  <a:pt x="0" y="0"/>
                </a:moveTo>
                <a:lnTo>
                  <a:pt x="4709171" y="0"/>
                </a:lnTo>
                <a:lnTo>
                  <a:pt x="4709171" y="6065677"/>
                </a:lnTo>
                <a:lnTo>
                  <a:pt x="0" y="60656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2481050">
            <a:off x="16538277" y="-1098609"/>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769296">
            <a:off x="-914399" y="-1062564"/>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8769296">
            <a:off x="16342785" y="7723543"/>
            <a:ext cx="3415397" cy="4399223"/>
          </a:xfrm>
          <a:custGeom>
            <a:avLst/>
            <a:gdLst/>
            <a:ahLst/>
            <a:cxnLst/>
            <a:rect l="l" t="t" r="r" b="b"/>
            <a:pathLst>
              <a:path w="3415397" h="4399223">
                <a:moveTo>
                  <a:pt x="0" y="0"/>
                </a:moveTo>
                <a:lnTo>
                  <a:pt x="3415396" y="0"/>
                </a:lnTo>
                <a:lnTo>
                  <a:pt x="3415396" y="4399223"/>
                </a:lnTo>
                <a:lnTo>
                  <a:pt x="0" y="439922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1355332"/>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Una reflexión</a:t>
            </a:r>
          </a:p>
        </p:txBody>
      </p:sp>
      <p:sp>
        <p:nvSpPr>
          <p:cNvPr id="3" name="Freeform 3"/>
          <p:cNvSpPr/>
          <p:nvPr/>
        </p:nvSpPr>
        <p:spPr>
          <a:xfrm flipH="1" flipV="1">
            <a:off x="-629602" y="-1756079"/>
            <a:ext cx="4223721" cy="4223721"/>
          </a:xfrm>
          <a:custGeom>
            <a:avLst/>
            <a:gdLst/>
            <a:ahLst/>
            <a:cxnLst/>
            <a:rect l="l" t="t" r="r" b="b"/>
            <a:pathLst>
              <a:path w="4223721" h="4223721">
                <a:moveTo>
                  <a:pt x="4223722" y="4223722"/>
                </a:moveTo>
                <a:lnTo>
                  <a:pt x="0" y="4223722"/>
                </a:lnTo>
                <a:lnTo>
                  <a:pt x="0" y="0"/>
                </a:lnTo>
                <a:lnTo>
                  <a:pt x="4223722" y="0"/>
                </a:lnTo>
                <a:lnTo>
                  <a:pt x="4223722" y="42237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6279176" y="0"/>
            <a:ext cx="2008824" cy="2230954"/>
          </a:xfrm>
          <a:custGeom>
            <a:avLst/>
            <a:gdLst/>
            <a:ahLst/>
            <a:cxnLst/>
            <a:rect l="l" t="t" r="r" b="b"/>
            <a:pathLst>
              <a:path w="2008824" h="2230954">
                <a:moveTo>
                  <a:pt x="0" y="0"/>
                </a:moveTo>
                <a:lnTo>
                  <a:pt x="2008824" y="0"/>
                </a:lnTo>
                <a:lnTo>
                  <a:pt x="2008824" y="2230954"/>
                </a:lnTo>
                <a:lnTo>
                  <a:pt x="0" y="223095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42</a:t>
            </a:r>
          </a:p>
        </p:txBody>
      </p:sp>
      <p:grpSp>
        <p:nvGrpSpPr>
          <p:cNvPr id="6" name="Group 6"/>
          <p:cNvGrpSpPr/>
          <p:nvPr/>
        </p:nvGrpSpPr>
        <p:grpSpPr>
          <a:xfrm>
            <a:off x="508556" y="2791738"/>
            <a:ext cx="5582429" cy="6466562"/>
            <a:chOff x="0" y="0"/>
            <a:chExt cx="6461760" cy="7485159"/>
          </a:xfrm>
        </p:grpSpPr>
        <p:sp>
          <p:nvSpPr>
            <p:cNvPr id="7" name="Freeform 7"/>
            <p:cNvSpPr/>
            <p:nvPr/>
          </p:nvSpPr>
          <p:spPr>
            <a:xfrm>
              <a:off x="0" y="0"/>
              <a:ext cx="6461760" cy="7485159"/>
            </a:xfrm>
            <a:custGeom>
              <a:avLst/>
              <a:gdLst/>
              <a:ahLst/>
              <a:cxnLst/>
              <a:rect l="l" t="t" r="r" b="b"/>
              <a:pathLst>
                <a:path w="6461760" h="7485159">
                  <a:moveTo>
                    <a:pt x="0" y="332674"/>
                  </a:moveTo>
                  <a:cubicBezTo>
                    <a:pt x="0" y="148886"/>
                    <a:pt x="152781" y="0"/>
                    <a:pt x="341376" y="0"/>
                  </a:cubicBezTo>
                  <a:lnTo>
                    <a:pt x="6120384" y="0"/>
                  </a:lnTo>
                  <a:cubicBezTo>
                    <a:pt x="6308979" y="0"/>
                    <a:pt x="6461760" y="148886"/>
                    <a:pt x="6461760" y="332674"/>
                  </a:cubicBezTo>
                  <a:lnTo>
                    <a:pt x="6461760" y="7152485"/>
                  </a:lnTo>
                  <a:cubicBezTo>
                    <a:pt x="6461760" y="7336272"/>
                    <a:pt x="6308979" y="7485159"/>
                    <a:pt x="6120384" y="7485159"/>
                  </a:cubicBezTo>
                  <a:lnTo>
                    <a:pt x="341376" y="7485159"/>
                  </a:lnTo>
                  <a:cubicBezTo>
                    <a:pt x="152781" y="7485159"/>
                    <a:pt x="0" y="7336273"/>
                    <a:pt x="0" y="7152485"/>
                  </a:cubicBezTo>
                  <a:close/>
                </a:path>
              </a:pathLst>
            </a:custGeom>
            <a:solidFill>
              <a:srgbClr val="FFFFFF"/>
            </a:solidFill>
            <a:ln cap="sq">
              <a:noFill/>
              <a:prstDash val="solid"/>
              <a:miter/>
            </a:ln>
          </p:spPr>
          <p:txBody>
            <a:bodyPr/>
            <a:lstStyle/>
            <a:p>
              <a:endParaRPr lang="en-US"/>
            </a:p>
          </p:txBody>
        </p:sp>
      </p:grpSp>
      <p:grpSp>
        <p:nvGrpSpPr>
          <p:cNvPr id="8" name="Group 8"/>
          <p:cNvGrpSpPr/>
          <p:nvPr/>
        </p:nvGrpSpPr>
        <p:grpSpPr>
          <a:xfrm>
            <a:off x="6432581" y="2782213"/>
            <a:ext cx="5582429" cy="6476087"/>
            <a:chOff x="0" y="0"/>
            <a:chExt cx="6461760" cy="7496185"/>
          </a:xfrm>
        </p:grpSpPr>
        <p:sp>
          <p:nvSpPr>
            <p:cNvPr id="9" name="Freeform 9"/>
            <p:cNvSpPr/>
            <p:nvPr/>
          </p:nvSpPr>
          <p:spPr>
            <a:xfrm>
              <a:off x="0" y="0"/>
              <a:ext cx="6461760" cy="7496184"/>
            </a:xfrm>
            <a:custGeom>
              <a:avLst/>
              <a:gdLst/>
              <a:ahLst/>
              <a:cxnLst/>
              <a:rect l="l" t="t" r="r" b="b"/>
              <a:pathLst>
                <a:path w="6461760" h="7496184">
                  <a:moveTo>
                    <a:pt x="0" y="333164"/>
                  </a:moveTo>
                  <a:cubicBezTo>
                    <a:pt x="0" y="149106"/>
                    <a:pt x="152781" y="0"/>
                    <a:pt x="341376" y="0"/>
                  </a:cubicBezTo>
                  <a:lnTo>
                    <a:pt x="6120384" y="0"/>
                  </a:lnTo>
                  <a:cubicBezTo>
                    <a:pt x="6308979" y="0"/>
                    <a:pt x="6461760" y="149106"/>
                    <a:pt x="6461760" y="333164"/>
                  </a:cubicBezTo>
                  <a:lnTo>
                    <a:pt x="6461760" y="7163021"/>
                  </a:lnTo>
                  <a:cubicBezTo>
                    <a:pt x="6461760" y="7347079"/>
                    <a:pt x="6308979" y="7496184"/>
                    <a:pt x="6120384" y="7496184"/>
                  </a:cubicBezTo>
                  <a:lnTo>
                    <a:pt x="341376" y="7496184"/>
                  </a:lnTo>
                  <a:cubicBezTo>
                    <a:pt x="152781" y="7496184"/>
                    <a:pt x="0" y="7347079"/>
                    <a:pt x="0" y="7163021"/>
                  </a:cubicBezTo>
                  <a:close/>
                </a:path>
              </a:pathLst>
            </a:custGeom>
            <a:solidFill>
              <a:srgbClr val="FFFFFF"/>
            </a:solidFill>
            <a:ln cap="sq">
              <a:noFill/>
              <a:prstDash val="solid"/>
              <a:miter/>
            </a:ln>
          </p:spPr>
          <p:txBody>
            <a:bodyPr/>
            <a:lstStyle/>
            <a:p>
              <a:endParaRPr lang="en-US"/>
            </a:p>
          </p:txBody>
        </p:sp>
      </p:grpSp>
      <p:grpSp>
        <p:nvGrpSpPr>
          <p:cNvPr id="10" name="Group 10"/>
          <p:cNvGrpSpPr/>
          <p:nvPr/>
        </p:nvGrpSpPr>
        <p:grpSpPr>
          <a:xfrm>
            <a:off x="12329335" y="2782213"/>
            <a:ext cx="5582429" cy="6476087"/>
            <a:chOff x="0" y="0"/>
            <a:chExt cx="6461760" cy="7496185"/>
          </a:xfrm>
        </p:grpSpPr>
        <p:sp>
          <p:nvSpPr>
            <p:cNvPr id="11" name="Freeform 11"/>
            <p:cNvSpPr/>
            <p:nvPr/>
          </p:nvSpPr>
          <p:spPr>
            <a:xfrm>
              <a:off x="0" y="0"/>
              <a:ext cx="6461760" cy="7496184"/>
            </a:xfrm>
            <a:custGeom>
              <a:avLst/>
              <a:gdLst/>
              <a:ahLst/>
              <a:cxnLst/>
              <a:rect l="l" t="t" r="r" b="b"/>
              <a:pathLst>
                <a:path w="6461760" h="7496184">
                  <a:moveTo>
                    <a:pt x="0" y="333164"/>
                  </a:moveTo>
                  <a:cubicBezTo>
                    <a:pt x="0" y="149106"/>
                    <a:pt x="152781" y="0"/>
                    <a:pt x="341376" y="0"/>
                  </a:cubicBezTo>
                  <a:lnTo>
                    <a:pt x="6120384" y="0"/>
                  </a:lnTo>
                  <a:cubicBezTo>
                    <a:pt x="6308979" y="0"/>
                    <a:pt x="6461760" y="149106"/>
                    <a:pt x="6461760" y="333164"/>
                  </a:cubicBezTo>
                  <a:lnTo>
                    <a:pt x="6461760" y="7163021"/>
                  </a:lnTo>
                  <a:cubicBezTo>
                    <a:pt x="6461760" y="7347079"/>
                    <a:pt x="6308979" y="7496184"/>
                    <a:pt x="6120384" y="7496184"/>
                  </a:cubicBezTo>
                  <a:lnTo>
                    <a:pt x="341376" y="7496184"/>
                  </a:lnTo>
                  <a:cubicBezTo>
                    <a:pt x="152781" y="7496184"/>
                    <a:pt x="0" y="7347079"/>
                    <a:pt x="0" y="7163021"/>
                  </a:cubicBezTo>
                  <a:close/>
                </a:path>
              </a:pathLst>
            </a:custGeom>
            <a:solidFill>
              <a:srgbClr val="FFFFFF"/>
            </a:solidFill>
            <a:ln cap="sq">
              <a:noFill/>
              <a:prstDash val="solid"/>
              <a:miter/>
            </a:ln>
          </p:spPr>
          <p:txBody>
            <a:bodyPr/>
            <a:lstStyle/>
            <a:p>
              <a:endParaRPr lang="en-US"/>
            </a:p>
          </p:txBody>
        </p:sp>
      </p:grpSp>
      <p:sp>
        <p:nvSpPr>
          <p:cNvPr id="12" name="TextBox 12"/>
          <p:cNvSpPr txBox="1"/>
          <p:nvPr/>
        </p:nvSpPr>
        <p:spPr>
          <a:xfrm>
            <a:off x="11618682" y="3410165"/>
            <a:ext cx="6669318" cy="567777"/>
          </a:xfrm>
          <a:prstGeom prst="rect">
            <a:avLst/>
          </a:prstGeom>
        </p:spPr>
        <p:txBody>
          <a:bodyPr lIns="0" tIns="0" rIns="0" bIns="0" rtlCol="0" anchor="t">
            <a:spAutoFit/>
          </a:bodyPr>
          <a:lstStyle/>
          <a:p>
            <a:pPr marL="0" lvl="0" indent="0" algn="ctr">
              <a:lnSpc>
                <a:spcPts val="4545"/>
              </a:lnSpc>
              <a:spcBef>
                <a:spcPct val="0"/>
              </a:spcBef>
            </a:pPr>
            <a:r>
              <a:rPr lang="en-US" sz="3788" b="1">
                <a:solidFill>
                  <a:srgbClr val="3B567A"/>
                </a:solidFill>
                <a:latin typeface="League Spartan"/>
                <a:ea typeface="League Spartan"/>
                <a:cs typeface="League Spartan"/>
                <a:sym typeface="League Spartan"/>
              </a:rPr>
              <a:t>Nicolas</a:t>
            </a:r>
          </a:p>
        </p:txBody>
      </p:sp>
      <p:sp>
        <p:nvSpPr>
          <p:cNvPr id="13" name="TextBox 13"/>
          <p:cNvSpPr txBox="1"/>
          <p:nvPr/>
        </p:nvSpPr>
        <p:spPr>
          <a:xfrm>
            <a:off x="5809341" y="3410165"/>
            <a:ext cx="6669318" cy="567777"/>
          </a:xfrm>
          <a:prstGeom prst="rect">
            <a:avLst/>
          </a:prstGeom>
        </p:spPr>
        <p:txBody>
          <a:bodyPr lIns="0" tIns="0" rIns="0" bIns="0" rtlCol="0" anchor="t">
            <a:spAutoFit/>
          </a:bodyPr>
          <a:lstStyle/>
          <a:p>
            <a:pPr marL="0" lvl="0" indent="0" algn="ctr">
              <a:lnSpc>
                <a:spcPts val="4545"/>
              </a:lnSpc>
              <a:spcBef>
                <a:spcPct val="0"/>
              </a:spcBef>
            </a:pPr>
            <a:r>
              <a:rPr lang="en-US" sz="3788" b="1">
                <a:solidFill>
                  <a:srgbClr val="3B567A"/>
                </a:solidFill>
                <a:latin typeface="League Spartan"/>
                <a:ea typeface="League Spartan"/>
                <a:cs typeface="League Spartan"/>
                <a:sym typeface="League Spartan"/>
              </a:rPr>
              <a:t>Eduardo</a:t>
            </a:r>
          </a:p>
        </p:txBody>
      </p:sp>
      <p:sp>
        <p:nvSpPr>
          <p:cNvPr id="14" name="TextBox 14"/>
          <p:cNvSpPr txBox="1"/>
          <p:nvPr/>
        </p:nvSpPr>
        <p:spPr>
          <a:xfrm>
            <a:off x="0" y="3410165"/>
            <a:ext cx="6669318" cy="567777"/>
          </a:xfrm>
          <a:prstGeom prst="rect">
            <a:avLst/>
          </a:prstGeom>
        </p:spPr>
        <p:txBody>
          <a:bodyPr lIns="0" tIns="0" rIns="0" bIns="0" rtlCol="0" anchor="t">
            <a:spAutoFit/>
          </a:bodyPr>
          <a:lstStyle/>
          <a:p>
            <a:pPr marL="0" lvl="0" indent="0" algn="ctr">
              <a:lnSpc>
                <a:spcPts val="4545"/>
              </a:lnSpc>
              <a:spcBef>
                <a:spcPct val="0"/>
              </a:spcBef>
            </a:pPr>
            <a:r>
              <a:rPr lang="en-US" sz="3788" b="1">
                <a:solidFill>
                  <a:srgbClr val="3B567A"/>
                </a:solidFill>
                <a:latin typeface="League Spartan"/>
                <a:ea typeface="League Spartan"/>
                <a:cs typeface="League Spartan"/>
                <a:sym typeface="League Spartan"/>
              </a:rPr>
              <a:t>Kevin</a:t>
            </a:r>
          </a:p>
        </p:txBody>
      </p:sp>
      <p:sp>
        <p:nvSpPr>
          <p:cNvPr id="15" name="TextBox 15"/>
          <p:cNvSpPr txBox="1"/>
          <p:nvPr/>
        </p:nvSpPr>
        <p:spPr>
          <a:xfrm>
            <a:off x="841759" y="4333568"/>
            <a:ext cx="4967582" cy="3648711"/>
          </a:xfrm>
          <a:prstGeom prst="rect">
            <a:avLst/>
          </a:prstGeom>
        </p:spPr>
        <p:txBody>
          <a:bodyPr lIns="0" tIns="0" rIns="0" bIns="0" rtlCol="0" anchor="t">
            <a:spAutoFit/>
          </a:bodyPr>
          <a:lstStyle/>
          <a:p>
            <a:pPr algn="just">
              <a:lnSpc>
                <a:spcPts val="3639"/>
              </a:lnSpc>
              <a:spcBef>
                <a:spcPct val="0"/>
              </a:spcBef>
            </a:pPr>
            <a:r>
              <a:rPr lang="en-US" sz="2599">
                <a:solidFill>
                  <a:srgbClr val="3B567A"/>
                </a:solidFill>
                <a:latin typeface="Open Sans 1"/>
                <a:ea typeface="Open Sans 1"/>
                <a:cs typeface="Open Sans 1"/>
                <a:sym typeface="Open Sans 1"/>
              </a:rPr>
              <a:t>Aprendí que aportar valor al producto no consiste únicamente en programar. También implica comprender las necesidades de la clienta. Así, el producto no solo funciona técnicamente, sino que también resulta útil.</a:t>
            </a:r>
          </a:p>
        </p:txBody>
      </p:sp>
      <p:sp>
        <p:nvSpPr>
          <p:cNvPr id="16" name="TextBox 16"/>
          <p:cNvSpPr txBox="1"/>
          <p:nvPr/>
        </p:nvSpPr>
        <p:spPr>
          <a:xfrm>
            <a:off x="12716687" y="4176851"/>
            <a:ext cx="5195077" cy="3648711"/>
          </a:xfrm>
          <a:prstGeom prst="rect">
            <a:avLst/>
          </a:prstGeom>
        </p:spPr>
        <p:txBody>
          <a:bodyPr lIns="0" tIns="0" rIns="0" bIns="0" rtlCol="0" anchor="t">
            <a:spAutoFit/>
          </a:bodyPr>
          <a:lstStyle/>
          <a:p>
            <a:pPr algn="just">
              <a:lnSpc>
                <a:spcPts val="3639"/>
              </a:lnSpc>
              <a:spcBef>
                <a:spcPct val="0"/>
              </a:spcBef>
            </a:pPr>
            <a:r>
              <a:rPr lang="en-US" sz="2599">
                <a:solidFill>
                  <a:srgbClr val="3B567A"/>
                </a:solidFill>
                <a:latin typeface="Open Sans 1"/>
                <a:ea typeface="Open Sans 1"/>
                <a:cs typeface="Open Sans 1"/>
                <a:sym typeface="Open Sans 1"/>
              </a:rPr>
              <a:t>Gracias a este proyecto pude entender mejor como se trabaja con un cliente y cómo sus necesidades se pueden transformar en una buena solución, tambien aprendi a trabajar de forma ordenada con mi equipo</a:t>
            </a:r>
          </a:p>
        </p:txBody>
      </p:sp>
      <p:sp>
        <p:nvSpPr>
          <p:cNvPr id="17" name="TextBox 17"/>
          <p:cNvSpPr txBox="1"/>
          <p:nvPr/>
        </p:nvSpPr>
        <p:spPr>
          <a:xfrm>
            <a:off x="6740004" y="4333568"/>
            <a:ext cx="4967582" cy="3648711"/>
          </a:xfrm>
          <a:prstGeom prst="rect">
            <a:avLst/>
          </a:prstGeom>
        </p:spPr>
        <p:txBody>
          <a:bodyPr lIns="0" tIns="0" rIns="0" bIns="0" rtlCol="0" anchor="t">
            <a:spAutoFit/>
          </a:bodyPr>
          <a:lstStyle/>
          <a:p>
            <a:pPr algn="just">
              <a:lnSpc>
                <a:spcPts val="3639"/>
              </a:lnSpc>
              <a:spcBef>
                <a:spcPct val="0"/>
              </a:spcBef>
            </a:pPr>
            <a:r>
              <a:rPr lang="en-US" sz="2599">
                <a:solidFill>
                  <a:srgbClr val="3B567A"/>
                </a:solidFill>
                <a:latin typeface="Open Sans 1"/>
                <a:ea typeface="Open Sans 1"/>
                <a:cs typeface="Open Sans 1"/>
                <a:sym typeface="Open Sans 1"/>
              </a:rPr>
              <a:t>En este proyecto tuve la oportunidad de consolidar mis habilidades construyendo un sistema que resuelve una necesidad real, incorporando además tecnología de vanguardia mediante la integración de IA.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TextBox 2"/>
          <p:cNvSpPr txBox="1"/>
          <p:nvPr/>
        </p:nvSpPr>
        <p:spPr>
          <a:xfrm>
            <a:off x="2101557" y="3258481"/>
            <a:ext cx="14084886"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B567A"/>
                </a:solidFill>
                <a:latin typeface="League Spartan"/>
                <a:ea typeface="League Spartan"/>
                <a:cs typeface="League Spartan"/>
                <a:sym typeface="League Spartan"/>
              </a:rPr>
              <a:t>¡Gracias por su atención!</a:t>
            </a:r>
          </a:p>
        </p:txBody>
      </p:sp>
      <p:sp>
        <p:nvSpPr>
          <p:cNvPr id="3" name="Freeform 3"/>
          <p:cNvSpPr/>
          <p:nvPr/>
        </p:nvSpPr>
        <p:spPr>
          <a:xfrm rot="-10708336">
            <a:off x="-2226892" y="1406711"/>
            <a:ext cx="3194581" cy="4114800"/>
          </a:xfrm>
          <a:custGeom>
            <a:avLst/>
            <a:gdLst/>
            <a:ahLst/>
            <a:cxnLst/>
            <a:rect l="l" t="t" r="r" b="b"/>
            <a:pathLst>
              <a:path w="3194581" h="4114800">
                <a:moveTo>
                  <a:pt x="0" y="0"/>
                </a:moveTo>
                <a:lnTo>
                  <a:pt x="3194581" y="0"/>
                </a:lnTo>
                <a:lnTo>
                  <a:pt x="319458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7383791" y="4314720"/>
            <a:ext cx="3520418" cy="3909696"/>
          </a:xfrm>
          <a:custGeom>
            <a:avLst/>
            <a:gdLst/>
            <a:ahLst/>
            <a:cxnLst/>
            <a:rect l="l" t="t" r="r" b="b"/>
            <a:pathLst>
              <a:path w="3520418" h="3909696">
                <a:moveTo>
                  <a:pt x="0" y="0"/>
                </a:moveTo>
                <a:lnTo>
                  <a:pt x="3520418" y="0"/>
                </a:lnTo>
                <a:lnTo>
                  <a:pt x="3520418" y="3909695"/>
                </a:lnTo>
                <a:lnTo>
                  <a:pt x="0" y="3909695"/>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80203" y="461407"/>
            <a:ext cx="1496993" cy="1028700"/>
          </a:xfrm>
          <a:prstGeom prst="rect">
            <a:avLst/>
          </a:prstGeom>
        </p:spPr>
        <p:txBody>
          <a:bodyPr lIns="0" tIns="0" rIns="0" bIns="0" rtlCol="0" anchor="t">
            <a:spAutoFit/>
          </a:bodyPr>
          <a:lstStyle/>
          <a:p>
            <a:pPr marL="0" lvl="0" indent="0" algn="ctr">
              <a:lnSpc>
                <a:spcPts val="8160"/>
              </a:lnSpc>
              <a:spcBef>
                <a:spcPct val="0"/>
              </a:spcBef>
            </a:pPr>
            <a:r>
              <a:rPr lang="en-US" sz="6800" b="1">
                <a:solidFill>
                  <a:srgbClr val="FFFFFF"/>
                </a:solidFill>
                <a:latin typeface="League Spartan"/>
                <a:ea typeface="League Spartan"/>
                <a:cs typeface="League Spartan"/>
                <a:sym typeface="League Spartan"/>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1337</Words>
  <Application>Microsoft Office PowerPoint</Application>
  <PresentationFormat>Personalizado</PresentationFormat>
  <Paragraphs>289</Paragraphs>
  <Slides>43</Slides>
  <Notes>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43</vt:i4>
      </vt:variant>
    </vt:vector>
  </HeadingPairs>
  <TitlesOfParts>
    <vt:vector size="55" baseType="lpstr">
      <vt:lpstr>League Spartan</vt:lpstr>
      <vt:lpstr>Arial</vt:lpstr>
      <vt:lpstr>Calibri (MS) Bold</vt:lpstr>
      <vt:lpstr>Open Sans 1 Bold</vt:lpstr>
      <vt:lpstr>Open Sans 2</vt:lpstr>
      <vt:lpstr>Calibri</vt:lpstr>
      <vt:lpstr>Raleway</vt:lpstr>
      <vt:lpstr>Open Sans 1</vt:lpstr>
      <vt:lpstr>Raleway Bold</vt:lpstr>
      <vt:lpstr>Open Sans 2 Bold Italics</vt:lpstr>
      <vt:lpstr>Open Sans 2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Proyecto avance</dc:title>
  <cp:lastModifiedBy>Eduardo Kusar Quiroz</cp:lastModifiedBy>
  <cp:revision>2</cp:revision>
  <dcterms:created xsi:type="dcterms:W3CDTF">2006-08-16T00:00:00Z</dcterms:created>
  <dcterms:modified xsi:type="dcterms:W3CDTF">2026-10-17T19:52:18Z</dcterms:modified>
  <dc:identifier>DAHXKMTcGVA</dc:identifier>
</cp:coreProperties>
</file>