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Calibri (MS) Bold" panose="020B0604020202020204" charset="0"/>
      <p:regular r:id="rId31"/>
    </p:embeddedFont>
    <p:embeddedFont>
      <p:font typeface="League Spartan" panose="020B0604020202020204" charset="0"/>
      <p:regular r:id="rId32"/>
    </p:embeddedFont>
    <p:embeddedFont>
      <p:font typeface="Open Sans" panose="020B0606030504020204" pitchFamily="34" charset="0"/>
      <p:regular r:id="rId33"/>
    </p:embeddedFont>
    <p:embeddedFont>
      <p:font typeface="Open Sans Bold" panose="020B0604020202020204" charset="0"/>
      <p:regular r:id="rId34"/>
    </p:embeddedFont>
    <p:embeddedFont>
      <p:font typeface="Raleway" pitchFamily="2" charset="0"/>
      <p:regular r:id="rId35"/>
    </p:embeddedFont>
    <p:embeddedFont>
      <p:font typeface="Raleway Bold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4.png"/><Relationship Id="rId7" Type="http://schemas.openxmlformats.org/officeDocument/2006/relationships/image" Target="../media/image1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10" Type="http://schemas.openxmlformats.org/officeDocument/2006/relationships/image" Target="../media/image2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4.png"/><Relationship Id="rId7" Type="http://schemas.openxmlformats.org/officeDocument/2006/relationships/image" Target="../media/image27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10" Type="http://schemas.openxmlformats.org/officeDocument/2006/relationships/image" Target="../media/image2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4.png"/><Relationship Id="rId7" Type="http://schemas.openxmlformats.org/officeDocument/2006/relationships/image" Target="../media/image3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Relationship Id="rId9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9.jpe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12" Type="http://schemas.openxmlformats.org/officeDocument/2006/relationships/image" Target="../media/image6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11" Type="http://schemas.openxmlformats.org/officeDocument/2006/relationships/image" Target="../media/image60.svg"/><Relationship Id="rId5" Type="http://schemas.openxmlformats.org/officeDocument/2006/relationships/image" Target="../media/image54.sv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75961" y="3791277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4318561" y="636562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9925644">
            <a:off x="-1308266" y="2228127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flipH="1" flipV="1">
            <a:off x="-183904" y="-16497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2220604" y="3298576"/>
            <a:ext cx="13285417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79"/>
              </a:lnSpc>
              <a:spcBef>
                <a:spcPct val="0"/>
              </a:spcBef>
            </a:pPr>
            <a:r>
              <a:rPr lang="es-CL" sz="6899" spc="482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PROYECTO DE GESTIÓN DE DOCUMENTOS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29087" y="6869822"/>
            <a:ext cx="1863884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50"/>
              </a:lnSpc>
              <a:spcBef>
                <a:spcPct val="0"/>
              </a:spcBef>
            </a:pPr>
            <a:r>
              <a:rPr lang="es-CL" sz="2300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Integrantes:</a:t>
            </a:r>
          </a:p>
        </p:txBody>
      </p:sp>
      <p:sp>
        <p:nvSpPr>
          <p:cNvPr id="8" name="Freeform 8"/>
          <p:cNvSpPr/>
          <p:nvPr/>
        </p:nvSpPr>
        <p:spPr>
          <a:xfrm>
            <a:off x="10723728" y="684357"/>
            <a:ext cx="3322190" cy="1208069"/>
          </a:xfrm>
          <a:custGeom>
            <a:avLst/>
            <a:gdLst/>
            <a:ahLst/>
            <a:cxnLst/>
            <a:rect l="l" t="t" r="r" b="b"/>
            <a:pathLst>
              <a:path w="3322190" h="1208069">
                <a:moveTo>
                  <a:pt x="0" y="0"/>
                </a:moveTo>
                <a:lnTo>
                  <a:pt x="3322191" y="0"/>
                </a:lnTo>
                <a:lnTo>
                  <a:pt x="3322191" y="1208069"/>
                </a:lnTo>
                <a:lnTo>
                  <a:pt x="0" y="1208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Freeform 9"/>
          <p:cNvSpPr/>
          <p:nvPr/>
        </p:nvSpPr>
        <p:spPr>
          <a:xfrm>
            <a:off x="15158913" y="988684"/>
            <a:ext cx="2281643" cy="2533941"/>
          </a:xfrm>
          <a:custGeom>
            <a:avLst/>
            <a:gdLst/>
            <a:ahLst/>
            <a:cxnLst/>
            <a:rect l="l" t="t" r="r" b="b"/>
            <a:pathLst>
              <a:path w="2281643" h="2533941">
                <a:moveTo>
                  <a:pt x="0" y="0"/>
                </a:moveTo>
                <a:lnTo>
                  <a:pt x="2281644" y="0"/>
                </a:lnTo>
                <a:lnTo>
                  <a:pt x="2281644" y="2533940"/>
                </a:lnTo>
                <a:lnTo>
                  <a:pt x="0" y="2533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5141162" y="6936497"/>
            <a:ext cx="282739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s-CL" sz="2300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Eduardo Kusar</a:t>
            </a:r>
          </a:p>
          <a:p>
            <a:pPr algn="l">
              <a:lnSpc>
                <a:spcPts val="2760"/>
              </a:lnSpc>
            </a:pPr>
            <a:r>
              <a:rPr lang="es-CL" sz="2300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Nicolas Vidal</a:t>
            </a:r>
          </a:p>
          <a:p>
            <a:pPr algn="l">
              <a:lnSpc>
                <a:spcPts val="2760"/>
              </a:lnSpc>
            </a:pPr>
            <a:r>
              <a:rPr lang="es-CL" sz="2300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Kevin Soto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84746" y="8111625"/>
            <a:ext cx="1508224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50"/>
              </a:lnSpc>
              <a:spcBef>
                <a:spcPct val="0"/>
              </a:spcBef>
            </a:pPr>
            <a:r>
              <a:rPr lang="es-CL" sz="2300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Profesor: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12587" y="8195445"/>
            <a:ext cx="647290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s-CL" sz="2300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MAURICIO CARLOS FIGUEROA COLARTE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84629" y="8681220"/>
            <a:ext cx="1908341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50"/>
              </a:lnSpc>
              <a:spcBef>
                <a:spcPct val="0"/>
              </a:spcBef>
            </a:pPr>
            <a:r>
              <a:rPr lang="es-CL" sz="2300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Asignatura: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12587" y="8747895"/>
            <a:ext cx="647290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s-CL" sz="2300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Capstone_003D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89980" y="9507880"/>
            <a:ext cx="507990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s-CL" sz="2300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Viña del Mar </a:t>
            </a:r>
          </a:p>
          <a:p>
            <a:pPr algn="ctr">
              <a:lnSpc>
                <a:spcPts val="2760"/>
              </a:lnSpc>
            </a:pPr>
            <a:r>
              <a:rPr lang="es-CL" sz="2300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 de septiembre 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682954" y="-1350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Freeform 3"/>
          <p:cNvSpPr/>
          <p:nvPr/>
        </p:nvSpPr>
        <p:spPr>
          <a:xfrm>
            <a:off x="14173200" y="748649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5373192" y="0"/>
            <a:ext cx="2914808" cy="3237118"/>
          </a:xfrm>
          <a:custGeom>
            <a:avLst/>
            <a:gdLst/>
            <a:ahLst/>
            <a:cxnLst/>
            <a:rect l="l" t="t" r="r" b="b"/>
            <a:pathLst>
              <a:path w="2914808" h="3237118">
                <a:moveTo>
                  <a:pt x="0" y="0"/>
                </a:moveTo>
                <a:lnTo>
                  <a:pt x="2914808" y="0"/>
                </a:lnTo>
                <a:lnTo>
                  <a:pt x="2914808" y="3237118"/>
                </a:lnTo>
                <a:lnTo>
                  <a:pt x="0" y="32371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3098254" y="3545905"/>
            <a:ext cx="689985" cy="68998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55142" y="1303212"/>
            <a:ext cx="494975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s-CL" sz="8000" b="1" u="none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Índice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91584" y="3635826"/>
            <a:ext cx="2907996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53205" y="3697283"/>
            <a:ext cx="16103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098254" y="4420307"/>
            <a:ext cx="689985" cy="68998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891915" y="4510228"/>
            <a:ext cx="2907665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86927" y="4571684"/>
            <a:ext cx="29358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098254" y="5386517"/>
            <a:ext cx="689985" cy="68998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891584" y="5460047"/>
            <a:ext cx="3161564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Necesidad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04092" y="5537894"/>
            <a:ext cx="259259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098254" y="6333677"/>
            <a:ext cx="689985" cy="68998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891915" y="6433123"/>
            <a:ext cx="2907665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Solución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94369" y="6485054"/>
            <a:ext cx="25965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3098254" y="7208079"/>
            <a:ext cx="689985" cy="68998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891915" y="7297999"/>
            <a:ext cx="4114800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R. Funcionales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08780" y="7359456"/>
            <a:ext cx="24988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3088729" y="8174289"/>
            <a:ext cx="689985" cy="68998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3891915" y="8208082"/>
            <a:ext cx="4566285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R.N Funcionales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299404" y="8325666"/>
            <a:ext cx="26863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380947" y="3979737"/>
            <a:ext cx="689985" cy="689985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250220" y="4069658"/>
            <a:ext cx="1712093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Épicas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82321" y="4131115"/>
            <a:ext cx="26818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380947" y="4854139"/>
            <a:ext cx="689985" cy="689985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0249852" y="4944060"/>
            <a:ext cx="3542348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Arquitectura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82469" y="5005517"/>
            <a:ext cx="26789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380947" y="5820349"/>
            <a:ext cx="689985" cy="689985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249852" y="5874829"/>
            <a:ext cx="3542348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Metodología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582097" y="5971727"/>
            <a:ext cx="26863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9380947" y="6767509"/>
            <a:ext cx="689985" cy="689985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0249852" y="6857430"/>
            <a:ext cx="2475548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 err="1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Sprints</a:t>
            </a:r>
            <a:endParaRPr lang="es-CL" sz="3869" b="1" noProof="0" dirty="0">
              <a:solidFill>
                <a:srgbClr val="3D5E89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9494214" y="6918887"/>
            <a:ext cx="44440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9380947" y="7641911"/>
            <a:ext cx="689985" cy="689985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CL" noProof="0" dirty="0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0249851" y="7731832"/>
            <a:ext cx="3287807" cy="591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642"/>
              </a:lnSpc>
              <a:spcBef>
                <a:spcPct val="0"/>
              </a:spcBef>
            </a:pPr>
            <a:r>
              <a:rPr lang="es-CL" sz="3869" b="1" noProof="0" dirty="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Conclusión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555383" y="7793289"/>
            <a:ext cx="32206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s-CL" sz="3069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 Contexto</a:t>
            </a: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1557" y="135533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Contexto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2101557" y="4599473"/>
            <a:ext cx="4231178" cy="3637688"/>
            <a:chOff x="0" y="0"/>
            <a:chExt cx="955167" cy="8211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5167" cy="821189"/>
            </a:xfrm>
            <a:custGeom>
              <a:avLst/>
              <a:gdLst/>
              <a:ahLst/>
              <a:cxnLst/>
              <a:rect l="l" t="t" r="r" b="b"/>
              <a:pathLst>
                <a:path w="955167" h="821189">
                  <a:moveTo>
                    <a:pt x="955167" y="54892"/>
                  </a:moveTo>
                  <a:lnTo>
                    <a:pt x="955167" y="766297"/>
                  </a:lnTo>
                  <a:cubicBezTo>
                    <a:pt x="955167" y="780856"/>
                    <a:pt x="949383" y="794818"/>
                    <a:pt x="939089" y="805112"/>
                  </a:cubicBezTo>
                  <a:cubicBezTo>
                    <a:pt x="928795" y="815406"/>
                    <a:pt x="914833" y="821189"/>
                    <a:pt x="900275" y="821189"/>
                  </a:cubicBezTo>
                  <a:lnTo>
                    <a:pt x="54892" y="821189"/>
                  </a:lnTo>
                  <a:cubicBezTo>
                    <a:pt x="40334" y="821189"/>
                    <a:pt x="26372" y="815406"/>
                    <a:pt x="16077" y="805112"/>
                  </a:cubicBezTo>
                  <a:cubicBezTo>
                    <a:pt x="5783" y="794818"/>
                    <a:pt x="0" y="780856"/>
                    <a:pt x="0" y="766297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lnTo>
                    <a:pt x="900275" y="0"/>
                  </a:lnTo>
                  <a:cubicBezTo>
                    <a:pt x="914833" y="0"/>
                    <a:pt x="928795" y="5783"/>
                    <a:pt x="939089" y="16077"/>
                  </a:cubicBezTo>
                  <a:cubicBezTo>
                    <a:pt x="949383" y="26372"/>
                    <a:pt x="955167" y="40334"/>
                    <a:pt x="955167" y="548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55167" cy="859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58015" y="4599473"/>
            <a:ext cx="4231178" cy="3637688"/>
            <a:chOff x="0" y="0"/>
            <a:chExt cx="955167" cy="8211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5167" cy="821189"/>
            </a:xfrm>
            <a:custGeom>
              <a:avLst/>
              <a:gdLst/>
              <a:ahLst/>
              <a:cxnLst/>
              <a:rect l="l" t="t" r="r" b="b"/>
              <a:pathLst>
                <a:path w="955167" h="821189">
                  <a:moveTo>
                    <a:pt x="955167" y="54892"/>
                  </a:moveTo>
                  <a:lnTo>
                    <a:pt x="955167" y="766297"/>
                  </a:lnTo>
                  <a:cubicBezTo>
                    <a:pt x="955167" y="780856"/>
                    <a:pt x="949383" y="794818"/>
                    <a:pt x="939089" y="805112"/>
                  </a:cubicBezTo>
                  <a:cubicBezTo>
                    <a:pt x="928795" y="815406"/>
                    <a:pt x="914833" y="821189"/>
                    <a:pt x="900275" y="821189"/>
                  </a:cubicBezTo>
                  <a:lnTo>
                    <a:pt x="54892" y="821189"/>
                  </a:lnTo>
                  <a:cubicBezTo>
                    <a:pt x="40334" y="821189"/>
                    <a:pt x="26372" y="815406"/>
                    <a:pt x="16077" y="805112"/>
                  </a:cubicBezTo>
                  <a:cubicBezTo>
                    <a:pt x="5783" y="794818"/>
                    <a:pt x="0" y="780856"/>
                    <a:pt x="0" y="766297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lnTo>
                    <a:pt x="900275" y="0"/>
                  </a:lnTo>
                  <a:cubicBezTo>
                    <a:pt x="914833" y="0"/>
                    <a:pt x="928795" y="5783"/>
                    <a:pt x="939089" y="16077"/>
                  </a:cubicBezTo>
                  <a:cubicBezTo>
                    <a:pt x="949383" y="26372"/>
                    <a:pt x="955167" y="40334"/>
                    <a:pt x="955167" y="548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55167" cy="859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211535" y="4599473"/>
            <a:ext cx="4231178" cy="3637688"/>
            <a:chOff x="0" y="0"/>
            <a:chExt cx="955167" cy="8211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5167" cy="821189"/>
            </a:xfrm>
            <a:custGeom>
              <a:avLst/>
              <a:gdLst/>
              <a:ahLst/>
              <a:cxnLst/>
              <a:rect l="l" t="t" r="r" b="b"/>
              <a:pathLst>
                <a:path w="955167" h="821189">
                  <a:moveTo>
                    <a:pt x="955167" y="54892"/>
                  </a:moveTo>
                  <a:lnTo>
                    <a:pt x="955167" y="766297"/>
                  </a:lnTo>
                  <a:cubicBezTo>
                    <a:pt x="955167" y="780856"/>
                    <a:pt x="949383" y="794818"/>
                    <a:pt x="939089" y="805112"/>
                  </a:cubicBezTo>
                  <a:cubicBezTo>
                    <a:pt x="928795" y="815406"/>
                    <a:pt x="914833" y="821189"/>
                    <a:pt x="900275" y="821189"/>
                  </a:cubicBezTo>
                  <a:lnTo>
                    <a:pt x="54892" y="821189"/>
                  </a:lnTo>
                  <a:cubicBezTo>
                    <a:pt x="40334" y="821189"/>
                    <a:pt x="26372" y="815406"/>
                    <a:pt x="16077" y="805112"/>
                  </a:cubicBezTo>
                  <a:cubicBezTo>
                    <a:pt x="5783" y="794818"/>
                    <a:pt x="0" y="780856"/>
                    <a:pt x="0" y="766297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lnTo>
                    <a:pt x="900275" y="0"/>
                  </a:lnTo>
                  <a:cubicBezTo>
                    <a:pt x="914833" y="0"/>
                    <a:pt x="928795" y="5783"/>
                    <a:pt x="939089" y="16077"/>
                  </a:cubicBezTo>
                  <a:cubicBezTo>
                    <a:pt x="949383" y="26372"/>
                    <a:pt x="955167" y="40334"/>
                    <a:pt x="955167" y="548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55167" cy="859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101557" y="8584699"/>
            <a:ext cx="14379518" cy="1423403"/>
            <a:chOff x="0" y="0"/>
            <a:chExt cx="3246102" cy="3213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46102" cy="321326"/>
            </a:xfrm>
            <a:custGeom>
              <a:avLst/>
              <a:gdLst/>
              <a:ahLst/>
              <a:cxnLst/>
              <a:rect l="l" t="t" r="r" b="b"/>
              <a:pathLst>
                <a:path w="3246102" h="321326">
                  <a:moveTo>
                    <a:pt x="3246102" y="16152"/>
                  </a:moveTo>
                  <a:lnTo>
                    <a:pt x="3246102" y="305174"/>
                  </a:lnTo>
                  <a:cubicBezTo>
                    <a:pt x="3246102" y="309458"/>
                    <a:pt x="3244400" y="313566"/>
                    <a:pt x="3241371" y="316595"/>
                  </a:cubicBezTo>
                  <a:cubicBezTo>
                    <a:pt x="3238342" y="319624"/>
                    <a:pt x="3234234" y="321326"/>
                    <a:pt x="3229950" y="321326"/>
                  </a:cubicBezTo>
                  <a:lnTo>
                    <a:pt x="16152" y="321326"/>
                  </a:lnTo>
                  <a:cubicBezTo>
                    <a:pt x="7231" y="321326"/>
                    <a:pt x="0" y="314094"/>
                    <a:pt x="0" y="305174"/>
                  </a:cubicBezTo>
                  <a:lnTo>
                    <a:pt x="0" y="16152"/>
                  </a:lnTo>
                  <a:cubicBezTo>
                    <a:pt x="0" y="11868"/>
                    <a:pt x="1702" y="7760"/>
                    <a:pt x="4731" y="4731"/>
                  </a:cubicBezTo>
                  <a:cubicBezTo>
                    <a:pt x="7760" y="1702"/>
                    <a:pt x="11868" y="0"/>
                    <a:pt x="16152" y="0"/>
                  </a:cubicBezTo>
                  <a:lnTo>
                    <a:pt x="3229950" y="0"/>
                  </a:lnTo>
                  <a:cubicBezTo>
                    <a:pt x="3234234" y="0"/>
                    <a:pt x="3238342" y="1702"/>
                    <a:pt x="3241371" y="4731"/>
                  </a:cubicBezTo>
                  <a:cubicBezTo>
                    <a:pt x="3244400" y="7760"/>
                    <a:pt x="3246102" y="11868"/>
                    <a:pt x="3246102" y="16152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246102" cy="359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17" name="Freeform 17"/>
          <p:cNvSpPr/>
          <p:nvPr/>
        </p:nvSpPr>
        <p:spPr>
          <a:xfrm>
            <a:off x="3441774" y="4689724"/>
            <a:ext cx="1694863" cy="1747281"/>
          </a:xfrm>
          <a:custGeom>
            <a:avLst/>
            <a:gdLst/>
            <a:ahLst/>
            <a:cxnLst/>
            <a:rect l="l" t="t" r="r" b="b"/>
            <a:pathLst>
              <a:path w="1694863" h="1747281">
                <a:moveTo>
                  <a:pt x="0" y="0"/>
                </a:moveTo>
                <a:lnTo>
                  <a:pt x="1694863" y="0"/>
                </a:lnTo>
                <a:lnTo>
                  <a:pt x="1694863" y="1747281"/>
                </a:lnTo>
                <a:lnTo>
                  <a:pt x="0" y="1747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Freeform 18"/>
          <p:cNvSpPr/>
          <p:nvPr/>
        </p:nvSpPr>
        <p:spPr>
          <a:xfrm>
            <a:off x="8550495" y="4802295"/>
            <a:ext cx="1481643" cy="1481643"/>
          </a:xfrm>
          <a:custGeom>
            <a:avLst/>
            <a:gdLst/>
            <a:ahLst/>
            <a:cxnLst/>
            <a:rect l="l" t="t" r="r" b="b"/>
            <a:pathLst>
              <a:path w="1481643" h="1481643">
                <a:moveTo>
                  <a:pt x="0" y="0"/>
                </a:moveTo>
                <a:lnTo>
                  <a:pt x="1481643" y="0"/>
                </a:lnTo>
                <a:lnTo>
                  <a:pt x="1481643" y="1481643"/>
                </a:lnTo>
                <a:lnTo>
                  <a:pt x="0" y="14816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Freeform 19"/>
          <p:cNvSpPr/>
          <p:nvPr/>
        </p:nvSpPr>
        <p:spPr>
          <a:xfrm>
            <a:off x="13934796" y="4680561"/>
            <a:ext cx="919354" cy="1612902"/>
          </a:xfrm>
          <a:custGeom>
            <a:avLst/>
            <a:gdLst/>
            <a:ahLst/>
            <a:cxnLst/>
            <a:rect l="l" t="t" r="r" b="b"/>
            <a:pathLst>
              <a:path w="919354" h="1612902">
                <a:moveTo>
                  <a:pt x="0" y="0"/>
                </a:moveTo>
                <a:lnTo>
                  <a:pt x="919354" y="0"/>
                </a:lnTo>
                <a:lnTo>
                  <a:pt x="919354" y="1612902"/>
                </a:lnTo>
                <a:lnTo>
                  <a:pt x="0" y="1612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Box 20"/>
          <p:cNvSpPr txBox="1"/>
          <p:nvPr/>
        </p:nvSpPr>
        <p:spPr>
          <a:xfrm>
            <a:off x="1665783" y="2662088"/>
            <a:ext cx="15875479" cy="1053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9"/>
              </a:lnSpc>
              <a:spcBef>
                <a:spcPct val="0"/>
              </a:spcBef>
            </a:pPr>
            <a:r>
              <a:rPr lang="es-CL" sz="2899" noProof="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Masterbase</a:t>
            </a:r>
            <a:r>
              <a:rPr lang="es-CL" sz="28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es una empresa tecnológica dedicada a la automatización de procesos de negocio a través de su propia plataforma, la cual permite crear soluciones de automatización.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83501" y="6582891"/>
            <a:ext cx="2820959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Sede central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86903" y="6302988"/>
            <a:ext cx="2725803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Presencia internacional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35888" y="6349528"/>
            <a:ext cx="3155269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Oficina en Chile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41638" y="7342298"/>
            <a:ext cx="3738090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Talin, Estonia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33134" y="7342298"/>
            <a:ext cx="3738090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Europa y América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44478" y="7342298"/>
            <a:ext cx="3738090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Santiago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41638" y="8858250"/>
            <a:ext cx="14145216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1"/>
              </a:lnSpc>
              <a:spcBef>
                <a:spcPct val="0"/>
              </a:spcBef>
            </a:pPr>
            <a:r>
              <a:rPr lang="es-CL" sz="2993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 negocio se enfoca en soluciones de operaciones, comunicaciones, documentos y Gestión de datos para empresas de cualquier industria</a:t>
            </a:r>
          </a:p>
        </p:txBody>
      </p:sp>
      <p:sp>
        <p:nvSpPr>
          <p:cNvPr id="28" name="Freeform 28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TextBox 29"/>
          <p:cNvSpPr txBox="1"/>
          <p:nvPr/>
        </p:nvSpPr>
        <p:spPr>
          <a:xfrm>
            <a:off x="289728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 Problema</a:t>
            </a: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1557" y="135533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Problema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2139919" y="4280511"/>
            <a:ext cx="4231178" cy="3811869"/>
            <a:chOff x="0" y="0"/>
            <a:chExt cx="955167" cy="8605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5167" cy="860510"/>
            </a:xfrm>
            <a:custGeom>
              <a:avLst/>
              <a:gdLst/>
              <a:ahLst/>
              <a:cxnLst/>
              <a:rect l="l" t="t" r="r" b="b"/>
              <a:pathLst>
                <a:path w="955167" h="860510">
                  <a:moveTo>
                    <a:pt x="955167" y="54892"/>
                  </a:moveTo>
                  <a:lnTo>
                    <a:pt x="955167" y="805618"/>
                  </a:lnTo>
                  <a:cubicBezTo>
                    <a:pt x="955167" y="835934"/>
                    <a:pt x="930591" y="860510"/>
                    <a:pt x="900275" y="860510"/>
                  </a:cubicBezTo>
                  <a:lnTo>
                    <a:pt x="54892" y="860510"/>
                  </a:lnTo>
                  <a:cubicBezTo>
                    <a:pt x="40334" y="860510"/>
                    <a:pt x="26372" y="854726"/>
                    <a:pt x="16077" y="844432"/>
                  </a:cubicBezTo>
                  <a:cubicBezTo>
                    <a:pt x="5783" y="834138"/>
                    <a:pt x="0" y="820176"/>
                    <a:pt x="0" y="805618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lnTo>
                    <a:pt x="900275" y="0"/>
                  </a:lnTo>
                  <a:cubicBezTo>
                    <a:pt x="914833" y="0"/>
                    <a:pt x="928795" y="5783"/>
                    <a:pt x="939089" y="16077"/>
                  </a:cubicBezTo>
                  <a:cubicBezTo>
                    <a:pt x="949383" y="26372"/>
                    <a:pt x="955167" y="40334"/>
                    <a:pt x="955167" y="548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55167" cy="898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065969" y="4280511"/>
            <a:ext cx="4514350" cy="3811869"/>
            <a:chOff x="0" y="0"/>
            <a:chExt cx="1019091" cy="8605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9091" cy="860510"/>
            </a:xfrm>
            <a:custGeom>
              <a:avLst/>
              <a:gdLst/>
              <a:ahLst/>
              <a:cxnLst/>
              <a:rect l="l" t="t" r="r" b="b"/>
              <a:pathLst>
                <a:path w="1019091" h="860510">
                  <a:moveTo>
                    <a:pt x="1019091" y="51449"/>
                  </a:moveTo>
                  <a:lnTo>
                    <a:pt x="1019091" y="809061"/>
                  </a:lnTo>
                  <a:cubicBezTo>
                    <a:pt x="1019091" y="822706"/>
                    <a:pt x="1013671" y="835792"/>
                    <a:pt x="1004022" y="845441"/>
                  </a:cubicBezTo>
                  <a:cubicBezTo>
                    <a:pt x="994374" y="855089"/>
                    <a:pt x="981288" y="860510"/>
                    <a:pt x="967643" y="860510"/>
                  </a:cubicBezTo>
                  <a:lnTo>
                    <a:pt x="51449" y="860510"/>
                  </a:lnTo>
                  <a:cubicBezTo>
                    <a:pt x="37804" y="860510"/>
                    <a:pt x="24717" y="855089"/>
                    <a:pt x="15069" y="845441"/>
                  </a:cubicBezTo>
                  <a:cubicBezTo>
                    <a:pt x="5420" y="835792"/>
                    <a:pt x="0" y="822706"/>
                    <a:pt x="0" y="809061"/>
                  </a:cubicBezTo>
                  <a:lnTo>
                    <a:pt x="0" y="51449"/>
                  </a:lnTo>
                  <a:cubicBezTo>
                    <a:pt x="0" y="37804"/>
                    <a:pt x="5420" y="24717"/>
                    <a:pt x="15069" y="15069"/>
                  </a:cubicBezTo>
                  <a:cubicBezTo>
                    <a:pt x="24717" y="5420"/>
                    <a:pt x="37804" y="0"/>
                    <a:pt x="51449" y="0"/>
                  </a:cubicBezTo>
                  <a:lnTo>
                    <a:pt x="967643" y="0"/>
                  </a:lnTo>
                  <a:cubicBezTo>
                    <a:pt x="996057" y="0"/>
                    <a:pt x="1019091" y="23034"/>
                    <a:pt x="1019091" y="514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19091" cy="898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249897" y="4280511"/>
            <a:ext cx="4231178" cy="3811869"/>
            <a:chOff x="0" y="0"/>
            <a:chExt cx="955167" cy="8605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5167" cy="860510"/>
            </a:xfrm>
            <a:custGeom>
              <a:avLst/>
              <a:gdLst/>
              <a:ahLst/>
              <a:cxnLst/>
              <a:rect l="l" t="t" r="r" b="b"/>
              <a:pathLst>
                <a:path w="955167" h="860510">
                  <a:moveTo>
                    <a:pt x="955167" y="54892"/>
                  </a:moveTo>
                  <a:lnTo>
                    <a:pt x="955167" y="805618"/>
                  </a:lnTo>
                  <a:cubicBezTo>
                    <a:pt x="955167" y="835934"/>
                    <a:pt x="930591" y="860510"/>
                    <a:pt x="900275" y="860510"/>
                  </a:cubicBezTo>
                  <a:lnTo>
                    <a:pt x="54892" y="860510"/>
                  </a:lnTo>
                  <a:cubicBezTo>
                    <a:pt x="40334" y="860510"/>
                    <a:pt x="26372" y="854726"/>
                    <a:pt x="16077" y="844432"/>
                  </a:cubicBezTo>
                  <a:cubicBezTo>
                    <a:pt x="5783" y="834138"/>
                    <a:pt x="0" y="820176"/>
                    <a:pt x="0" y="805618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lnTo>
                    <a:pt x="900275" y="0"/>
                  </a:lnTo>
                  <a:cubicBezTo>
                    <a:pt x="914833" y="0"/>
                    <a:pt x="928795" y="5783"/>
                    <a:pt x="939089" y="16077"/>
                  </a:cubicBezTo>
                  <a:cubicBezTo>
                    <a:pt x="949383" y="26372"/>
                    <a:pt x="955167" y="40334"/>
                    <a:pt x="955167" y="548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55167" cy="898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489088" y="4485132"/>
            <a:ext cx="1515815" cy="1515815"/>
            <a:chOff x="0" y="0"/>
            <a:chExt cx="1755648" cy="17556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55648" cy="1755648"/>
            </a:xfrm>
            <a:custGeom>
              <a:avLst/>
              <a:gdLst/>
              <a:ahLst/>
              <a:cxnLst/>
              <a:rect l="l" t="t" r="r" b="b"/>
              <a:pathLst>
                <a:path w="1755648" h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583"/>
                    <a:pt x="0" y="877824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02360" y="4485132"/>
            <a:ext cx="1416276" cy="1416276"/>
            <a:chOff x="0" y="0"/>
            <a:chExt cx="1755648" cy="17556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55648" cy="1755648"/>
            </a:xfrm>
            <a:custGeom>
              <a:avLst/>
              <a:gdLst/>
              <a:ahLst/>
              <a:cxnLst/>
              <a:rect l="l" t="t" r="r" b="b"/>
              <a:pathLst>
                <a:path w="1755648" h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583"/>
                    <a:pt x="0" y="877824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942270" y="4825042"/>
            <a:ext cx="736465" cy="736465"/>
            <a:chOff x="0" y="0"/>
            <a:chExt cx="912940" cy="912940"/>
          </a:xfrm>
        </p:grpSpPr>
        <p:sp>
          <p:nvSpPr>
            <p:cNvPr id="19" name="Freeform 19" descr="icons/organizar.png"/>
            <p:cNvSpPr/>
            <p:nvPr/>
          </p:nvSpPr>
          <p:spPr>
            <a:xfrm>
              <a:off x="0" y="0"/>
              <a:ext cx="912876" cy="912876"/>
            </a:xfrm>
            <a:custGeom>
              <a:avLst/>
              <a:gdLst/>
              <a:ahLst/>
              <a:cxnLst/>
              <a:rect l="l" t="t" r="r" b="b"/>
              <a:pathLst>
                <a:path w="912876" h="912876">
                  <a:moveTo>
                    <a:pt x="0" y="0"/>
                  </a:moveTo>
                  <a:lnTo>
                    <a:pt x="912876" y="0"/>
                  </a:lnTo>
                  <a:lnTo>
                    <a:pt x="912876" y="912876"/>
                  </a:lnTo>
                  <a:lnTo>
                    <a:pt x="0" y="912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6" b="-6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19900" y="4558164"/>
            <a:ext cx="1457543" cy="1457543"/>
            <a:chOff x="0" y="0"/>
            <a:chExt cx="1755648" cy="17556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55648" cy="1755648"/>
            </a:xfrm>
            <a:custGeom>
              <a:avLst/>
              <a:gdLst/>
              <a:ahLst/>
              <a:cxnLst/>
              <a:rect l="l" t="t" r="r" b="b"/>
              <a:pathLst>
                <a:path w="1755648" h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583"/>
                    <a:pt x="0" y="877824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69715" y="4907979"/>
            <a:ext cx="757925" cy="757925"/>
            <a:chOff x="0" y="0"/>
            <a:chExt cx="912940" cy="912940"/>
          </a:xfrm>
        </p:grpSpPr>
        <p:sp>
          <p:nvSpPr>
            <p:cNvPr id="23" name="Freeform 23" descr="icons/registrar.png"/>
            <p:cNvSpPr/>
            <p:nvPr/>
          </p:nvSpPr>
          <p:spPr>
            <a:xfrm>
              <a:off x="0" y="0"/>
              <a:ext cx="912876" cy="912876"/>
            </a:xfrm>
            <a:custGeom>
              <a:avLst/>
              <a:gdLst/>
              <a:ahLst/>
              <a:cxnLst/>
              <a:rect l="l" t="t" r="r" b="b"/>
              <a:pathLst>
                <a:path w="912876" h="912876">
                  <a:moveTo>
                    <a:pt x="0" y="0"/>
                  </a:moveTo>
                  <a:lnTo>
                    <a:pt x="912876" y="0"/>
                  </a:lnTo>
                  <a:lnTo>
                    <a:pt x="912876" y="912876"/>
                  </a:lnTo>
                  <a:lnTo>
                    <a:pt x="0" y="912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6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13708026" y="4764603"/>
            <a:ext cx="1135088" cy="987527"/>
          </a:xfrm>
          <a:custGeom>
            <a:avLst/>
            <a:gdLst/>
            <a:ahLst/>
            <a:cxnLst/>
            <a:rect l="l" t="t" r="r" b="b"/>
            <a:pathLst>
              <a:path w="1135088" h="987527">
                <a:moveTo>
                  <a:pt x="0" y="0"/>
                </a:moveTo>
                <a:lnTo>
                  <a:pt x="1135088" y="0"/>
                </a:lnTo>
                <a:lnTo>
                  <a:pt x="1135088" y="987527"/>
                </a:lnTo>
                <a:lnTo>
                  <a:pt x="0" y="9875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Box 25"/>
          <p:cNvSpPr txBox="1"/>
          <p:nvPr/>
        </p:nvSpPr>
        <p:spPr>
          <a:xfrm>
            <a:off x="3300331" y="2837366"/>
            <a:ext cx="12020332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gestión 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solicitudes 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 la organización presenta varios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desafíos 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que dificultaban su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control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25980" y="6151125"/>
            <a:ext cx="3475022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Gestión manual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87180" y="6151125"/>
            <a:ext cx="4361587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Información dispersa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684073" y="6151125"/>
            <a:ext cx="341676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Sin trazabilidad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64798" y="6589275"/>
            <a:ext cx="3738090" cy="136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Tareas y aprobaciones gestionadas de forma manual.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12464" y="6570225"/>
            <a:ext cx="4003565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Documentos en distintos canales y áreas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23410" y="6589275"/>
            <a:ext cx="3738090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No se sabe el estado de cada solicitud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2101557" y="8584699"/>
            <a:ext cx="14379518" cy="1423403"/>
            <a:chOff x="0" y="0"/>
            <a:chExt cx="3246102" cy="32132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246102" cy="321326"/>
            </a:xfrm>
            <a:custGeom>
              <a:avLst/>
              <a:gdLst/>
              <a:ahLst/>
              <a:cxnLst/>
              <a:rect l="l" t="t" r="r" b="b"/>
              <a:pathLst>
                <a:path w="3246102" h="321326">
                  <a:moveTo>
                    <a:pt x="3246102" y="16152"/>
                  </a:moveTo>
                  <a:lnTo>
                    <a:pt x="3246102" y="305174"/>
                  </a:lnTo>
                  <a:cubicBezTo>
                    <a:pt x="3246102" y="309458"/>
                    <a:pt x="3244400" y="313566"/>
                    <a:pt x="3241371" y="316595"/>
                  </a:cubicBezTo>
                  <a:cubicBezTo>
                    <a:pt x="3238342" y="319624"/>
                    <a:pt x="3234234" y="321326"/>
                    <a:pt x="3229950" y="321326"/>
                  </a:cubicBezTo>
                  <a:lnTo>
                    <a:pt x="16152" y="321326"/>
                  </a:lnTo>
                  <a:cubicBezTo>
                    <a:pt x="7231" y="321326"/>
                    <a:pt x="0" y="314094"/>
                    <a:pt x="0" y="305174"/>
                  </a:cubicBezTo>
                  <a:lnTo>
                    <a:pt x="0" y="16152"/>
                  </a:lnTo>
                  <a:cubicBezTo>
                    <a:pt x="0" y="11868"/>
                    <a:pt x="1702" y="7760"/>
                    <a:pt x="4731" y="4731"/>
                  </a:cubicBezTo>
                  <a:cubicBezTo>
                    <a:pt x="7760" y="1702"/>
                    <a:pt x="11868" y="0"/>
                    <a:pt x="16152" y="0"/>
                  </a:cubicBezTo>
                  <a:lnTo>
                    <a:pt x="3229950" y="0"/>
                  </a:lnTo>
                  <a:cubicBezTo>
                    <a:pt x="3234234" y="0"/>
                    <a:pt x="3238342" y="1702"/>
                    <a:pt x="3241371" y="4731"/>
                  </a:cubicBezTo>
                  <a:cubicBezTo>
                    <a:pt x="3244400" y="7760"/>
                    <a:pt x="3246102" y="11868"/>
                    <a:pt x="3246102" y="16152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246102" cy="359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464798" y="8835330"/>
            <a:ext cx="14145216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1"/>
              </a:lnSpc>
              <a:spcBef>
                <a:spcPct val="0"/>
              </a:spcBef>
            </a:pPr>
            <a:r>
              <a:rPr lang="es-CL" sz="2993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Como resultado, se generan demoras, perdida de información y falta de visibilidad sobre el estado de cada solicitud</a:t>
            </a:r>
          </a:p>
        </p:txBody>
      </p:sp>
      <p:sp>
        <p:nvSpPr>
          <p:cNvPr id="36" name="Freeform 36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7" name="TextBox 3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 Necesidad</a:t>
            </a: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1557" y="135533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Necesidad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2139919" y="8384826"/>
            <a:ext cx="7037825" cy="1487592"/>
            <a:chOff x="0" y="0"/>
            <a:chExt cx="1557966" cy="3293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7966" cy="329309"/>
            </a:xfrm>
            <a:custGeom>
              <a:avLst/>
              <a:gdLst/>
              <a:ahLst/>
              <a:cxnLst/>
              <a:rect l="l" t="t" r="r" b="b"/>
              <a:pathLst>
                <a:path w="1557966" h="329309">
                  <a:moveTo>
                    <a:pt x="1557966" y="33001"/>
                  </a:moveTo>
                  <a:lnTo>
                    <a:pt x="1557966" y="296307"/>
                  </a:lnTo>
                  <a:cubicBezTo>
                    <a:pt x="1557966" y="305060"/>
                    <a:pt x="1554489" y="313454"/>
                    <a:pt x="1548300" y="319643"/>
                  </a:cubicBezTo>
                  <a:cubicBezTo>
                    <a:pt x="1542111" y="325832"/>
                    <a:pt x="1533717" y="329309"/>
                    <a:pt x="1524964" y="329309"/>
                  </a:cubicBezTo>
                  <a:lnTo>
                    <a:pt x="33001" y="329309"/>
                  </a:lnTo>
                  <a:cubicBezTo>
                    <a:pt x="24249" y="329309"/>
                    <a:pt x="15855" y="325832"/>
                    <a:pt x="9666" y="319643"/>
                  </a:cubicBezTo>
                  <a:cubicBezTo>
                    <a:pt x="3477" y="313454"/>
                    <a:pt x="0" y="305060"/>
                    <a:pt x="0" y="296307"/>
                  </a:cubicBezTo>
                  <a:lnTo>
                    <a:pt x="0" y="33001"/>
                  </a:lnTo>
                  <a:cubicBezTo>
                    <a:pt x="0" y="24249"/>
                    <a:pt x="3477" y="15855"/>
                    <a:pt x="9666" y="9666"/>
                  </a:cubicBezTo>
                  <a:cubicBezTo>
                    <a:pt x="15855" y="3477"/>
                    <a:pt x="24249" y="0"/>
                    <a:pt x="33001" y="0"/>
                  </a:cubicBezTo>
                  <a:lnTo>
                    <a:pt x="1524964" y="0"/>
                  </a:lnTo>
                  <a:cubicBezTo>
                    <a:pt x="1533717" y="0"/>
                    <a:pt x="1542111" y="3477"/>
                    <a:pt x="1548300" y="9666"/>
                  </a:cubicBezTo>
                  <a:cubicBezTo>
                    <a:pt x="1554489" y="15855"/>
                    <a:pt x="1557966" y="24249"/>
                    <a:pt x="1557966" y="330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57966" cy="367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52868" y="8383546"/>
            <a:ext cx="7037825" cy="1487592"/>
            <a:chOff x="0" y="0"/>
            <a:chExt cx="1557966" cy="3293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7966" cy="329309"/>
            </a:xfrm>
            <a:custGeom>
              <a:avLst/>
              <a:gdLst/>
              <a:ahLst/>
              <a:cxnLst/>
              <a:rect l="l" t="t" r="r" b="b"/>
              <a:pathLst>
                <a:path w="1557966" h="329309">
                  <a:moveTo>
                    <a:pt x="1557966" y="33001"/>
                  </a:moveTo>
                  <a:lnTo>
                    <a:pt x="1557966" y="296307"/>
                  </a:lnTo>
                  <a:cubicBezTo>
                    <a:pt x="1557966" y="305060"/>
                    <a:pt x="1554489" y="313454"/>
                    <a:pt x="1548300" y="319643"/>
                  </a:cubicBezTo>
                  <a:cubicBezTo>
                    <a:pt x="1542111" y="325832"/>
                    <a:pt x="1533717" y="329309"/>
                    <a:pt x="1524964" y="329309"/>
                  </a:cubicBezTo>
                  <a:lnTo>
                    <a:pt x="33001" y="329309"/>
                  </a:lnTo>
                  <a:cubicBezTo>
                    <a:pt x="24249" y="329309"/>
                    <a:pt x="15855" y="325832"/>
                    <a:pt x="9666" y="319643"/>
                  </a:cubicBezTo>
                  <a:cubicBezTo>
                    <a:pt x="3477" y="313454"/>
                    <a:pt x="0" y="305060"/>
                    <a:pt x="0" y="296307"/>
                  </a:cubicBezTo>
                  <a:lnTo>
                    <a:pt x="0" y="33001"/>
                  </a:lnTo>
                  <a:cubicBezTo>
                    <a:pt x="0" y="24249"/>
                    <a:pt x="3477" y="15855"/>
                    <a:pt x="9666" y="9666"/>
                  </a:cubicBezTo>
                  <a:cubicBezTo>
                    <a:pt x="15855" y="3477"/>
                    <a:pt x="24249" y="0"/>
                    <a:pt x="33001" y="0"/>
                  </a:cubicBezTo>
                  <a:lnTo>
                    <a:pt x="1524964" y="0"/>
                  </a:lnTo>
                  <a:cubicBezTo>
                    <a:pt x="1533717" y="0"/>
                    <a:pt x="1542111" y="3477"/>
                    <a:pt x="1548300" y="9666"/>
                  </a:cubicBezTo>
                  <a:cubicBezTo>
                    <a:pt x="1554489" y="15855"/>
                    <a:pt x="1557966" y="24249"/>
                    <a:pt x="1557966" y="330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57966" cy="367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2432012" y="8559695"/>
            <a:ext cx="1289036" cy="1185913"/>
          </a:xfrm>
          <a:custGeom>
            <a:avLst/>
            <a:gdLst/>
            <a:ahLst/>
            <a:cxnLst/>
            <a:rect l="l" t="t" r="r" b="b"/>
            <a:pathLst>
              <a:path w="1289036" h="1185913">
                <a:moveTo>
                  <a:pt x="0" y="0"/>
                </a:moveTo>
                <a:lnTo>
                  <a:pt x="1289035" y="0"/>
                </a:lnTo>
                <a:lnTo>
                  <a:pt x="1289035" y="1185913"/>
                </a:lnTo>
                <a:lnTo>
                  <a:pt x="0" y="1185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Freeform 12"/>
          <p:cNvSpPr/>
          <p:nvPr/>
        </p:nvSpPr>
        <p:spPr>
          <a:xfrm>
            <a:off x="9884034" y="8580090"/>
            <a:ext cx="1211771" cy="1145124"/>
          </a:xfrm>
          <a:custGeom>
            <a:avLst/>
            <a:gdLst/>
            <a:ahLst/>
            <a:cxnLst/>
            <a:rect l="l" t="t" r="r" b="b"/>
            <a:pathLst>
              <a:path w="1211771" h="1145124">
                <a:moveTo>
                  <a:pt x="0" y="0"/>
                </a:moveTo>
                <a:lnTo>
                  <a:pt x="1211771" y="0"/>
                </a:lnTo>
                <a:lnTo>
                  <a:pt x="1211771" y="1145123"/>
                </a:lnTo>
                <a:lnTo>
                  <a:pt x="0" y="1145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3300331" y="2569821"/>
            <a:ext cx="12020332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Frente a estos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desafíos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la organización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requiere 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una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gestión de solicitudes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con mayor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5504" y="7783471"/>
            <a:ext cx="300105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Evitando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9787" y="8896348"/>
            <a:ext cx="5191001" cy="475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1"/>
              </a:lnSpc>
              <a:spcBef>
                <a:spcPct val="0"/>
              </a:spcBef>
            </a:pPr>
            <a:r>
              <a:rPr lang="es-CL" sz="3118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Perdidas de información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27797" y="8913748"/>
            <a:ext cx="5191001" cy="46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1"/>
              </a:lnSpc>
              <a:spcBef>
                <a:spcPct val="0"/>
              </a:spcBef>
            </a:pPr>
            <a:r>
              <a:rPr lang="es-CL" sz="3118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Retrasos en el proceso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139919" y="3909036"/>
            <a:ext cx="4231178" cy="3735669"/>
            <a:chOff x="0" y="0"/>
            <a:chExt cx="955167" cy="8433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167" cy="843308"/>
            </a:xfrm>
            <a:custGeom>
              <a:avLst/>
              <a:gdLst/>
              <a:ahLst/>
              <a:cxnLst/>
              <a:rect l="l" t="t" r="r" b="b"/>
              <a:pathLst>
                <a:path w="955167" h="843308">
                  <a:moveTo>
                    <a:pt x="955167" y="54892"/>
                  </a:moveTo>
                  <a:lnTo>
                    <a:pt x="955167" y="788416"/>
                  </a:lnTo>
                  <a:cubicBezTo>
                    <a:pt x="955167" y="818732"/>
                    <a:pt x="930591" y="843308"/>
                    <a:pt x="900275" y="843308"/>
                  </a:cubicBezTo>
                  <a:lnTo>
                    <a:pt x="54892" y="843308"/>
                  </a:lnTo>
                  <a:cubicBezTo>
                    <a:pt x="40334" y="843308"/>
                    <a:pt x="26372" y="837525"/>
                    <a:pt x="16077" y="827230"/>
                  </a:cubicBezTo>
                  <a:cubicBezTo>
                    <a:pt x="5783" y="816936"/>
                    <a:pt x="0" y="802974"/>
                    <a:pt x="0" y="788416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lnTo>
                    <a:pt x="900275" y="0"/>
                  </a:lnTo>
                  <a:cubicBezTo>
                    <a:pt x="914833" y="0"/>
                    <a:pt x="928795" y="5783"/>
                    <a:pt x="939089" y="16077"/>
                  </a:cubicBezTo>
                  <a:cubicBezTo>
                    <a:pt x="949383" y="26372"/>
                    <a:pt x="955167" y="40334"/>
                    <a:pt x="955167" y="548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55167" cy="881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65969" y="3909036"/>
            <a:ext cx="4514350" cy="3735669"/>
            <a:chOff x="0" y="0"/>
            <a:chExt cx="1019091" cy="8433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9091" cy="843308"/>
            </a:xfrm>
            <a:custGeom>
              <a:avLst/>
              <a:gdLst/>
              <a:ahLst/>
              <a:cxnLst/>
              <a:rect l="l" t="t" r="r" b="b"/>
              <a:pathLst>
                <a:path w="1019091" h="843308">
                  <a:moveTo>
                    <a:pt x="1019091" y="51449"/>
                  </a:moveTo>
                  <a:lnTo>
                    <a:pt x="1019091" y="791859"/>
                  </a:lnTo>
                  <a:cubicBezTo>
                    <a:pt x="1019091" y="805504"/>
                    <a:pt x="1013671" y="818590"/>
                    <a:pt x="1004022" y="828239"/>
                  </a:cubicBezTo>
                  <a:cubicBezTo>
                    <a:pt x="994374" y="837887"/>
                    <a:pt x="981288" y="843308"/>
                    <a:pt x="967643" y="843308"/>
                  </a:cubicBezTo>
                  <a:lnTo>
                    <a:pt x="51449" y="843308"/>
                  </a:lnTo>
                  <a:cubicBezTo>
                    <a:pt x="37804" y="843308"/>
                    <a:pt x="24717" y="837887"/>
                    <a:pt x="15069" y="828239"/>
                  </a:cubicBezTo>
                  <a:cubicBezTo>
                    <a:pt x="5420" y="818590"/>
                    <a:pt x="0" y="805504"/>
                    <a:pt x="0" y="791859"/>
                  </a:cubicBezTo>
                  <a:lnTo>
                    <a:pt x="0" y="51449"/>
                  </a:lnTo>
                  <a:cubicBezTo>
                    <a:pt x="0" y="37804"/>
                    <a:pt x="5420" y="24717"/>
                    <a:pt x="15069" y="15069"/>
                  </a:cubicBezTo>
                  <a:cubicBezTo>
                    <a:pt x="24717" y="5420"/>
                    <a:pt x="37804" y="0"/>
                    <a:pt x="51449" y="0"/>
                  </a:cubicBezTo>
                  <a:lnTo>
                    <a:pt x="967643" y="0"/>
                  </a:lnTo>
                  <a:cubicBezTo>
                    <a:pt x="996057" y="0"/>
                    <a:pt x="1019091" y="23034"/>
                    <a:pt x="1019091" y="514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19091" cy="881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249897" y="3909036"/>
            <a:ext cx="4231178" cy="3735669"/>
            <a:chOff x="0" y="0"/>
            <a:chExt cx="955167" cy="84330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55167" cy="843308"/>
            </a:xfrm>
            <a:custGeom>
              <a:avLst/>
              <a:gdLst/>
              <a:ahLst/>
              <a:cxnLst/>
              <a:rect l="l" t="t" r="r" b="b"/>
              <a:pathLst>
                <a:path w="955167" h="843308">
                  <a:moveTo>
                    <a:pt x="955167" y="54892"/>
                  </a:moveTo>
                  <a:lnTo>
                    <a:pt x="955167" y="788416"/>
                  </a:lnTo>
                  <a:cubicBezTo>
                    <a:pt x="955167" y="818732"/>
                    <a:pt x="930591" y="843308"/>
                    <a:pt x="900275" y="843308"/>
                  </a:cubicBezTo>
                  <a:lnTo>
                    <a:pt x="54892" y="843308"/>
                  </a:lnTo>
                  <a:cubicBezTo>
                    <a:pt x="40334" y="843308"/>
                    <a:pt x="26372" y="837525"/>
                    <a:pt x="16077" y="827230"/>
                  </a:cubicBezTo>
                  <a:cubicBezTo>
                    <a:pt x="5783" y="816936"/>
                    <a:pt x="0" y="802974"/>
                    <a:pt x="0" y="788416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lnTo>
                    <a:pt x="900275" y="0"/>
                  </a:lnTo>
                  <a:cubicBezTo>
                    <a:pt x="914833" y="0"/>
                    <a:pt x="928795" y="5783"/>
                    <a:pt x="939089" y="16077"/>
                  </a:cubicBezTo>
                  <a:cubicBezTo>
                    <a:pt x="949383" y="26372"/>
                    <a:pt x="955167" y="40334"/>
                    <a:pt x="955167" y="548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55167" cy="881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489088" y="4037457"/>
            <a:ext cx="1515815" cy="1515815"/>
            <a:chOff x="0" y="0"/>
            <a:chExt cx="1755648" cy="17556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55648" cy="1755648"/>
            </a:xfrm>
            <a:custGeom>
              <a:avLst/>
              <a:gdLst/>
              <a:ahLst/>
              <a:cxnLst/>
              <a:rect l="l" t="t" r="r" b="b"/>
              <a:pathLst>
                <a:path w="1755648" h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583"/>
                    <a:pt x="0" y="877824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02360" y="4037457"/>
            <a:ext cx="1416276" cy="1416276"/>
            <a:chOff x="0" y="0"/>
            <a:chExt cx="1755648" cy="175564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55648" cy="1755648"/>
            </a:xfrm>
            <a:custGeom>
              <a:avLst/>
              <a:gdLst/>
              <a:ahLst/>
              <a:cxnLst/>
              <a:rect l="l" t="t" r="r" b="b"/>
              <a:pathLst>
                <a:path w="1755648" h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583"/>
                    <a:pt x="0" y="877824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519900" y="4110489"/>
            <a:ext cx="1457543" cy="1457543"/>
            <a:chOff x="0" y="0"/>
            <a:chExt cx="1755648" cy="17556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755648" cy="1755648"/>
            </a:xfrm>
            <a:custGeom>
              <a:avLst/>
              <a:gdLst/>
              <a:ahLst/>
              <a:cxnLst/>
              <a:rect l="l" t="t" r="r" b="b"/>
              <a:pathLst>
                <a:path w="1755648" h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583"/>
                    <a:pt x="0" y="877824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520219" y="5703450"/>
            <a:ext cx="147057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Orden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02360" y="5703450"/>
            <a:ext cx="175509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Control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232040" y="5722500"/>
            <a:ext cx="232083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Visibilidad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12276" y="6143838"/>
            <a:ext cx="3906299" cy="1355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Procesos estandarizados, sin depender de tareas manuales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91649" y="6141600"/>
            <a:ext cx="3738090" cy="136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Reglas claras de aprobación y responsables definidos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523410" y="6141600"/>
            <a:ext cx="3738090" cy="136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Estado de cada solicitud disponible en todo momento</a:t>
            </a:r>
          </a:p>
        </p:txBody>
      </p:sp>
      <p:sp>
        <p:nvSpPr>
          <p:cNvPr id="38" name="Freeform 38"/>
          <p:cNvSpPr/>
          <p:nvPr/>
        </p:nvSpPr>
        <p:spPr>
          <a:xfrm>
            <a:off x="3753035" y="4405942"/>
            <a:ext cx="1015681" cy="949662"/>
          </a:xfrm>
          <a:custGeom>
            <a:avLst/>
            <a:gdLst/>
            <a:ahLst/>
            <a:cxnLst/>
            <a:rect l="l" t="t" r="r" b="b"/>
            <a:pathLst>
              <a:path w="1015681" h="949662">
                <a:moveTo>
                  <a:pt x="0" y="0"/>
                </a:moveTo>
                <a:lnTo>
                  <a:pt x="1015681" y="0"/>
                </a:lnTo>
                <a:lnTo>
                  <a:pt x="1015681" y="949662"/>
                </a:lnTo>
                <a:lnTo>
                  <a:pt x="0" y="949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9" name="Freeform 39"/>
          <p:cNvSpPr/>
          <p:nvPr/>
        </p:nvSpPr>
        <p:spPr>
          <a:xfrm>
            <a:off x="8801489" y="4236981"/>
            <a:ext cx="1043310" cy="1017227"/>
          </a:xfrm>
          <a:custGeom>
            <a:avLst/>
            <a:gdLst/>
            <a:ahLst/>
            <a:cxnLst/>
            <a:rect l="l" t="t" r="r" b="b"/>
            <a:pathLst>
              <a:path w="1043310" h="1017227">
                <a:moveTo>
                  <a:pt x="0" y="0"/>
                </a:moveTo>
                <a:lnTo>
                  <a:pt x="1043310" y="0"/>
                </a:lnTo>
                <a:lnTo>
                  <a:pt x="1043310" y="1017227"/>
                </a:lnTo>
                <a:lnTo>
                  <a:pt x="0" y="10172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Freeform 40"/>
          <p:cNvSpPr/>
          <p:nvPr/>
        </p:nvSpPr>
        <p:spPr>
          <a:xfrm>
            <a:off x="13772164" y="4364430"/>
            <a:ext cx="949662" cy="949662"/>
          </a:xfrm>
          <a:custGeom>
            <a:avLst/>
            <a:gdLst/>
            <a:ahLst/>
            <a:cxnLst/>
            <a:rect l="l" t="t" r="r" b="b"/>
            <a:pathLst>
              <a:path w="949662" h="949662">
                <a:moveTo>
                  <a:pt x="0" y="0"/>
                </a:moveTo>
                <a:lnTo>
                  <a:pt x="949662" y="0"/>
                </a:lnTo>
                <a:lnTo>
                  <a:pt x="949662" y="949662"/>
                </a:lnTo>
                <a:lnTo>
                  <a:pt x="0" y="949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1" name="Freeform 41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TextBox 42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 Solución</a:t>
            </a: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1557" y="135533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Solución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1528104" y="4294841"/>
            <a:ext cx="3258295" cy="3099783"/>
            <a:chOff x="0" y="0"/>
            <a:chExt cx="3791545" cy="36070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91545" cy="3607091"/>
            </a:xfrm>
            <a:custGeom>
              <a:avLst/>
              <a:gdLst/>
              <a:ahLst/>
              <a:cxnLst/>
              <a:rect l="l" t="t" r="r" b="b"/>
              <a:pathLst>
                <a:path w="3791545" h="3607091">
                  <a:moveTo>
                    <a:pt x="0" y="332962"/>
                  </a:moveTo>
                  <a:cubicBezTo>
                    <a:pt x="0" y="149139"/>
                    <a:pt x="104511" y="0"/>
                    <a:pt x="233326" y="0"/>
                  </a:cubicBezTo>
                  <a:lnTo>
                    <a:pt x="3558219" y="0"/>
                  </a:lnTo>
                  <a:cubicBezTo>
                    <a:pt x="3687034" y="0"/>
                    <a:pt x="3791545" y="149139"/>
                    <a:pt x="3791545" y="332962"/>
                  </a:cubicBezTo>
                  <a:lnTo>
                    <a:pt x="3791545" y="3274128"/>
                  </a:lnTo>
                  <a:cubicBezTo>
                    <a:pt x="3791545" y="3457951"/>
                    <a:pt x="3687034" y="3607091"/>
                    <a:pt x="3558219" y="3607091"/>
                  </a:cubicBezTo>
                  <a:lnTo>
                    <a:pt x="233326" y="3607091"/>
                  </a:lnTo>
                  <a:cubicBezTo>
                    <a:pt x="104511" y="3607091"/>
                    <a:pt x="0" y="3457951"/>
                    <a:pt x="0" y="327412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02509" y="4466999"/>
            <a:ext cx="1327963" cy="1327963"/>
            <a:chOff x="0" y="0"/>
            <a:chExt cx="1658112" cy="16581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829056"/>
                  </a:moveTo>
                  <a:cubicBezTo>
                    <a:pt x="0" y="371221"/>
                    <a:pt x="371221" y="0"/>
                    <a:pt x="829056" y="0"/>
                  </a:cubicBezTo>
                  <a:cubicBezTo>
                    <a:pt x="1286891" y="0"/>
                    <a:pt x="1658112" y="371221"/>
                    <a:pt x="1658112" y="829056"/>
                  </a:cubicBezTo>
                  <a:cubicBezTo>
                    <a:pt x="1658112" y="1286891"/>
                    <a:pt x="1286891" y="1658112"/>
                    <a:pt x="829056" y="1658112"/>
                  </a:cubicBezTo>
                  <a:cubicBezTo>
                    <a:pt x="371221" y="1658112"/>
                    <a:pt x="0" y="1286891"/>
                    <a:pt x="0" y="829056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721216" y="4785706"/>
            <a:ext cx="690539" cy="690539"/>
            <a:chOff x="0" y="0"/>
            <a:chExt cx="862216" cy="862216"/>
          </a:xfrm>
        </p:grpSpPr>
        <p:sp>
          <p:nvSpPr>
            <p:cNvPr id="10" name="Freeform 10" descr="icons/registrar.png"/>
            <p:cNvSpPr/>
            <p:nvPr/>
          </p:nvSpPr>
          <p:spPr>
            <a:xfrm>
              <a:off x="0" y="0"/>
              <a:ext cx="862203" cy="862203"/>
            </a:xfrm>
            <a:custGeom>
              <a:avLst/>
              <a:gdLst/>
              <a:ahLst/>
              <a:cxnLst/>
              <a:rect l="l" t="t" r="r" b="b"/>
              <a:pathLst>
                <a:path w="862203" h="862203">
                  <a:moveTo>
                    <a:pt x="0" y="0"/>
                  </a:moveTo>
                  <a:lnTo>
                    <a:pt x="862203" y="0"/>
                  </a:lnTo>
                  <a:lnTo>
                    <a:pt x="862203" y="862203"/>
                  </a:lnTo>
                  <a:lnTo>
                    <a:pt x="0" y="862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77604" y="5235834"/>
            <a:ext cx="801520" cy="838184"/>
            <a:chOff x="0" y="0"/>
            <a:chExt cx="932697" cy="97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32697" cy="975360"/>
            </a:xfrm>
            <a:custGeom>
              <a:avLst/>
              <a:gdLst/>
              <a:ahLst/>
              <a:cxnLst/>
              <a:rect l="l" t="t" r="r" b="b"/>
              <a:pathLst>
                <a:path w="932697" h="975360">
                  <a:moveTo>
                    <a:pt x="0" y="0"/>
                  </a:moveTo>
                  <a:lnTo>
                    <a:pt x="932697" y="0"/>
                  </a:lnTo>
                  <a:lnTo>
                    <a:pt x="932697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5414" r="-62930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32697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s-CL" sz="3200" b="1" noProof="0" dirty="0">
                  <a:solidFill>
                    <a:srgbClr val="3D5E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551977" y="4649754"/>
            <a:ext cx="690539" cy="690539"/>
            <a:chOff x="0" y="0"/>
            <a:chExt cx="862216" cy="862216"/>
          </a:xfrm>
        </p:grpSpPr>
        <p:sp>
          <p:nvSpPr>
            <p:cNvPr id="15" name="Freeform 15" descr="icons/seguimiento.png"/>
            <p:cNvSpPr/>
            <p:nvPr/>
          </p:nvSpPr>
          <p:spPr>
            <a:xfrm>
              <a:off x="0" y="0"/>
              <a:ext cx="862203" cy="862203"/>
            </a:xfrm>
            <a:custGeom>
              <a:avLst/>
              <a:gdLst/>
              <a:ahLst/>
              <a:cxnLst/>
              <a:rect l="l" t="t" r="r" b="b"/>
              <a:pathLst>
                <a:path w="862203" h="862203">
                  <a:moveTo>
                    <a:pt x="0" y="0"/>
                  </a:moveTo>
                  <a:lnTo>
                    <a:pt x="862203" y="0"/>
                  </a:lnTo>
                  <a:lnTo>
                    <a:pt x="862203" y="862203"/>
                  </a:lnTo>
                  <a:lnTo>
                    <a:pt x="0" y="862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 b="-1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589172" y="4311048"/>
            <a:ext cx="3258295" cy="3099783"/>
            <a:chOff x="0" y="0"/>
            <a:chExt cx="3791545" cy="360709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91545" cy="3607091"/>
            </a:xfrm>
            <a:custGeom>
              <a:avLst/>
              <a:gdLst/>
              <a:ahLst/>
              <a:cxnLst/>
              <a:rect l="l" t="t" r="r" b="b"/>
              <a:pathLst>
                <a:path w="3791545" h="3607091">
                  <a:moveTo>
                    <a:pt x="0" y="332962"/>
                  </a:moveTo>
                  <a:cubicBezTo>
                    <a:pt x="0" y="149139"/>
                    <a:pt x="104511" y="0"/>
                    <a:pt x="233326" y="0"/>
                  </a:cubicBezTo>
                  <a:lnTo>
                    <a:pt x="3558219" y="0"/>
                  </a:lnTo>
                  <a:cubicBezTo>
                    <a:pt x="3687034" y="0"/>
                    <a:pt x="3791545" y="149139"/>
                    <a:pt x="3791545" y="332962"/>
                  </a:cubicBezTo>
                  <a:lnTo>
                    <a:pt x="3791545" y="3274128"/>
                  </a:lnTo>
                  <a:cubicBezTo>
                    <a:pt x="3791545" y="3457951"/>
                    <a:pt x="3687034" y="3607091"/>
                    <a:pt x="3558219" y="3607091"/>
                  </a:cubicBezTo>
                  <a:lnTo>
                    <a:pt x="233326" y="3607091"/>
                  </a:lnTo>
                  <a:cubicBezTo>
                    <a:pt x="104511" y="3607091"/>
                    <a:pt x="0" y="3457951"/>
                    <a:pt x="0" y="327412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25415" y="4499038"/>
            <a:ext cx="1327963" cy="1327963"/>
            <a:chOff x="0" y="0"/>
            <a:chExt cx="1658112" cy="16581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829056"/>
                  </a:moveTo>
                  <a:cubicBezTo>
                    <a:pt x="0" y="371221"/>
                    <a:pt x="371221" y="0"/>
                    <a:pt x="829056" y="0"/>
                  </a:cubicBezTo>
                  <a:cubicBezTo>
                    <a:pt x="1286891" y="0"/>
                    <a:pt x="1658112" y="371221"/>
                    <a:pt x="1658112" y="829056"/>
                  </a:cubicBezTo>
                  <a:cubicBezTo>
                    <a:pt x="1658112" y="1286891"/>
                    <a:pt x="1286891" y="1658112"/>
                    <a:pt x="829056" y="1658112"/>
                  </a:cubicBezTo>
                  <a:cubicBezTo>
                    <a:pt x="371221" y="1658112"/>
                    <a:pt x="0" y="1286891"/>
                    <a:pt x="0" y="829056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828625" y="5250076"/>
            <a:ext cx="801520" cy="838184"/>
            <a:chOff x="0" y="0"/>
            <a:chExt cx="932697" cy="975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2697" cy="975360"/>
            </a:xfrm>
            <a:custGeom>
              <a:avLst/>
              <a:gdLst/>
              <a:ahLst/>
              <a:cxnLst/>
              <a:rect l="l" t="t" r="r" b="b"/>
              <a:pathLst>
                <a:path w="932697" h="975360">
                  <a:moveTo>
                    <a:pt x="0" y="0"/>
                  </a:moveTo>
                  <a:lnTo>
                    <a:pt x="932697" y="0"/>
                  </a:lnTo>
                  <a:lnTo>
                    <a:pt x="932697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5414" r="-62930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932697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s-CL" sz="3200" b="1" noProof="0" dirty="0">
                  <a:solidFill>
                    <a:srgbClr val="3D5E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30146" y="4278635"/>
            <a:ext cx="3583265" cy="3099783"/>
            <a:chOff x="0" y="0"/>
            <a:chExt cx="4169700" cy="36070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169700" cy="3607091"/>
            </a:xfrm>
            <a:custGeom>
              <a:avLst/>
              <a:gdLst/>
              <a:ahLst/>
              <a:cxnLst/>
              <a:rect l="l" t="t" r="r" b="b"/>
              <a:pathLst>
                <a:path w="4169700" h="3607091">
                  <a:moveTo>
                    <a:pt x="0" y="332962"/>
                  </a:moveTo>
                  <a:cubicBezTo>
                    <a:pt x="0" y="149139"/>
                    <a:pt x="114934" y="0"/>
                    <a:pt x="256597" y="0"/>
                  </a:cubicBezTo>
                  <a:lnTo>
                    <a:pt x="3913103" y="0"/>
                  </a:lnTo>
                  <a:cubicBezTo>
                    <a:pt x="4054766" y="0"/>
                    <a:pt x="4169700" y="149139"/>
                    <a:pt x="4169700" y="332962"/>
                  </a:cubicBezTo>
                  <a:lnTo>
                    <a:pt x="4169700" y="3274128"/>
                  </a:lnTo>
                  <a:cubicBezTo>
                    <a:pt x="4169700" y="3457951"/>
                    <a:pt x="4054766" y="3607091"/>
                    <a:pt x="3913103" y="3607091"/>
                  </a:cubicBezTo>
                  <a:lnTo>
                    <a:pt x="256597" y="3607091"/>
                  </a:lnTo>
                  <a:cubicBezTo>
                    <a:pt x="114934" y="3607091"/>
                    <a:pt x="0" y="3457951"/>
                    <a:pt x="0" y="327412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709452" y="4499038"/>
            <a:ext cx="1327963" cy="1327963"/>
            <a:chOff x="0" y="0"/>
            <a:chExt cx="1658112" cy="165811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829056"/>
                  </a:moveTo>
                  <a:cubicBezTo>
                    <a:pt x="0" y="371221"/>
                    <a:pt x="371221" y="0"/>
                    <a:pt x="829056" y="0"/>
                  </a:cubicBezTo>
                  <a:cubicBezTo>
                    <a:pt x="1286891" y="0"/>
                    <a:pt x="1658112" y="371221"/>
                    <a:pt x="1658112" y="829056"/>
                  </a:cubicBezTo>
                  <a:cubicBezTo>
                    <a:pt x="1658112" y="1286891"/>
                    <a:pt x="1286891" y="1658112"/>
                    <a:pt x="829056" y="1658112"/>
                  </a:cubicBezTo>
                  <a:cubicBezTo>
                    <a:pt x="371221" y="1658112"/>
                    <a:pt x="0" y="1286891"/>
                    <a:pt x="0" y="829056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961590" y="5221591"/>
            <a:ext cx="801520" cy="838184"/>
            <a:chOff x="0" y="0"/>
            <a:chExt cx="932697" cy="9753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32697" cy="975360"/>
            </a:xfrm>
            <a:custGeom>
              <a:avLst/>
              <a:gdLst/>
              <a:ahLst/>
              <a:cxnLst/>
              <a:rect l="l" t="t" r="r" b="b"/>
              <a:pathLst>
                <a:path w="932697" h="975360">
                  <a:moveTo>
                    <a:pt x="0" y="0"/>
                  </a:moveTo>
                  <a:lnTo>
                    <a:pt x="932697" y="0"/>
                  </a:lnTo>
                  <a:lnTo>
                    <a:pt x="932697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5414" r="-62930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932697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s-CL" sz="3200" b="1" noProof="0" dirty="0">
                  <a:solidFill>
                    <a:srgbClr val="3D5E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793914" y="4294841"/>
            <a:ext cx="3258295" cy="3099783"/>
            <a:chOff x="0" y="0"/>
            <a:chExt cx="3791545" cy="360709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791545" cy="3607091"/>
            </a:xfrm>
            <a:custGeom>
              <a:avLst/>
              <a:gdLst/>
              <a:ahLst/>
              <a:cxnLst/>
              <a:rect l="l" t="t" r="r" b="b"/>
              <a:pathLst>
                <a:path w="3791545" h="3607091">
                  <a:moveTo>
                    <a:pt x="0" y="332962"/>
                  </a:moveTo>
                  <a:cubicBezTo>
                    <a:pt x="0" y="149139"/>
                    <a:pt x="104511" y="0"/>
                    <a:pt x="233326" y="0"/>
                  </a:cubicBezTo>
                  <a:lnTo>
                    <a:pt x="3558219" y="0"/>
                  </a:lnTo>
                  <a:cubicBezTo>
                    <a:pt x="3687034" y="0"/>
                    <a:pt x="3791545" y="149139"/>
                    <a:pt x="3791545" y="332962"/>
                  </a:cubicBezTo>
                  <a:lnTo>
                    <a:pt x="3791545" y="3274128"/>
                  </a:lnTo>
                  <a:cubicBezTo>
                    <a:pt x="3791545" y="3457951"/>
                    <a:pt x="3687034" y="3607091"/>
                    <a:pt x="3558219" y="3607091"/>
                  </a:cubicBezTo>
                  <a:lnTo>
                    <a:pt x="233326" y="3607091"/>
                  </a:lnTo>
                  <a:cubicBezTo>
                    <a:pt x="104511" y="3607091"/>
                    <a:pt x="0" y="3457951"/>
                    <a:pt x="0" y="327412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759080" y="4423877"/>
            <a:ext cx="1327963" cy="1327963"/>
            <a:chOff x="0" y="0"/>
            <a:chExt cx="1658112" cy="165811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829056"/>
                  </a:moveTo>
                  <a:cubicBezTo>
                    <a:pt x="0" y="371221"/>
                    <a:pt x="371221" y="0"/>
                    <a:pt x="829056" y="0"/>
                  </a:cubicBezTo>
                  <a:cubicBezTo>
                    <a:pt x="1286891" y="0"/>
                    <a:pt x="1658112" y="371221"/>
                    <a:pt x="1658112" y="829056"/>
                  </a:cubicBezTo>
                  <a:cubicBezTo>
                    <a:pt x="1658112" y="1286891"/>
                    <a:pt x="1286891" y="1658112"/>
                    <a:pt x="829056" y="1658112"/>
                  </a:cubicBezTo>
                  <a:cubicBezTo>
                    <a:pt x="371221" y="1658112"/>
                    <a:pt x="0" y="1286891"/>
                    <a:pt x="0" y="829056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76133" y="4836762"/>
            <a:ext cx="658249" cy="658249"/>
            <a:chOff x="0" y="0"/>
            <a:chExt cx="862216" cy="862216"/>
          </a:xfrm>
        </p:grpSpPr>
        <p:sp>
          <p:nvSpPr>
            <p:cNvPr id="35" name="Freeform 35" descr="icons/organizar.png"/>
            <p:cNvSpPr/>
            <p:nvPr/>
          </p:nvSpPr>
          <p:spPr>
            <a:xfrm>
              <a:off x="0" y="0"/>
              <a:ext cx="862203" cy="862203"/>
            </a:xfrm>
            <a:custGeom>
              <a:avLst/>
              <a:gdLst/>
              <a:ahLst/>
              <a:cxnLst/>
              <a:rect l="l" t="t" r="r" b="b"/>
              <a:pathLst>
                <a:path w="862203" h="862203">
                  <a:moveTo>
                    <a:pt x="0" y="0"/>
                  </a:moveTo>
                  <a:lnTo>
                    <a:pt x="862203" y="0"/>
                  </a:lnTo>
                  <a:lnTo>
                    <a:pt x="862203" y="862203"/>
                  </a:lnTo>
                  <a:lnTo>
                    <a:pt x="0" y="862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 b="-1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044309" y="4801856"/>
            <a:ext cx="658249" cy="658249"/>
            <a:chOff x="0" y="0"/>
            <a:chExt cx="862216" cy="862216"/>
          </a:xfrm>
        </p:grpSpPr>
        <p:sp>
          <p:nvSpPr>
            <p:cNvPr id="37" name="Freeform 37" descr="icons/aprobar.png"/>
            <p:cNvSpPr/>
            <p:nvPr/>
          </p:nvSpPr>
          <p:spPr>
            <a:xfrm>
              <a:off x="0" y="0"/>
              <a:ext cx="862203" cy="862203"/>
            </a:xfrm>
            <a:custGeom>
              <a:avLst/>
              <a:gdLst/>
              <a:ahLst/>
              <a:cxnLst/>
              <a:rect l="l" t="t" r="r" b="b"/>
              <a:pathLst>
                <a:path w="862203" h="862203">
                  <a:moveTo>
                    <a:pt x="0" y="0"/>
                  </a:moveTo>
                  <a:lnTo>
                    <a:pt x="862203" y="0"/>
                  </a:lnTo>
                  <a:lnTo>
                    <a:pt x="862203" y="862203"/>
                  </a:lnTo>
                  <a:lnTo>
                    <a:pt x="0" y="862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" b="-1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38" name="Freeform 38"/>
          <p:cNvSpPr/>
          <p:nvPr/>
        </p:nvSpPr>
        <p:spPr>
          <a:xfrm>
            <a:off x="14972449" y="4788747"/>
            <a:ext cx="901224" cy="644375"/>
          </a:xfrm>
          <a:custGeom>
            <a:avLst/>
            <a:gdLst/>
            <a:ahLst/>
            <a:cxnLst/>
            <a:rect l="l" t="t" r="r" b="b"/>
            <a:pathLst>
              <a:path w="901224" h="644375">
                <a:moveTo>
                  <a:pt x="0" y="0"/>
                </a:moveTo>
                <a:lnTo>
                  <a:pt x="901225" y="0"/>
                </a:lnTo>
                <a:lnTo>
                  <a:pt x="901225" y="644375"/>
                </a:lnTo>
                <a:lnTo>
                  <a:pt x="0" y="6443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9" name="TextBox 39"/>
          <p:cNvSpPr txBox="1"/>
          <p:nvPr/>
        </p:nvSpPr>
        <p:spPr>
          <a:xfrm>
            <a:off x="2074553" y="2577469"/>
            <a:ext cx="14461881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Desarrollamos una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solución 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 gestión de solicitudes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configurable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inteligente 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y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adaptable 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</a:t>
            </a:r>
            <a:r>
              <a:rPr lang="es-CL" sz="3099" b="1" noProof="0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cualquier organización</a:t>
            </a: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92928" y="5973432"/>
            <a:ext cx="2179218" cy="43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2"/>
              </a:lnSpc>
              <a:spcBef>
                <a:spcPct val="0"/>
              </a:spcBef>
            </a:pPr>
            <a:r>
              <a:rPr lang="es-CL" sz="284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Registrar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003605" y="6029158"/>
            <a:ext cx="2429429" cy="43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12"/>
              </a:lnSpc>
              <a:spcBef>
                <a:spcPct val="0"/>
              </a:spcBef>
            </a:pPr>
            <a:r>
              <a:rPr lang="es-CL" sz="284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Validación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555326" y="5905562"/>
            <a:ext cx="1683206" cy="43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2"/>
              </a:lnSpc>
              <a:spcBef>
                <a:spcPct val="0"/>
              </a:spcBef>
            </a:pPr>
            <a:r>
              <a:rPr lang="es-CL" sz="284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Decisión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605959" y="5934649"/>
            <a:ext cx="1892037" cy="43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2"/>
              </a:lnSpc>
              <a:spcBef>
                <a:spcPct val="0"/>
              </a:spcBef>
            </a:pPr>
            <a:r>
              <a:rPr lang="es-CL" sz="284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Notificar</a:t>
            </a:r>
          </a:p>
        </p:txBody>
      </p:sp>
      <p:sp>
        <p:nvSpPr>
          <p:cNvPr id="44" name="Freeform 44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5" name="TextBox 45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124804" y="6545476"/>
            <a:ext cx="2611947" cy="61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34"/>
              </a:lnSpc>
              <a:spcBef>
                <a:spcPct val="0"/>
              </a:spcBef>
            </a:pPr>
            <a:r>
              <a:rPr lang="es-CL" sz="2029" noProof="0" dirty="0">
                <a:solidFill>
                  <a:srgbClr val="3B567A"/>
                </a:solidFill>
                <a:latin typeface="Raleway"/>
                <a:ea typeface="Raleway"/>
                <a:cs typeface="Raleway"/>
                <a:sym typeface="Raleway"/>
              </a:rPr>
              <a:t>Alertas en tiempo real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91355" y="6649892"/>
            <a:ext cx="2905815" cy="31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4"/>
              </a:lnSpc>
              <a:spcBef>
                <a:spcPct val="0"/>
              </a:spcBef>
            </a:pPr>
            <a:r>
              <a:rPr lang="es-CL" sz="2029" noProof="0" dirty="0">
                <a:solidFill>
                  <a:srgbClr val="3B567A"/>
                </a:solidFill>
                <a:latin typeface="Raleway"/>
                <a:ea typeface="Raleway"/>
                <a:cs typeface="Raleway"/>
                <a:sym typeface="Raleway"/>
              </a:rPr>
              <a:t>Plantillas configurables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758766" y="6582022"/>
            <a:ext cx="3326026" cy="31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4"/>
              </a:lnSpc>
              <a:spcBef>
                <a:spcPct val="0"/>
              </a:spcBef>
            </a:pPr>
            <a:r>
              <a:rPr lang="es-CL" sz="2029" noProof="0" dirty="0">
                <a:solidFill>
                  <a:srgbClr val="3B567A"/>
                </a:solidFill>
                <a:latin typeface="Raleway"/>
                <a:ea typeface="Raleway"/>
                <a:cs typeface="Raleway"/>
                <a:sym typeface="Raleway"/>
              </a:rPr>
              <a:t>Según flujo organizacional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801145" y="8051022"/>
            <a:ext cx="14690946" cy="1454230"/>
            <a:chOff x="0" y="0"/>
            <a:chExt cx="3246102" cy="32132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246102" cy="321326"/>
            </a:xfrm>
            <a:custGeom>
              <a:avLst/>
              <a:gdLst/>
              <a:ahLst/>
              <a:cxnLst/>
              <a:rect l="l" t="t" r="r" b="b"/>
              <a:pathLst>
                <a:path w="3246102" h="321326">
                  <a:moveTo>
                    <a:pt x="3246102" y="15810"/>
                  </a:moveTo>
                  <a:lnTo>
                    <a:pt x="3246102" y="305516"/>
                  </a:lnTo>
                  <a:cubicBezTo>
                    <a:pt x="3246102" y="309709"/>
                    <a:pt x="3244436" y="313730"/>
                    <a:pt x="3241472" y="316695"/>
                  </a:cubicBezTo>
                  <a:cubicBezTo>
                    <a:pt x="3238507" y="319660"/>
                    <a:pt x="3234486" y="321326"/>
                    <a:pt x="3230293" y="321326"/>
                  </a:cubicBezTo>
                  <a:lnTo>
                    <a:pt x="15810" y="321326"/>
                  </a:lnTo>
                  <a:cubicBezTo>
                    <a:pt x="7078" y="321326"/>
                    <a:pt x="0" y="314248"/>
                    <a:pt x="0" y="305516"/>
                  </a:cubicBezTo>
                  <a:lnTo>
                    <a:pt x="0" y="15810"/>
                  </a:lnTo>
                  <a:cubicBezTo>
                    <a:pt x="0" y="7078"/>
                    <a:pt x="7078" y="0"/>
                    <a:pt x="15810" y="0"/>
                  </a:cubicBezTo>
                  <a:lnTo>
                    <a:pt x="3230293" y="0"/>
                  </a:lnTo>
                  <a:cubicBezTo>
                    <a:pt x="3234486" y="0"/>
                    <a:pt x="3238507" y="1666"/>
                    <a:pt x="3241472" y="4631"/>
                  </a:cubicBezTo>
                  <a:cubicBezTo>
                    <a:pt x="3244436" y="7595"/>
                    <a:pt x="3246102" y="11617"/>
                    <a:pt x="3246102" y="1581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3246102" cy="359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2046426" y="8330497"/>
            <a:ext cx="14451570" cy="91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9"/>
              </a:lnSpc>
              <a:spcBef>
                <a:spcPct val="0"/>
              </a:spcBef>
            </a:pPr>
            <a:r>
              <a:rPr lang="es-CL" sz="3058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Así logramos mayor control de la información, más eficiencia en el proceso y trazabilidad completa de cada solicitud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013301" y="6649892"/>
            <a:ext cx="2449255" cy="31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4"/>
              </a:lnSpc>
              <a:spcBef>
                <a:spcPct val="0"/>
              </a:spcBef>
            </a:pPr>
            <a:r>
              <a:rPr lang="es-CL" sz="2029" noProof="0" dirty="0">
                <a:solidFill>
                  <a:srgbClr val="3B567A"/>
                </a:solidFill>
                <a:latin typeface="Raleway"/>
                <a:ea typeface="Raleway"/>
                <a:cs typeface="Raleway"/>
                <a:sym typeface="Raleway"/>
              </a:rPr>
              <a:t>Con apoyo de la </a:t>
            </a:r>
            <a:r>
              <a:rPr lang="es-CL" sz="2029" b="1" noProof="0" dirty="0">
                <a:solidFill>
                  <a:srgbClr val="3B567A"/>
                </a:solidFill>
                <a:latin typeface="Raleway Bold"/>
                <a:ea typeface="Raleway Bold"/>
                <a:cs typeface="Raleway Bold"/>
                <a:sym typeface="Raleway Bold"/>
              </a:rPr>
              <a:t>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 Requisitos </a:t>
            </a:r>
          </a:p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Funcionales</a:t>
            </a: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2982" y="1293748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Requisitos Funcionales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1742654" y="3006092"/>
            <a:ext cx="7227507" cy="1968565"/>
            <a:chOff x="0" y="0"/>
            <a:chExt cx="1903541" cy="5184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03541" cy="518470"/>
            </a:xfrm>
            <a:custGeom>
              <a:avLst/>
              <a:gdLst/>
              <a:ahLst/>
              <a:cxnLst/>
              <a:rect l="l" t="t" r="r" b="b"/>
              <a:pathLst>
                <a:path w="1903541" h="518470">
                  <a:moveTo>
                    <a:pt x="1903541" y="32135"/>
                  </a:moveTo>
                  <a:lnTo>
                    <a:pt x="1903541" y="486334"/>
                  </a:lnTo>
                  <a:cubicBezTo>
                    <a:pt x="1903541" y="494857"/>
                    <a:pt x="1900155" y="503031"/>
                    <a:pt x="1894129" y="509058"/>
                  </a:cubicBezTo>
                  <a:cubicBezTo>
                    <a:pt x="1888102" y="515084"/>
                    <a:pt x="1879928" y="518470"/>
                    <a:pt x="1871406" y="518470"/>
                  </a:cubicBezTo>
                  <a:lnTo>
                    <a:pt x="32135" y="518470"/>
                  </a:lnTo>
                  <a:cubicBezTo>
                    <a:pt x="14387" y="518470"/>
                    <a:pt x="0" y="504082"/>
                    <a:pt x="0" y="486334"/>
                  </a:cubicBezTo>
                  <a:lnTo>
                    <a:pt x="0" y="32135"/>
                  </a:lnTo>
                  <a:cubicBezTo>
                    <a:pt x="0" y="23612"/>
                    <a:pt x="3386" y="15439"/>
                    <a:pt x="9412" y="9412"/>
                  </a:cubicBezTo>
                  <a:cubicBezTo>
                    <a:pt x="15439" y="3386"/>
                    <a:pt x="23612" y="0"/>
                    <a:pt x="32135" y="0"/>
                  </a:cubicBezTo>
                  <a:lnTo>
                    <a:pt x="1871406" y="0"/>
                  </a:lnTo>
                  <a:cubicBezTo>
                    <a:pt x="1879928" y="0"/>
                    <a:pt x="1888102" y="3386"/>
                    <a:pt x="1894129" y="9412"/>
                  </a:cubicBezTo>
                  <a:cubicBezTo>
                    <a:pt x="1900155" y="15439"/>
                    <a:pt x="1903541" y="23612"/>
                    <a:pt x="1903541" y="3213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03541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2101557" y="3334493"/>
            <a:ext cx="1236264" cy="1211539"/>
          </a:xfrm>
          <a:custGeom>
            <a:avLst/>
            <a:gdLst/>
            <a:ahLst/>
            <a:cxnLst/>
            <a:rect l="l" t="t" r="r" b="b"/>
            <a:pathLst>
              <a:path w="1236264" h="1211539">
                <a:moveTo>
                  <a:pt x="0" y="0"/>
                </a:moveTo>
                <a:lnTo>
                  <a:pt x="1236264" y="0"/>
                </a:lnTo>
                <a:lnTo>
                  <a:pt x="1236264" y="1211539"/>
                </a:lnTo>
                <a:lnTo>
                  <a:pt x="0" y="1211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9" name="Group 9"/>
          <p:cNvGrpSpPr/>
          <p:nvPr/>
        </p:nvGrpSpPr>
        <p:grpSpPr>
          <a:xfrm>
            <a:off x="1742654" y="5327082"/>
            <a:ext cx="7227507" cy="1968565"/>
            <a:chOff x="0" y="0"/>
            <a:chExt cx="1903541" cy="5184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3541" cy="518470"/>
            </a:xfrm>
            <a:custGeom>
              <a:avLst/>
              <a:gdLst/>
              <a:ahLst/>
              <a:cxnLst/>
              <a:rect l="l" t="t" r="r" b="b"/>
              <a:pathLst>
                <a:path w="1903541" h="518470">
                  <a:moveTo>
                    <a:pt x="1903541" y="32135"/>
                  </a:moveTo>
                  <a:lnTo>
                    <a:pt x="1903541" y="486334"/>
                  </a:lnTo>
                  <a:cubicBezTo>
                    <a:pt x="1903541" y="494857"/>
                    <a:pt x="1900155" y="503031"/>
                    <a:pt x="1894129" y="509058"/>
                  </a:cubicBezTo>
                  <a:cubicBezTo>
                    <a:pt x="1888102" y="515084"/>
                    <a:pt x="1879928" y="518470"/>
                    <a:pt x="1871406" y="518470"/>
                  </a:cubicBezTo>
                  <a:lnTo>
                    <a:pt x="32135" y="518470"/>
                  </a:lnTo>
                  <a:cubicBezTo>
                    <a:pt x="14387" y="518470"/>
                    <a:pt x="0" y="504082"/>
                    <a:pt x="0" y="486334"/>
                  </a:cubicBezTo>
                  <a:lnTo>
                    <a:pt x="0" y="32135"/>
                  </a:lnTo>
                  <a:cubicBezTo>
                    <a:pt x="0" y="23612"/>
                    <a:pt x="3386" y="15439"/>
                    <a:pt x="9412" y="9412"/>
                  </a:cubicBezTo>
                  <a:cubicBezTo>
                    <a:pt x="15439" y="3386"/>
                    <a:pt x="23612" y="0"/>
                    <a:pt x="32135" y="0"/>
                  </a:cubicBezTo>
                  <a:lnTo>
                    <a:pt x="1871406" y="0"/>
                  </a:lnTo>
                  <a:cubicBezTo>
                    <a:pt x="1879928" y="0"/>
                    <a:pt x="1888102" y="3386"/>
                    <a:pt x="1894129" y="9412"/>
                  </a:cubicBezTo>
                  <a:cubicBezTo>
                    <a:pt x="1900155" y="15439"/>
                    <a:pt x="1903541" y="23612"/>
                    <a:pt x="1903541" y="3213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03541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42654" y="7648072"/>
            <a:ext cx="7227507" cy="1968565"/>
            <a:chOff x="0" y="0"/>
            <a:chExt cx="1903541" cy="5184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3541" cy="518470"/>
            </a:xfrm>
            <a:custGeom>
              <a:avLst/>
              <a:gdLst/>
              <a:ahLst/>
              <a:cxnLst/>
              <a:rect l="l" t="t" r="r" b="b"/>
              <a:pathLst>
                <a:path w="1903541" h="518470">
                  <a:moveTo>
                    <a:pt x="1903541" y="32135"/>
                  </a:moveTo>
                  <a:lnTo>
                    <a:pt x="1903541" y="486334"/>
                  </a:lnTo>
                  <a:cubicBezTo>
                    <a:pt x="1903541" y="494857"/>
                    <a:pt x="1900155" y="503031"/>
                    <a:pt x="1894129" y="509058"/>
                  </a:cubicBezTo>
                  <a:cubicBezTo>
                    <a:pt x="1888102" y="515084"/>
                    <a:pt x="1879928" y="518470"/>
                    <a:pt x="1871406" y="518470"/>
                  </a:cubicBezTo>
                  <a:lnTo>
                    <a:pt x="32135" y="518470"/>
                  </a:lnTo>
                  <a:cubicBezTo>
                    <a:pt x="14387" y="518470"/>
                    <a:pt x="0" y="504082"/>
                    <a:pt x="0" y="486334"/>
                  </a:cubicBezTo>
                  <a:lnTo>
                    <a:pt x="0" y="32135"/>
                  </a:lnTo>
                  <a:cubicBezTo>
                    <a:pt x="0" y="23612"/>
                    <a:pt x="3386" y="15439"/>
                    <a:pt x="9412" y="9412"/>
                  </a:cubicBezTo>
                  <a:cubicBezTo>
                    <a:pt x="15439" y="3386"/>
                    <a:pt x="23612" y="0"/>
                    <a:pt x="32135" y="0"/>
                  </a:cubicBezTo>
                  <a:lnTo>
                    <a:pt x="1871406" y="0"/>
                  </a:lnTo>
                  <a:cubicBezTo>
                    <a:pt x="1879928" y="0"/>
                    <a:pt x="1888102" y="3386"/>
                    <a:pt x="1894129" y="9412"/>
                  </a:cubicBezTo>
                  <a:cubicBezTo>
                    <a:pt x="1900155" y="15439"/>
                    <a:pt x="1903541" y="23612"/>
                    <a:pt x="1903541" y="3213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03541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782828" y="2998723"/>
            <a:ext cx="7476472" cy="1968565"/>
            <a:chOff x="0" y="0"/>
            <a:chExt cx="1969112" cy="5184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69112" cy="518470"/>
            </a:xfrm>
            <a:custGeom>
              <a:avLst/>
              <a:gdLst/>
              <a:ahLst/>
              <a:cxnLst/>
              <a:rect l="l" t="t" r="r" b="b"/>
              <a:pathLst>
                <a:path w="1969112" h="518470">
                  <a:moveTo>
                    <a:pt x="1969112" y="31065"/>
                  </a:moveTo>
                  <a:lnTo>
                    <a:pt x="1969112" y="487405"/>
                  </a:lnTo>
                  <a:cubicBezTo>
                    <a:pt x="1969112" y="495644"/>
                    <a:pt x="1965839" y="503545"/>
                    <a:pt x="1960013" y="509371"/>
                  </a:cubicBezTo>
                  <a:cubicBezTo>
                    <a:pt x="1954187" y="515197"/>
                    <a:pt x="1946286" y="518470"/>
                    <a:pt x="1938047" y="518470"/>
                  </a:cubicBezTo>
                  <a:lnTo>
                    <a:pt x="31065" y="518470"/>
                  </a:lnTo>
                  <a:cubicBezTo>
                    <a:pt x="13908" y="518470"/>
                    <a:pt x="0" y="504561"/>
                    <a:pt x="0" y="487405"/>
                  </a:cubicBezTo>
                  <a:lnTo>
                    <a:pt x="0" y="31065"/>
                  </a:lnTo>
                  <a:cubicBezTo>
                    <a:pt x="0" y="22826"/>
                    <a:pt x="3273" y="14925"/>
                    <a:pt x="9099" y="9099"/>
                  </a:cubicBezTo>
                  <a:cubicBezTo>
                    <a:pt x="14925" y="3273"/>
                    <a:pt x="22826" y="0"/>
                    <a:pt x="31065" y="0"/>
                  </a:cubicBezTo>
                  <a:lnTo>
                    <a:pt x="1938047" y="0"/>
                  </a:lnTo>
                  <a:cubicBezTo>
                    <a:pt x="1946286" y="0"/>
                    <a:pt x="1954187" y="3273"/>
                    <a:pt x="1960013" y="9099"/>
                  </a:cubicBezTo>
                  <a:cubicBezTo>
                    <a:pt x="1965839" y="14925"/>
                    <a:pt x="1969112" y="22826"/>
                    <a:pt x="1969112" y="3106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69112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82828" y="5319712"/>
            <a:ext cx="7476472" cy="1968565"/>
            <a:chOff x="0" y="0"/>
            <a:chExt cx="1969112" cy="5184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69112" cy="518470"/>
            </a:xfrm>
            <a:custGeom>
              <a:avLst/>
              <a:gdLst/>
              <a:ahLst/>
              <a:cxnLst/>
              <a:rect l="l" t="t" r="r" b="b"/>
              <a:pathLst>
                <a:path w="1969112" h="518470">
                  <a:moveTo>
                    <a:pt x="1969112" y="31065"/>
                  </a:moveTo>
                  <a:lnTo>
                    <a:pt x="1969112" y="487405"/>
                  </a:lnTo>
                  <a:cubicBezTo>
                    <a:pt x="1969112" y="495644"/>
                    <a:pt x="1965839" y="503545"/>
                    <a:pt x="1960013" y="509371"/>
                  </a:cubicBezTo>
                  <a:cubicBezTo>
                    <a:pt x="1954187" y="515197"/>
                    <a:pt x="1946286" y="518470"/>
                    <a:pt x="1938047" y="518470"/>
                  </a:cubicBezTo>
                  <a:lnTo>
                    <a:pt x="31065" y="518470"/>
                  </a:lnTo>
                  <a:cubicBezTo>
                    <a:pt x="13908" y="518470"/>
                    <a:pt x="0" y="504561"/>
                    <a:pt x="0" y="487405"/>
                  </a:cubicBezTo>
                  <a:lnTo>
                    <a:pt x="0" y="31065"/>
                  </a:lnTo>
                  <a:cubicBezTo>
                    <a:pt x="0" y="22826"/>
                    <a:pt x="3273" y="14925"/>
                    <a:pt x="9099" y="9099"/>
                  </a:cubicBezTo>
                  <a:cubicBezTo>
                    <a:pt x="14925" y="3273"/>
                    <a:pt x="22826" y="0"/>
                    <a:pt x="31065" y="0"/>
                  </a:cubicBezTo>
                  <a:lnTo>
                    <a:pt x="1938047" y="0"/>
                  </a:lnTo>
                  <a:cubicBezTo>
                    <a:pt x="1946286" y="0"/>
                    <a:pt x="1954187" y="3273"/>
                    <a:pt x="1960013" y="9099"/>
                  </a:cubicBezTo>
                  <a:cubicBezTo>
                    <a:pt x="1965839" y="14925"/>
                    <a:pt x="1969112" y="22826"/>
                    <a:pt x="1969112" y="3106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69112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21" name="Freeform 21"/>
          <p:cNvSpPr/>
          <p:nvPr/>
        </p:nvSpPr>
        <p:spPr>
          <a:xfrm>
            <a:off x="1993794" y="5781461"/>
            <a:ext cx="1451791" cy="1059807"/>
          </a:xfrm>
          <a:custGeom>
            <a:avLst/>
            <a:gdLst/>
            <a:ahLst/>
            <a:cxnLst/>
            <a:rect l="l" t="t" r="r" b="b"/>
            <a:pathLst>
              <a:path w="1451791" h="1059807">
                <a:moveTo>
                  <a:pt x="0" y="0"/>
                </a:moveTo>
                <a:lnTo>
                  <a:pt x="1451791" y="0"/>
                </a:lnTo>
                <a:lnTo>
                  <a:pt x="1451791" y="1059807"/>
                </a:lnTo>
                <a:lnTo>
                  <a:pt x="0" y="1059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Freeform 22"/>
          <p:cNvSpPr/>
          <p:nvPr/>
        </p:nvSpPr>
        <p:spPr>
          <a:xfrm>
            <a:off x="2185857" y="8027419"/>
            <a:ext cx="1151964" cy="1059807"/>
          </a:xfrm>
          <a:custGeom>
            <a:avLst/>
            <a:gdLst/>
            <a:ahLst/>
            <a:cxnLst/>
            <a:rect l="l" t="t" r="r" b="b"/>
            <a:pathLst>
              <a:path w="1151964" h="1059807">
                <a:moveTo>
                  <a:pt x="0" y="0"/>
                </a:moveTo>
                <a:lnTo>
                  <a:pt x="1151964" y="0"/>
                </a:lnTo>
                <a:lnTo>
                  <a:pt x="1151964" y="1059807"/>
                </a:lnTo>
                <a:lnTo>
                  <a:pt x="0" y="1059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Freeform 23"/>
          <p:cNvSpPr/>
          <p:nvPr/>
        </p:nvSpPr>
        <p:spPr>
          <a:xfrm>
            <a:off x="10121715" y="3465236"/>
            <a:ext cx="1138847" cy="1211539"/>
          </a:xfrm>
          <a:custGeom>
            <a:avLst/>
            <a:gdLst/>
            <a:ahLst/>
            <a:cxnLst/>
            <a:rect l="l" t="t" r="r" b="b"/>
            <a:pathLst>
              <a:path w="1138847" h="1211539">
                <a:moveTo>
                  <a:pt x="0" y="0"/>
                </a:moveTo>
                <a:lnTo>
                  <a:pt x="1138846" y="0"/>
                </a:lnTo>
                <a:lnTo>
                  <a:pt x="1138846" y="1211539"/>
                </a:lnTo>
                <a:lnTo>
                  <a:pt x="0" y="1211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Freeform 24"/>
          <p:cNvSpPr/>
          <p:nvPr/>
        </p:nvSpPr>
        <p:spPr>
          <a:xfrm>
            <a:off x="9945278" y="5618293"/>
            <a:ext cx="1315284" cy="1315284"/>
          </a:xfrm>
          <a:custGeom>
            <a:avLst/>
            <a:gdLst/>
            <a:ahLst/>
            <a:cxnLst/>
            <a:rect l="l" t="t" r="r" b="b"/>
            <a:pathLst>
              <a:path w="1315284" h="1315284">
                <a:moveTo>
                  <a:pt x="0" y="0"/>
                </a:moveTo>
                <a:lnTo>
                  <a:pt x="1315283" y="0"/>
                </a:lnTo>
                <a:lnTo>
                  <a:pt x="1315283" y="1315283"/>
                </a:lnTo>
                <a:lnTo>
                  <a:pt x="0" y="1315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25" name="Group 25"/>
          <p:cNvGrpSpPr/>
          <p:nvPr/>
        </p:nvGrpSpPr>
        <p:grpSpPr>
          <a:xfrm>
            <a:off x="9797591" y="7270685"/>
            <a:ext cx="7476472" cy="1968565"/>
            <a:chOff x="0" y="0"/>
            <a:chExt cx="1969112" cy="51847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69112" cy="518470"/>
            </a:xfrm>
            <a:custGeom>
              <a:avLst/>
              <a:gdLst/>
              <a:ahLst/>
              <a:cxnLst/>
              <a:rect l="l" t="t" r="r" b="b"/>
              <a:pathLst>
                <a:path w="1969112" h="518470">
                  <a:moveTo>
                    <a:pt x="1969112" y="31065"/>
                  </a:moveTo>
                  <a:lnTo>
                    <a:pt x="1969112" y="487405"/>
                  </a:lnTo>
                  <a:cubicBezTo>
                    <a:pt x="1969112" y="495644"/>
                    <a:pt x="1965839" y="503545"/>
                    <a:pt x="1960013" y="509371"/>
                  </a:cubicBezTo>
                  <a:cubicBezTo>
                    <a:pt x="1954187" y="515197"/>
                    <a:pt x="1946286" y="518470"/>
                    <a:pt x="1938047" y="518470"/>
                  </a:cubicBezTo>
                  <a:lnTo>
                    <a:pt x="31065" y="518470"/>
                  </a:lnTo>
                  <a:cubicBezTo>
                    <a:pt x="13908" y="518470"/>
                    <a:pt x="0" y="504561"/>
                    <a:pt x="0" y="487405"/>
                  </a:cubicBezTo>
                  <a:lnTo>
                    <a:pt x="0" y="31065"/>
                  </a:lnTo>
                  <a:cubicBezTo>
                    <a:pt x="0" y="22826"/>
                    <a:pt x="3273" y="14925"/>
                    <a:pt x="9099" y="9099"/>
                  </a:cubicBezTo>
                  <a:cubicBezTo>
                    <a:pt x="14925" y="3273"/>
                    <a:pt x="22826" y="0"/>
                    <a:pt x="31065" y="0"/>
                  </a:cubicBezTo>
                  <a:lnTo>
                    <a:pt x="1938047" y="0"/>
                  </a:lnTo>
                  <a:cubicBezTo>
                    <a:pt x="1946286" y="0"/>
                    <a:pt x="1954187" y="3273"/>
                    <a:pt x="1960013" y="9099"/>
                  </a:cubicBezTo>
                  <a:cubicBezTo>
                    <a:pt x="1965839" y="14925"/>
                    <a:pt x="1969112" y="22826"/>
                    <a:pt x="1969112" y="3106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969112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28" name="Freeform 28"/>
          <p:cNvSpPr/>
          <p:nvPr/>
        </p:nvSpPr>
        <p:spPr>
          <a:xfrm>
            <a:off x="9935753" y="7528276"/>
            <a:ext cx="1534320" cy="1534320"/>
          </a:xfrm>
          <a:custGeom>
            <a:avLst/>
            <a:gdLst/>
            <a:ahLst/>
            <a:cxnLst/>
            <a:rect l="l" t="t" r="r" b="b"/>
            <a:pathLst>
              <a:path w="1534320" h="1534320">
                <a:moveTo>
                  <a:pt x="0" y="0"/>
                </a:moveTo>
                <a:lnTo>
                  <a:pt x="1534319" y="0"/>
                </a:lnTo>
                <a:lnTo>
                  <a:pt x="1534319" y="1534320"/>
                </a:lnTo>
                <a:lnTo>
                  <a:pt x="0" y="15343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TextBox 29"/>
          <p:cNvSpPr txBox="1"/>
          <p:nvPr/>
        </p:nvSpPr>
        <p:spPr>
          <a:xfrm>
            <a:off x="3580468" y="3221223"/>
            <a:ext cx="247729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Registro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594120" y="3788782"/>
            <a:ext cx="4851083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Registrar solicitudes con la información necesaria.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91939" y="5612832"/>
            <a:ext cx="401700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Consulta y estado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05590" y="6180391"/>
            <a:ext cx="4851083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Consultar y actualizar el estado de las solicitudes.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580468" y="7933822"/>
            <a:ext cx="247729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Aprobación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94120" y="8501381"/>
            <a:ext cx="4851083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Aprobar o rechazar solicitudes.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649542" y="3268936"/>
            <a:ext cx="247729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Historial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663193" y="3836494"/>
            <a:ext cx="4851083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Consultar el historial de las solicitudes.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649542" y="5562698"/>
            <a:ext cx="247729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Reportes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63193" y="6130256"/>
            <a:ext cx="5596107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Generar reportes y visualizar información para apoyar la gestión.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831554" y="7579836"/>
            <a:ext cx="247729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96543" y="8053706"/>
            <a:ext cx="5596107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Utilizar IA para apoyar la revisión y autocompletado de documentos.</a:t>
            </a:r>
          </a:p>
        </p:txBody>
      </p:sp>
      <p:sp>
        <p:nvSpPr>
          <p:cNvPr id="41" name="Freeform 41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TextBox 42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 Requisitos </a:t>
            </a:r>
          </a:p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Funcionales</a:t>
            </a: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43359" y="155829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Requisitos No Funcionales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1742654" y="3006092"/>
            <a:ext cx="7227507" cy="1968565"/>
            <a:chOff x="0" y="0"/>
            <a:chExt cx="1903541" cy="5184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03541" cy="518470"/>
            </a:xfrm>
            <a:custGeom>
              <a:avLst/>
              <a:gdLst/>
              <a:ahLst/>
              <a:cxnLst/>
              <a:rect l="l" t="t" r="r" b="b"/>
              <a:pathLst>
                <a:path w="1903541" h="518470">
                  <a:moveTo>
                    <a:pt x="1903541" y="32135"/>
                  </a:moveTo>
                  <a:lnTo>
                    <a:pt x="1903541" y="486334"/>
                  </a:lnTo>
                  <a:cubicBezTo>
                    <a:pt x="1903541" y="494857"/>
                    <a:pt x="1900155" y="503031"/>
                    <a:pt x="1894129" y="509058"/>
                  </a:cubicBezTo>
                  <a:cubicBezTo>
                    <a:pt x="1888102" y="515084"/>
                    <a:pt x="1879928" y="518470"/>
                    <a:pt x="1871406" y="518470"/>
                  </a:cubicBezTo>
                  <a:lnTo>
                    <a:pt x="32135" y="518470"/>
                  </a:lnTo>
                  <a:cubicBezTo>
                    <a:pt x="14387" y="518470"/>
                    <a:pt x="0" y="504082"/>
                    <a:pt x="0" y="486334"/>
                  </a:cubicBezTo>
                  <a:lnTo>
                    <a:pt x="0" y="32135"/>
                  </a:lnTo>
                  <a:cubicBezTo>
                    <a:pt x="0" y="23612"/>
                    <a:pt x="3386" y="15439"/>
                    <a:pt x="9412" y="9412"/>
                  </a:cubicBezTo>
                  <a:cubicBezTo>
                    <a:pt x="15439" y="3386"/>
                    <a:pt x="23612" y="0"/>
                    <a:pt x="32135" y="0"/>
                  </a:cubicBezTo>
                  <a:lnTo>
                    <a:pt x="1871406" y="0"/>
                  </a:lnTo>
                  <a:cubicBezTo>
                    <a:pt x="1879928" y="0"/>
                    <a:pt x="1888102" y="3386"/>
                    <a:pt x="1894129" y="9412"/>
                  </a:cubicBezTo>
                  <a:cubicBezTo>
                    <a:pt x="1900155" y="15439"/>
                    <a:pt x="1903541" y="23612"/>
                    <a:pt x="1903541" y="3213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03541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2654" y="5327082"/>
            <a:ext cx="7227507" cy="1968565"/>
            <a:chOff x="0" y="0"/>
            <a:chExt cx="1903541" cy="5184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3541" cy="518470"/>
            </a:xfrm>
            <a:custGeom>
              <a:avLst/>
              <a:gdLst/>
              <a:ahLst/>
              <a:cxnLst/>
              <a:rect l="l" t="t" r="r" b="b"/>
              <a:pathLst>
                <a:path w="1903541" h="518470">
                  <a:moveTo>
                    <a:pt x="1903541" y="32135"/>
                  </a:moveTo>
                  <a:lnTo>
                    <a:pt x="1903541" y="486334"/>
                  </a:lnTo>
                  <a:cubicBezTo>
                    <a:pt x="1903541" y="494857"/>
                    <a:pt x="1900155" y="503031"/>
                    <a:pt x="1894129" y="509058"/>
                  </a:cubicBezTo>
                  <a:cubicBezTo>
                    <a:pt x="1888102" y="515084"/>
                    <a:pt x="1879928" y="518470"/>
                    <a:pt x="1871406" y="518470"/>
                  </a:cubicBezTo>
                  <a:lnTo>
                    <a:pt x="32135" y="518470"/>
                  </a:lnTo>
                  <a:cubicBezTo>
                    <a:pt x="14387" y="518470"/>
                    <a:pt x="0" y="504082"/>
                    <a:pt x="0" y="486334"/>
                  </a:cubicBezTo>
                  <a:lnTo>
                    <a:pt x="0" y="32135"/>
                  </a:lnTo>
                  <a:cubicBezTo>
                    <a:pt x="0" y="23612"/>
                    <a:pt x="3386" y="15439"/>
                    <a:pt x="9412" y="9412"/>
                  </a:cubicBezTo>
                  <a:cubicBezTo>
                    <a:pt x="15439" y="3386"/>
                    <a:pt x="23612" y="0"/>
                    <a:pt x="32135" y="0"/>
                  </a:cubicBezTo>
                  <a:lnTo>
                    <a:pt x="1871406" y="0"/>
                  </a:lnTo>
                  <a:cubicBezTo>
                    <a:pt x="1879928" y="0"/>
                    <a:pt x="1888102" y="3386"/>
                    <a:pt x="1894129" y="9412"/>
                  </a:cubicBezTo>
                  <a:cubicBezTo>
                    <a:pt x="1900155" y="15439"/>
                    <a:pt x="1903541" y="23612"/>
                    <a:pt x="1903541" y="3213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03541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42654" y="7648072"/>
            <a:ext cx="7227507" cy="1968565"/>
            <a:chOff x="0" y="0"/>
            <a:chExt cx="1903541" cy="5184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03541" cy="518470"/>
            </a:xfrm>
            <a:custGeom>
              <a:avLst/>
              <a:gdLst/>
              <a:ahLst/>
              <a:cxnLst/>
              <a:rect l="l" t="t" r="r" b="b"/>
              <a:pathLst>
                <a:path w="1903541" h="518470">
                  <a:moveTo>
                    <a:pt x="1903541" y="32135"/>
                  </a:moveTo>
                  <a:lnTo>
                    <a:pt x="1903541" y="486334"/>
                  </a:lnTo>
                  <a:cubicBezTo>
                    <a:pt x="1903541" y="494857"/>
                    <a:pt x="1900155" y="503031"/>
                    <a:pt x="1894129" y="509058"/>
                  </a:cubicBezTo>
                  <a:cubicBezTo>
                    <a:pt x="1888102" y="515084"/>
                    <a:pt x="1879928" y="518470"/>
                    <a:pt x="1871406" y="518470"/>
                  </a:cubicBezTo>
                  <a:lnTo>
                    <a:pt x="32135" y="518470"/>
                  </a:lnTo>
                  <a:cubicBezTo>
                    <a:pt x="14387" y="518470"/>
                    <a:pt x="0" y="504082"/>
                    <a:pt x="0" y="486334"/>
                  </a:cubicBezTo>
                  <a:lnTo>
                    <a:pt x="0" y="32135"/>
                  </a:lnTo>
                  <a:cubicBezTo>
                    <a:pt x="0" y="23612"/>
                    <a:pt x="3386" y="15439"/>
                    <a:pt x="9412" y="9412"/>
                  </a:cubicBezTo>
                  <a:cubicBezTo>
                    <a:pt x="15439" y="3386"/>
                    <a:pt x="23612" y="0"/>
                    <a:pt x="32135" y="0"/>
                  </a:cubicBezTo>
                  <a:lnTo>
                    <a:pt x="1871406" y="0"/>
                  </a:lnTo>
                  <a:cubicBezTo>
                    <a:pt x="1879928" y="0"/>
                    <a:pt x="1888102" y="3386"/>
                    <a:pt x="1894129" y="9412"/>
                  </a:cubicBezTo>
                  <a:cubicBezTo>
                    <a:pt x="1900155" y="15439"/>
                    <a:pt x="1903541" y="23612"/>
                    <a:pt x="1903541" y="3213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03541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47727" y="3990375"/>
            <a:ext cx="7476472" cy="1968565"/>
            <a:chOff x="0" y="0"/>
            <a:chExt cx="1969112" cy="5184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69112" cy="518470"/>
            </a:xfrm>
            <a:custGeom>
              <a:avLst/>
              <a:gdLst/>
              <a:ahLst/>
              <a:cxnLst/>
              <a:rect l="l" t="t" r="r" b="b"/>
              <a:pathLst>
                <a:path w="1969112" h="518470">
                  <a:moveTo>
                    <a:pt x="1969112" y="31065"/>
                  </a:moveTo>
                  <a:lnTo>
                    <a:pt x="1969112" y="487405"/>
                  </a:lnTo>
                  <a:cubicBezTo>
                    <a:pt x="1969112" y="495644"/>
                    <a:pt x="1965839" y="503545"/>
                    <a:pt x="1960013" y="509371"/>
                  </a:cubicBezTo>
                  <a:cubicBezTo>
                    <a:pt x="1954187" y="515197"/>
                    <a:pt x="1946286" y="518470"/>
                    <a:pt x="1938047" y="518470"/>
                  </a:cubicBezTo>
                  <a:lnTo>
                    <a:pt x="31065" y="518470"/>
                  </a:lnTo>
                  <a:cubicBezTo>
                    <a:pt x="13908" y="518470"/>
                    <a:pt x="0" y="504561"/>
                    <a:pt x="0" y="487405"/>
                  </a:cubicBezTo>
                  <a:lnTo>
                    <a:pt x="0" y="31065"/>
                  </a:lnTo>
                  <a:cubicBezTo>
                    <a:pt x="0" y="22826"/>
                    <a:pt x="3273" y="14925"/>
                    <a:pt x="9099" y="9099"/>
                  </a:cubicBezTo>
                  <a:cubicBezTo>
                    <a:pt x="14925" y="3273"/>
                    <a:pt x="22826" y="0"/>
                    <a:pt x="31065" y="0"/>
                  </a:cubicBezTo>
                  <a:lnTo>
                    <a:pt x="1938047" y="0"/>
                  </a:lnTo>
                  <a:cubicBezTo>
                    <a:pt x="1946286" y="0"/>
                    <a:pt x="1954187" y="3273"/>
                    <a:pt x="1960013" y="9099"/>
                  </a:cubicBezTo>
                  <a:cubicBezTo>
                    <a:pt x="1965839" y="14925"/>
                    <a:pt x="1969112" y="22826"/>
                    <a:pt x="1969112" y="3106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69112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47727" y="6311364"/>
            <a:ext cx="7476472" cy="1968565"/>
            <a:chOff x="0" y="0"/>
            <a:chExt cx="1969112" cy="5184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69112" cy="518470"/>
            </a:xfrm>
            <a:custGeom>
              <a:avLst/>
              <a:gdLst/>
              <a:ahLst/>
              <a:cxnLst/>
              <a:rect l="l" t="t" r="r" b="b"/>
              <a:pathLst>
                <a:path w="1969112" h="518470">
                  <a:moveTo>
                    <a:pt x="1969112" y="31065"/>
                  </a:moveTo>
                  <a:lnTo>
                    <a:pt x="1969112" y="487405"/>
                  </a:lnTo>
                  <a:cubicBezTo>
                    <a:pt x="1969112" y="495644"/>
                    <a:pt x="1965839" y="503545"/>
                    <a:pt x="1960013" y="509371"/>
                  </a:cubicBezTo>
                  <a:cubicBezTo>
                    <a:pt x="1954187" y="515197"/>
                    <a:pt x="1946286" y="518470"/>
                    <a:pt x="1938047" y="518470"/>
                  </a:cubicBezTo>
                  <a:lnTo>
                    <a:pt x="31065" y="518470"/>
                  </a:lnTo>
                  <a:cubicBezTo>
                    <a:pt x="13908" y="518470"/>
                    <a:pt x="0" y="504561"/>
                    <a:pt x="0" y="487405"/>
                  </a:cubicBezTo>
                  <a:lnTo>
                    <a:pt x="0" y="31065"/>
                  </a:lnTo>
                  <a:cubicBezTo>
                    <a:pt x="0" y="22826"/>
                    <a:pt x="3273" y="14925"/>
                    <a:pt x="9099" y="9099"/>
                  </a:cubicBezTo>
                  <a:cubicBezTo>
                    <a:pt x="14925" y="3273"/>
                    <a:pt x="22826" y="0"/>
                    <a:pt x="31065" y="0"/>
                  </a:cubicBezTo>
                  <a:lnTo>
                    <a:pt x="1938047" y="0"/>
                  </a:lnTo>
                  <a:cubicBezTo>
                    <a:pt x="1946286" y="0"/>
                    <a:pt x="1954187" y="3273"/>
                    <a:pt x="1960013" y="9099"/>
                  </a:cubicBezTo>
                  <a:cubicBezTo>
                    <a:pt x="1965839" y="14925"/>
                    <a:pt x="1969112" y="22826"/>
                    <a:pt x="1969112" y="3106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969112" cy="55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20" name="Freeform 20"/>
          <p:cNvSpPr/>
          <p:nvPr/>
        </p:nvSpPr>
        <p:spPr>
          <a:xfrm>
            <a:off x="2185857" y="3334493"/>
            <a:ext cx="1076585" cy="1259164"/>
          </a:xfrm>
          <a:custGeom>
            <a:avLst/>
            <a:gdLst/>
            <a:ahLst/>
            <a:cxnLst/>
            <a:rect l="l" t="t" r="r" b="b"/>
            <a:pathLst>
              <a:path w="1076585" h="1259164">
                <a:moveTo>
                  <a:pt x="0" y="0"/>
                </a:moveTo>
                <a:lnTo>
                  <a:pt x="1076585" y="0"/>
                </a:lnTo>
                <a:lnTo>
                  <a:pt x="1076585" y="1259164"/>
                </a:lnTo>
                <a:lnTo>
                  <a:pt x="0" y="1259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Freeform 21"/>
          <p:cNvSpPr/>
          <p:nvPr/>
        </p:nvSpPr>
        <p:spPr>
          <a:xfrm>
            <a:off x="1923879" y="5855720"/>
            <a:ext cx="1429935" cy="965206"/>
          </a:xfrm>
          <a:custGeom>
            <a:avLst/>
            <a:gdLst/>
            <a:ahLst/>
            <a:cxnLst/>
            <a:rect l="l" t="t" r="r" b="b"/>
            <a:pathLst>
              <a:path w="1429935" h="965206">
                <a:moveTo>
                  <a:pt x="0" y="0"/>
                </a:moveTo>
                <a:lnTo>
                  <a:pt x="1429935" y="0"/>
                </a:lnTo>
                <a:lnTo>
                  <a:pt x="1429935" y="965206"/>
                </a:lnTo>
                <a:lnTo>
                  <a:pt x="0" y="96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Freeform 22"/>
          <p:cNvSpPr/>
          <p:nvPr/>
        </p:nvSpPr>
        <p:spPr>
          <a:xfrm>
            <a:off x="2009433" y="8162422"/>
            <a:ext cx="1258827" cy="1095180"/>
          </a:xfrm>
          <a:custGeom>
            <a:avLst/>
            <a:gdLst/>
            <a:ahLst/>
            <a:cxnLst/>
            <a:rect l="l" t="t" r="r" b="b"/>
            <a:pathLst>
              <a:path w="1258827" h="1095180">
                <a:moveTo>
                  <a:pt x="0" y="0"/>
                </a:moveTo>
                <a:lnTo>
                  <a:pt x="1258827" y="0"/>
                </a:lnTo>
                <a:lnTo>
                  <a:pt x="1258827" y="1095179"/>
                </a:lnTo>
                <a:lnTo>
                  <a:pt x="0" y="1095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Freeform 23"/>
          <p:cNvSpPr/>
          <p:nvPr/>
        </p:nvSpPr>
        <p:spPr>
          <a:xfrm>
            <a:off x="9963113" y="4298535"/>
            <a:ext cx="1102079" cy="1352245"/>
          </a:xfrm>
          <a:custGeom>
            <a:avLst/>
            <a:gdLst/>
            <a:ahLst/>
            <a:cxnLst/>
            <a:rect l="l" t="t" r="r" b="b"/>
            <a:pathLst>
              <a:path w="1102079" h="1352245">
                <a:moveTo>
                  <a:pt x="0" y="0"/>
                </a:moveTo>
                <a:lnTo>
                  <a:pt x="1102079" y="0"/>
                </a:lnTo>
                <a:lnTo>
                  <a:pt x="1102079" y="1352244"/>
                </a:lnTo>
                <a:lnTo>
                  <a:pt x="0" y="13522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Freeform 24"/>
          <p:cNvSpPr/>
          <p:nvPr/>
        </p:nvSpPr>
        <p:spPr>
          <a:xfrm>
            <a:off x="9865773" y="6715348"/>
            <a:ext cx="1296758" cy="1160598"/>
          </a:xfrm>
          <a:custGeom>
            <a:avLst/>
            <a:gdLst/>
            <a:ahLst/>
            <a:cxnLst/>
            <a:rect l="l" t="t" r="r" b="b"/>
            <a:pathLst>
              <a:path w="1296758" h="1160598">
                <a:moveTo>
                  <a:pt x="0" y="0"/>
                </a:moveTo>
                <a:lnTo>
                  <a:pt x="1296758" y="0"/>
                </a:lnTo>
                <a:lnTo>
                  <a:pt x="1296758" y="1160598"/>
                </a:lnTo>
                <a:lnTo>
                  <a:pt x="0" y="1160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Box 25"/>
          <p:cNvSpPr txBox="1"/>
          <p:nvPr/>
        </p:nvSpPr>
        <p:spPr>
          <a:xfrm>
            <a:off x="3580468" y="3221223"/>
            <a:ext cx="247729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Seguridad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20661" y="3779257"/>
            <a:ext cx="5376041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Proteger la información y controlar el acceso según los roles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91939" y="5612832"/>
            <a:ext cx="401700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Rendimiento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05590" y="6180391"/>
            <a:ext cx="4851083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Responder de manera rápida a las acciones del usuario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580468" y="7933822"/>
            <a:ext cx="278282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Escalabilidad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594120" y="8501381"/>
            <a:ext cx="4851083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Permitir futuras mejoras y crecimiento de la solución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14441" y="4260587"/>
            <a:ext cx="247729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Usabilidad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28093" y="4828146"/>
            <a:ext cx="4851083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 Interfaz clara y fácil de utilizar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14441" y="6554350"/>
            <a:ext cx="300105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1"/>
              </a:lnSpc>
              <a:spcBef>
                <a:spcPct val="0"/>
              </a:spcBef>
            </a:pPr>
            <a:r>
              <a:rPr lang="es-CL" sz="30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Disponibilidad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28093" y="7121908"/>
            <a:ext cx="5596107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Permitir el acceso al sistema cuando sea necesario</a:t>
            </a:r>
          </a:p>
        </p:txBody>
      </p:sp>
      <p:sp>
        <p:nvSpPr>
          <p:cNvPr id="35" name="Freeform 35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TextBox 36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07 Épicas</a:t>
            </a: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4504" y="236173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Épicas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1638867" y="2826811"/>
            <a:ext cx="14996160" cy="1434766"/>
            <a:chOff x="0" y="0"/>
            <a:chExt cx="19994880" cy="19130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94880" cy="1913021"/>
            </a:xfrm>
            <a:custGeom>
              <a:avLst/>
              <a:gdLst/>
              <a:ahLst/>
              <a:cxnLst/>
              <a:rect l="l" t="t" r="r" b="b"/>
              <a:pathLst>
                <a:path w="19994880" h="1913021">
                  <a:moveTo>
                    <a:pt x="0" y="218631"/>
                  </a:moveTo>
                  <a:cubicBezTo>
                    <a:pt x="0" y="97928"/>
                    <a:pt x="131064" y="0"/>
                    <a:pt x="292608" y="0"/>
                  </a:cubicBezTo>
                  <a:lnTo>
                    <a:pt x="19702272" y="0"/>
                  </a:lnTo>
                  <a:cubicBezTo>
                    <a:pt x="19863943" y="0"/>
                    <a:pt x="19994880" y="97928"/>
                    <a:pt x="19994880" y="218631"/>
                  </a:cubicBezTo>
                  <a:lnTo>
                    <a:pt x="19994880" y="1694390"/>
                  </a:lnTo>
                  <a:cubicBezTo>
                    <a:pt x="19994880" y="1815187"/>
                    <a:pt x="19863815" y="1913021"/>
                    <a:pt x="19702272" y="1913021"/>
                  </a:cubicBezTo>
                  <a:lnTo>
                    <a:pt x="292608" y="1913021"/>
                  </a:lnTo>
                  <a:cubicBezTo>
                    <a:pt x="131064" y="1913021"/>
                    <a:pt x="0" y="1815092"/>
                    <a:pt x="0" y="16943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38867" y="4630287"/>
            <a:ext cx="14996160" cy="1434766"/>
            <a:chOff x="0" y="0"/>
            <a:chExt cx="19994880" cy="19130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994880" cy="1913021"/>
            </a:xfrm>
            <a:custGeom>
              <a:avLst/>
              <a:gdLst/>
              <a:ahLst/>
              <a:cxnLst/>
              <a:rect l="l" t="t" r="r" b="b"/>
              <a:pathLst>
                <a:path w="19994880" h="1913021">
                  <a:moveTo>
                    <a:pt x="0" y="218631"/>
                  </a:moveTo>
                  <a:cubicBezTo>
                    <a:pt x="0" y="97928"/>
                    <a:pt x="131064" y="0"/>
                    <a:pt x="292608" y="0"/>
                  </a:cubicBezTo>
                  <a:lnTo>
                    <a:pt x="19702272" y="0"/>
                  </a:lnTo>
                  <a:cubicBezTo>
                    <a:pt x="19863943" y="0"/>
                    <a:pt x="19994880" y="97928"/>
                    <a:pt x="19994880" y="218631"/>
                  </a:cubicBezTo>
                  <a:lnTo>
                    <a:pt x="19994880" y="1694390"/>
                  </a:lnTo>
                  <a:cubicBezTo>
                    <a:pt x="19994880" y="1815187"/>
                    <a:pt x="19863815" y="1913021"/>
                    <a:pt x="19702272" y="1913021"/>
                  </a:cubicBezTo>
                  <a:lnTo>
                    <a:pt x="292608" y="1913021"/>
                  </a:lnTo>
                  <a:cubicBezTo>
                    <a:pt x="131064" y="1913021"/>
                    <a:pt x="0" y="1815092"/>
                    <a:pt x="0" y="16943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38867" y="6512727"/>
            <a:ext cx="14996160" cy="1434766"/>
            <a:chOff x="0" y="0"/>
            <a:chExt cx="19994880" cy="1913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994880" cy="1913021"/>
            </a:xfrm>
            <a:custGeom>
              <a:avLst/>
              <a:gdLst/>
              <a:ahLst/>
              <a:cxnLst/>
              <a:rect l="l" t="t" r="r" b="b"/>
              <a:pathLst>
                <a:path w="19994880" h="1913021">
                  <a:moveTo>
                    <a:pt x="0" y="218631"/>
                  </a:moveTo>
                  <a:cubicBezTo>
                    <a:pt x="0" y="97928"/>
                    <a:pt x="131064" y="0"/>
                    <a:pt x="292608" y="0"/>
                  </a:cubicBezTo>
                  <a:lnTo>
                    <a:pt x="19702272" y="0"/>
                  </a:lnTo>
                  <a:cubicBezTo>
                    <a:pt x="19863943" y="0"/>
                    <a:pt x="19994880" y="97928"/>
                    <a:pt x="19994880" y="218631"/>
                  </a:cubicBezTo>
                  <a:lnTo>
                    <a:pt x="19994880" y="1694390"/>
                  </a:lnTo>
                  <a:cubicBezTo>
                    <a:pt x="19994880" y="1815187"/>
                    <a:pt x="19863815" y="1913021"/>
                    <a:pt x="19702272" y="1913021"/>
                  </a:cubicBezTo>
                  <a:lnTo>
                    <a:pt x="292608" y="1913021"/>
                  </a:lnTo>
                  <a:cubicBezTo>
                    <a:pt x="131064" y="1913021"/>
                    <a:pt x="0" y="1815092"/>
                    <a:pt x="0" y="16943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78435" y="2974420"/>
            <a:ext cx="1205827" cy="1205827"/>
            <a:chOff x="0" y="0"/>
            <a:chExt cx="1999488" cy="19994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8" cy="1999488"/>
            </a:xfrm>
            <a:custGeom>
              <a:avLst/>
              <a:gdLst/>
              <a:ahLst/>
              <a:cxnLst/>
              <a:rect l="l" t="t" r="r" b="b"/>
              <a:pathLst>
                <a:path w="1999488" h="1999488">
                  <a:moveTo>
                    <a:pt x="0" y="999744"/>
                  </a:moveTo>
                  <a:cubicBezTo>
                    <a:pt x="0" y="447548"/>
                    <a:pt x="447548" y="0"/>
                    <a:pt x="999744" y="0"/>
                  </a:cubicBezTo>
                  <a:cubicBezTo>
                    <a:pt x="1551940" y="0"/>
                    <a:pt x="1999488" y="447548"/>
                    <a:pt x="1999488" y="999744"/>
                  </a:cubicBezTo>
                  <a:cubicBezTo>
                    <a:pt x="1999488" y="1551940"/>
                    <a:pt x="1551940" y="1999488"/>
                    <a:pt x="999744" y="1999488"/>
                  </a:cubicBezTo>
                  <a:cubicBezTo>
                    <a:pt x="447548" y="1999488"/>
                    <a:pt x="0" y="1551940"/>
                    <a:pt x="0" y="999744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267837" y="3263822"/>
            <a:ext cx="627032" cy="627032"/>
            <a:chOff x="0" y="0"/>
            <a:chExt cx="1039736" cy="1039736"/>
          </a:xfrm>
        </p:grpSpPr>
        <p:sp>
          <p:nvSpPr>
            <p:cNvPr id="14" name="Freeform 14" descr="icons/flujos.png"/>
            <p:cNvSpPr/>
            <p:nvPr/>
          </p:nvSpPr>
          <p:spPr>
            <a:xfrm>
              <a:off x="0" y="0"/>
              <a:ext cx="1039749" cy="1039749"/>
            </a:xfrm>
            <a:custGeom>
              <a:avLst/>
              <a:gdLst/>
              <a:ahLst/>
              <a:cxnLst/>
              <a:rect l="l" t="t" r="r" b="b"/>
              <a:pathLst>
                <a:path w="1039749" h="1039749">
                  <a:moveTo>
                    <a:pt x="0" y="0"/>
                  </a:moveTo>
                  <a:lnTo>
                    <a:pt x="1039749" y="0"/>
                  </a:lnTo>
                  <a:lnTo>
                    <a:pt x="1039749" y="1039749"/>
                  </a:lnTo>
                  <a:lnTo>
                    <a:pt x="0" y="1039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85488" y="4747893"/>
            <a:ext cx="1205827" cy="1205827"/>
            <a:chOff x="0" y="0"/>
            <a:chExt cx="1999488" cy="19994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" cy="1999488"/>
            </a:xfrm>
            <a:custGeom>
              <a:avLst/>
              <a:gdLst/>
              <a:ahLst/>
              <a:cxnLst/>
              <a:rect l="l" t="t" r="r" b="b"/>
              <a:pathLst>
                <a:path w="1999488" h="1999488">
                  <a:moveTo>
                    <a:pt x="0" y="999744"/>
                  </a:moveTo>
                  <a:cubicBezTo>
                    <a:pt x="0" y="447548"/>
                    <a:pt x="447548" y="0"/>
                    <a:pt x="999744" y="0"/>
                  </a:cubicBezTo>
                  <a:cubicBezTo>
                    <a:pt x="1551940" y="0"/>
                    <a:pt x="1999488" y="447548"/>
                    <a:pt x="1999488" y="999744"/>
                  </a:cubicBezTo>
                  <a:cubicBezTo>
                    <a:pt x="1999488" y="1551940"/>
                    <a:pt x="1551940" y="1999488"/>
                    <a:pt x="999744" y="1999488"/>
                  </a:cubicBezTo>
                  <a:cubicBezTo>
                    <a:pt x="447548" y="1999488"/>
                    <a:pt x="0" y="1551940"/>
                    <a:pt x="0" y="999744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05524" y="6633172"/>
            <a:ext cx="1205827" cy="1205827"/>
            <a:chOff x="0" y="0"/>
            <a:chExt cx="1999488" cy="19994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99488" cy="1999488"/>
            </a:xfrm>
            <a:custGeom>
              <a:avLst/>
              <a:gdLst/>
              <a:ahLst/>
              <a:cxnLst/>
              <a:rect l="l" t="t" r="r" b="b"/>
              <a:pathLst>
                <a:path w="1999488" h="1999488">
                  <a:moveTo>
                    <a:pt x="0" y="999744"/>
                  </a:moveTo>
                  <a:cubicBezTo>
                    <a:pt x="0" y="447548"/>
                    <a:pt x="447548" y="0"/>
                    <a:pt x="999744" y="0"/>
                  </a:cubicBezTo>
                  <a:cubicBezTo>
                    <a:pt x="1551940" y="0"/>
                    <a:pt x="1999488" y="447548"/>
                    <a:pt x="1999488" y="999744"/>
                  </a:cubicBezTo>
                  <a:cubicBezTo>
                    <a:pt x="1999488" y="1551940"/>
                    <a:pt x="1551940" y="1999488"/>
                    <a:pt x="999744" y="1999488"/>
                  </a:cubicBezTo>
                  <a:cubicBezTo>
                    <a:pt x="447548" y="1999488"/>
                    <a:pt x="0" y="1551940"/>
                    <a:pt x="0" y="999744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19" name="Freeform 19"/>
          <p:cNvSpPr/>
          <p:nvPr/>
        </p:nvSpPr>
        <p:spPr>
          <a:xfrm>
            <a:off x="2212195" y="4951428"/>
            <a:ext cx="792484" cy="792484"/>
          </a:xfrm>
          <a:custGeom>
            <a:avLst/>
            <a:gdLst/>
            <a:ahLst/>
            <a:cxnLst/>
            <a:rect l="l" t="t" r="r" b="b"/>
            <a:pathLst>
              <a:path w="792484" h="792484">
                <a:moveTo>
                  <a:pt x="0" y="0"/>
                </a:moveTo>
                <a:lnTo>
                  <a:pt x="792485" y="0"/>
                </a:lnTo>
                <a:lnTo>
                  <a:pt x="792485" y="792484"/>
                </a:lnTo>
                <a:lnTo>
                  <a:pt x="0" y="7924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Freeform 20"/>
          <p:cNvSpPr/>
          <p:nvPr/>
        </p:nvSpPr>
        <p:spPr>
          <a:xfrm>
            <a:off x="2117314" y="6726255"/>
            <a:ext cx="982247" cy="1002293"/>
          </a:xfrm>
          <a:custGeom>
            <a:avLst/>
            <a:gdLst/>
            <a:ahLst/>
            <a:cxnLst/>
            <a:rect l="l" t="t" r="r" b="b"/>
            <a:pathLst>
              <a:path w="982247" h="1002293">
                <a:moveTo>
                  <a:pt x="0" y="0"/>
                </a:moveTo>
                <a:lnTo>
                  <a:pt x="982247" y="0"/>
                </a:lnTo>
                <a:lnTo>
                  <a:pt x="982247" y="1002292"/>
                </a:lnTo>
                <a:lnTo>
                  <a:pt x="0" y="10022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21" name="Group 21"/>
          <p:cNvGrpSpPr/>
          <p:nvPr/>
        </p:nvGrpSpPr>
        <p:grpSpPr>
          <a:xfrm>
            <a:off x="1638867" y="8336894"/>
            <a:ext cx="14996160" cy="1434766"/>
            <a:chOff x="0" y="0"/>
            <a:chExt cx="19994880" cy="191302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994880" cy="1913021"/>
            </a:xfrm>
            <a:custGeom>
              <a:avLst/>
              <a:gdLst/>
              <a:ahLst/>
              <a:cxnLst/>
              <a:rect l="l" t="t" r="r" b="b"/>
              <a:pathLst>
                <a:path w="19994880" h="1913021">
                  <a:moveTo>
                    <a:pt x="0" y="218631"/>
                  </a:moveTo>
                  <a:cubicBezTo>
                    <a:pt x="0" y="97928"/>
                    <a:pt x="131064" y="0"/>
                    <a:pt x="292608" y="0"/>
                  </a:cubicBezTo>
                  <a:lnTo>
                    <a:pt x="19702272" y="0"/>
                  </a:lnTo>
                  <a:cubicBezTo>
                    <a:pt x="19863943" y="0"/>
                    <a:pt x="19994880" y="97928"/>
                    <a:pt x="19994880" y="218631"/>
                  </a:cubicBezTo>
                  <a:lnTo>
                    <a:pt x="19994880" y="1694390"/>
                  </a:lnTo>
                  <a:cubicBezTo>
                    <a:pt x="19994880" y="1815187"/>
                    <a:pt x="19863815" y="1913021"/>
                    <a:pt x="19702272" y="1913021"/>
                  </a:cubicBezTo>
                  <a:lnTo>
                    <a:pt x="292608" y="1913021"/>
                  </a:lnTo>
                  <a:cubicBezTo>
                    <a:pt x="131064" y="1913021"/>
                    <a:pt x="0" y="1815092"/>
                    <a:pt x="0" y="16943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005524" y="8451363"/>
            <a:ext cx="1205827" cy="1205827"/>
            <a:chOff x="0" y="0"/>
            <a:chExt cx="1999488" cy="19994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9488" cy="1999488"/>
            </a:xfrm>
            <a:custGeom>
              <a:avLst/>
              <a:gdLst/>
              <a:ahLst/>
              <a:cxnLst/>
              <a:rect l="l" t="t" r="r" b="b"/>
              <a:pathLst>
                <a:path w="1999488" h="1999488">
                  <a:moveTo>
                    <a:pt x="0" y="999744"/>
                  </a:moveTo>
                  <a:cubicBezTo>
                    <a:pt x="0" y="447548"/>
                    <a:pt x="447548" y="0"/>
                    <a:pt x="999744" y="0"/>
                  </a:cubicBezTo>
                  <a:cubicBezTo>
                    <a:pt x="1551940" y="0"/>
                    <a:pt x="1999488" y="447548"/>
                    <a:pt x="1999488" y="999744"/>
                  </a:cubicBezTo>
                  <a:cubicBezTo>
                    <a:pt x="1999488" y="1551940"/>
                    <a:pt x="1551940" y="1999488"/>
                    <a:pt x="999744" y="1999488"/>
                  </a:cubicBezTo>
                  <a:cubicBezTo>
                    <a:pt x="447548" y="1999488"/>
                    <a:pt x="0" y="1551940"/>
                    <a:pt x="0" y="999744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401851" y="1528635"/>
            <a:ext cx="12020332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Definimos cuatro grandes frentes de trabajo para construir la solución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40913" y="3395553"/>
            <a:ext cx="127812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Flujos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36934" y="3046375"/>
            <a:ext cx="9621448" cy="10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s-CL" sz="28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Definición y gestión del flujo de aprobación de las solicitudes.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01851" y="4855507"/>
            <a:ext cx="3087779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Inventario de documentos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36934" y="4980003"/>
            <a:ext cx="9621448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s-CL" sz="28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Registro, organización y consulta de documentos.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36934" y="6658589"/>
            <a:ext cx="9621448" cy="10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s-CL" sz="28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Apoyo mediante IA para automatizar y facilitar la gestión de información.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78051" y="6737947"/>
            <a:ext cx="3087779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Inteligencia Artificial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36934" y="8519607"/>
            <a:ext cx="9621448" cy="10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s-CL" sz="28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Creación y utilización de plantillas adaptables a distintos tipos de solicitudes y documentos.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01851" y="8842843"/>
            <a:ext cx="308777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Plantillas</a:t>
            </a:r>
          </a:p>
        </p:txBody>
      </p:sp>
      <p:sp>
        <p:nvSpPr>
          <p:cNvPr id="34" name="Freeform 34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TextBox 35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1557" y="135533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Historias de usuario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1482259" y="2963562"/>
            <a:ext cx="5285886" cy="6859541"/>
            <a:chOff x="0" y="0"/>
            <a:chExt cx="1392167" cy="18066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2167" cy="1806628"/>
            </a:xfrm>
            <a:custGeom>
              <a:avLst/>
              <a:gdLst/>
              <a:ahLst/>
              <a:cxnLst/>
              <a:rect l="l" t="t" r="r" b="b"/>
              <a:pathLst>
                <a:path w="1392167" h="1806628">
                  <a:moveTo>
                    <a:pt x="1392167" y="43939"/>
                  </a:moveTo>
                  <a:lnTo>
                    <a:pt x="1392167" y="1762689"/>
                  </a:lnTo>
                  <a:cubicBezTo>
                    <a:pt x="1392167" y="1774342"/>
                    <a:pt x="1387538" y="1785519"/>
                    <a:pt x="1379298" y="1793759"/>
                  </a:cubicBezTo>
                  <a:cubicBezTo>
                    <a:pt x="1371058" y="1801999"/>
                    <a:pt x="1359882" y="1806628"/>
                    <a:pt x="1348228" y="1806628"/>
                  </a:cubicBezTo>
                  <a:lnTo>
                    <a:pt x="43939" y="1806628"/>
                  </a:lnTo>
                  <a:cubicBezTo>
                    <a:pt x="19672" y="1806628"/>
                    <a:pt x="0" y="1786956"/>
                    <a:pt x="0" y="1762689"/>
                  </a:cubicBezTo>
                  <a:lnTo>
                    <a:pt x="0" y="43939"/>
                  </a:lnTo>
                  <a:cubicBezTo>
                    <a:pt x="0" y="32286"/>
                    <a:pt x="4629" y="21110"/>
                    <a:pt x="12869" y="12869"/>
                  </a:cubicBezTo>
                  <a:cubicBezTo>
                    <a:pt x="21110" y="4629"/>
                    <a:pt x="32286" y="0"/>
                    <a:pt x="43939" y="0"/>
                  </a:cubicBezTo>
                  <a:lnTo>
                    <a:pt x="1348228" y="0"/>
                  </a:lnTo>
                  <a:cubicBezTo>
                    <a:pt x="1359882" y="0"/>
                    <a:pt x="1371058" y="4629"/>
                    <a:pt x="1379298" y="12869"/>
                  </a:cubicBezTo>
                  <a:cubicBezTo>
                    <a:pt x="1387538" y="21110"/>
                    <a:pt x="1392167" y="32286"/>
                    <a:pt x="1392167" y="439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92167" cy="1844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89038" y="3018571"/>
            <a:ext cx="5122261" cy="3614918"/>
            <a:chOff x="0" y="0"/>
            <a:chExt cx="1349073" cy="9520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49073" cy="952077"/>
            </a:xfrm>
            <a:custGeom>
              <a:avLst/>
              <a:gdLst/>
              <a:ahLst/>
              <a:cxnLst/>
              <a:rect l="l" t="t" r="r" b="b"/>
              <a:pathLst>
                <a:path w="1349073" h="952077">
                  <a:moveTo>
                    <a:pt x="1349073" y="45343"/>
                  </a:moveTo>
                  <a:lnTo>
                    <a:pt x="1349073" y="906734"/>
                  </a:lnTo>
                  <a:cubicBezTo>
                    <a:pt x="1349073" y="918760"/>
                    <a:pt x="1344296" y="930293"/>
                    <a:pt x="1335792" y="938796"/>
                  </a:cubicBezTo>
                  <a:cubicBezTo>
                    <a:pt x="1327289" y="947300"/>
                    <a:pt x="1315756" y="952077"/>
                    <a:pt x="1303730" y="952077"/>
                  </a:cubicBezTo>
                  <a:lnTo>
                    <a:pt x="45343" y="952077"/>
                  </a:lnTo>
                  <a:cubicBezTo>
                    <a:pt x="33317" y="952077"/>
                    <a:pt x="21784" y="947300"/>
                    <a:pt x="13281" y="938796"/>
                  </a:cubicBezTo>
                  <a:cubicBezTo>
                    <a:pt x="4777" y="930293"/>
                    <a:pt x="0" y="918760"/>
                    <a:pt x="0" y="906734"/>
                  </a:cubicBezTo>
                  <a:lnTo>
                    <a:pt x="0" y="45343"/>
                  </a:lnTo>
                  <a:cubicBezTo>
                    <a:pt x="0" y="33317"/>
                    <a:pt x="4777" y="21784"/>
                    <a:pt x="13281" y="13281"/>
                  </a:cubicBezTo>
                  <a:cubicBezTo>
                    <a:pt x="21784" y="4777"/>
                    <a:pt x="33317" y="0"/>
                    <a:pt x="45343" y="0"/>
                  </a:cubicBezTo>
                  <a:lnTo>
                    <a:pt x="1303730" y="0"/>
                  </a:lnTo>
                  <a:cubicBezTo>
                    <a:pt x="1315756" y="0"/>
                    <a:pt x="1327289" y="4777"/>
                    <a:pt x="1335792" y="13281"/>
                  </a:cubicBezTo>
                  <a:cubicBezTo>
                    <a:pt x="1344296" y="21784"/>
                    <a:pt x="1349073" y="33317"/>
                    <a:pt x="1349073" y="453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49073" cy="990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207165" y="4470400"/>
            <a:ext cx="4844413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s-CL" sz="24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Quiero </a:t>
            </a:r>
            <a:r>
              <a:rPr lang="es-CL" sz="2499" b="1" noProof="0" dirty="0">
                <a:solidFill>
                  <a:srgbClr val="3B56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revisar documentos con apoyo de IA</a:t>
            </a:r>
            <a:r>
              <a:rPr lang="es-CL" sz="24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, para agilizar el proceso de validación.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23150" y="3412763"/>
            <a:ext cx="3840480" cy="821250"/>
            <a:chOff x="0" y="0"/>
            <a:chExt cx="5120640" cy="109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20640" cy="1095000"/>
            </a:xfrm>
            <a:custGeom>
              <a:avLst/>
              <a:gdLst/>
              <a:ahLst/>
              <a:cxnLst/>
              <a:rect l="l" t="t" r="r" b="b"/>
              <a:pathLst>
                <a:path w="5120640" h="1095000">
                  <a:moveTo>
                    <a:pt x="279400" y="0"/>
                  </a:moveTo>
                  <a:lnTo>
                    <a:pt x="4841240" y="0"/>
                  </a:lnTo>
                  <a:cubicBezTo>
                    <a:pt x="4915342" y="0"/>
                    <a:pt x="4986408" y="29437"/>
                    <a:pt x="5038806" y="81834"/>
                  </a:cubicBezTo>
                  <a:cubicBezTo>
                    <a:pt x="5091204" y="134232"/>
                    <a:pt x="5120640" y="205299"/>
                    <a:pt x="5120640" y="279400"/>
                  </a:cubicBezTo>
                  <a:lnTo>
                    <a:pt x="5120640" y="815600"/>
                  </a:lnTo>
                  <a:cubicBezTo>
                    <a:pt x="5120640" y="889701"/>
                    <a:pt x="5091204" y="960768"/>
                    <a:pt x="5038806" y="1013165"/>
                  </a:cubicBezTo>
                  <a:cubicBezTo>
                    <a:pt x="4986408" y="1065563"/>
                    <a:pt x="4915342" y="1095000"/>
                    <a:pt x="4841240" y="1095000"/>
                  </a:cubicBezTo>
                  <a:lnTo>
                    <a:pt x="279400" y="1095000"/>
                  </a:lnTo>
                  <a:cubicBezTo>
                    <a:pt x="125092" y="1095000"/>
                    <a:pt x="0" y="969908"/>
                    <a:pt x="0" y="815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4E1F6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5120640" cy="1180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919"/>
                </a:lnSpc>
              </a:pPr>
              <a:r>
                <a:rPr lang="es-CL" sz="4099" b="1" noProof="0" dirty="0">
                  <a:solidFill>
                    <a:srgbClr val="5454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97074" y="3018571"/>
            <a:ext cx="5122261" cy="3614918"/>
            <a:chOff x="0" y="0"/>
            <a:chExt cx="1349073" cy="9520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49073" cy="952077"/>
            </a:xfrm>
            <a:custGeom>
              <a:avLst/>
              <a:gdLst/>
              <a:ahLst/>
              <a:cxnLst/>
              <a:rect l="l" t="t" r="r" b="b"/>
              <a:pathLst>
                <a:path w="1349073" h="952077">
                  <a:moveTo>
                    <a:pt x="1349073" y="45343"/>
                  </a:moveTo>
                  <a:lnTo>
                    <a:pt x="1349073" y="906734"/>
                  </a:lnTo>
                  <a:cubicBezTo>
                    <a:pt x="1349073" y="918760"/>
                    <a:pt x="1344296" y="930293"/>
                    <a:pt x="1335792" y="938796"/>
                  </a:cubicBezTo>
                  <a:cubicBezTo>
                    <a:pt x="1327289" y="947300"/>
                    <a:pt x="1315756" y="952077"/>
                    <a:pt x="1303730" y="952077"/>
                  </a:cubicBezTo>
                  <a:lnTo>
                    <a:pt x="45343" y="952077"/>
                  </a:lnTo>
                  <a:cubicBezTo>
                    <a:pt x="33317" y="952077"/>
                    <a:pt x="21784" y="947300"/>
                    <a:pt x="13281" y="938796"/>
                  </a:cubicBezTo>
                  <a:cubicBezTo>
                    <a:pt x="4777" y="930293"/>
                    <a:pt x="0" y="918760"/>
                    <a:pt x="0" y="906734"/>
                  </a:cubicBezTo>
                  <a:lnTo>
                    <a:pt x="0" y="45343"/>
                  </a:lnTo>
                  <a:cubicBezTo>
                    <a:pt x="0" y="33317"/>
                    <a:pt x="4777" y="21784"/>
                    <a:pt x="13281" y="13281"/>
                  </a:cubicBezTo>
                  <a:cubicBezTo>
                    <a:pt x="21784" y="4777"/>
                    <a:pt x="33317" y="0"/>
                    <a:pt x="45343" y="0"/>
                  </a:cubicBezTo>
                  <a:lnTo>
                    <a:pt x="1303730" y="0"/>
                  </a:lnTo>
                  <a:cubicBezTo>
                    <a:pt x="1315756" y="0"/>
                    <a:pt x="1327289" y="4777"/>
                    <a:pt x="1335792" y="13281"/>
                  </a:cubicBezTo>
                  <a:cubicBezTo>
                    <a:pt x="1344296" y="21784"/>
                    <a:pt x="1349073" y="33317"/>
                    <a:pt x="1349073" y="453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49073" cy="990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91829" y="3412763"/>
            <a:ext cx="3840480" cy="821250"/>
            <a:chOff x="0" y="0"/>
            <a:chExt cx="5120640" cy="109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20640" cy="1095000"/>
            </a:xfrm>
            <a:custGeom>
              <a:avLst/>
              <a:gdLst/>
              <a:ahLst/>
              <a:cxnLst/>
              <a:rect l="l" t="t" r="r" b="b"/>
              <a:pathLst>
                <a:path w="5120640" h="1095000">
                  <a:moveTo>
                    <a:pt x="279400" y="0"/>
                  </a:moveTo>
                  <a:lnTo>
                    <a:pt x="4841240" y="0"/>
                  </a:lnTo>
                  <a:cubicBezTo>
                    <a:pt x="4915342" y="0"/>
                    <a:pt x="4986408" y="29437"/>
                    <a:pt x="5038806" y="81834"/>
                  </a:cubicBezTo>
                  <a:cubicBezTo>
                    <a:pt x="5091204" y="134232"/>
                    <a:pt x="5120640" y="205299"/>
                    <a:pt x="5120640" y="279400"/>
                  </a:cubicBezTo>
                  <a:lnTo>
                    <a:pt x="5120640" y="815600"/>
                  </a:lnTo>
                  <a:cubicBezTo>
                    <a:pt x="5120640" y="889701"/>
                    <a:pt x="5091204" y="960768"/>
                    <a:pt x="5038806" y="1013165"/>
                  </a:cubicBezTo>
                  <a:cubicBezTo>
                    <a:pt x="4986408" y="1065563"/>
                    <a:pt x="4915342" y="1095000"/>
                    <a:pt x="4841240" y="1095000"/>
                  </a:cubicBezTo>
                  <a:lnTo>
                    <a:pt x="279400" y="1095000"/>
                  </a:lnTo>
                  <a:cubicBezTo>
                    <a:pt x="125092" y="1095000"/>
                    <a:pt x="0" y="969908"/>
                    <a:pt x="0" y="815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4E1F6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5120640" cy="1180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919"/>
                </a:lnSpc>
              </a:pPr>
              <a:r>
                <a:rPr lang="es-CL" sz="4099" b="1" noProof="0" dirty="0">
                  <a:solidFill>
                    <a:srgbClr val="004A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Revisor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199865" y="3412763"/>
            <a:ext cx="3840480" cy="821250"/>
            <a:chOff x="0" y="0"/>
            <a:chExt cx="5120640" cy="1095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20640" cy="1095000"/>
            </a:xfrm>
            <a:custGeom>
              <a:avLst/>
              <a:gdLst/>
              <a:ahLst/>
              <a:cxnLst/>
              <a:rect l="l" t="t" r="r" b="b"/>
              <a:pathLst>
                <a:path w="5120640" h="1095000">
                  <a:moveTo>
                    <a:pt x="279400" y="0"/>
                  </a:moveTo>
                  <a:lnTo>
                    <a:pt x="4841240" y="0"/>
                  </a:lnTo>
                  <a:cubicBezTo>
                    <a:pt x="4915342" y="0"/>
                    <a:pt x="4986408" y="29437"/>
                    <a:pt x="5038806" y="81834"/>
                  </a:cubicBezTo>
                  <a:cubicBezTo>
                    <a:pt x="5091204" y="134232"/>
                    <a:pt x="5120640" y="205299"/>
                    <a:pt x="5120640" y="279400"/>
                  </a:cubicBezTo>
                  <a:lnTo>
                    <a:pt x="5120640" y="815600"/>
                  </a:lnTo>
                  <a:cubicBezTo>
                    <a:pt x="5120640" y="889701"/>
                    <a:pt x="5091204" y="960768"/>
                    <a:pt x="5038806" y="1013165"/>
                  </a:cubicBezTo>
                  <a:cubicBezTo>
                    <a:pt x="4986408" y="1065563"/>
                    <a:pt x="4915342" y="1095000"/>
                    <a:pt x="4841240" y="1095000"/>
                  </a:cubicBezTo>
                  <a:lnTo>
                    <a:pt x="279400" y="1095000"/>
                  </a:lnTo>
                  <a:cubicBezTo>
                    <a:pt x="125092" y="1095000"/>
                    <a:pt x="0" y="969908"/>
                    <a:pt x="0" y="815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4E1F6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5120640" cy="1180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919"/>
                </a:lnSpc>
              </a:pPr>
              <a:r>
                <a:rPr lang="es-CL" sz="4099" b="1" noProof="0" dirty="0">
                  <a:solidFill>
                    <a:srgbClr val="FF31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Emisor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735998" y="4455394"/>
            <a:ext cx="4844413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s-CL" sz="24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Quiero </a:t>
            </a:r>
            <a:r>
              <a:rPr lang="es-CL" sz="2499" b="1" noProof="0" dirty="0">
                <a:solidFill>
                  <a:srgbClr val="3B56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crear solicitudes utilizando plantillas</a:t>
            </a:r>
            <a:r>
              <a:rPr lang="es-CL" sz="24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, para facilitar y estandarizar el ingreso de información.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39975" y="4674469"/>
            <a:ext cx="499326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s-CL" sz="24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Quiero </a:t>
            </a:r>
            <a:r>
              <a:rPr lang="es-CL" sz="2499" b="1" noProof="0" dirty="0">
                <a:solidFill>
                  <a:srgbClr val="3B56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consultar y descargar documentos</a:t>
            </a:r>
            <a:r>
              <a:rPr lang="es-CL" sz="24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, para acceder rápidamente a la información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74876" y="6585863"/>
            <a:ext cx="499326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s-CL" sz="24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Quiero </a:t>
            </a:r>
            <a:r>
              <a:rPr lang="es-CL" sz="2499" b="1" noProof="0" dirty="0">
                <a:solidFill>
                  <a:srgbClr val="3B56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recibir notificaciones</a:t>
            </a:r>
            <a:r>
              <a:rPr lang="es-CL" sz="24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 sobre el estado de mi solicitud, para mantenerme informado.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058717" y="6919238"/>
            <a:ext cx="10660619" cy="2903865"/>
            <a:chOff x="0" y="0"/>
            <a:chExt cx="2807735" cy="76480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807735" cy="764804"/>
            </a:xfrm>
            <a:custGeom>
              <a:avLst/>
              <a:gdLst/>
              <a:ahLst/>
              <a:cxnLst/>
              <a:rect l="l" t="t" r="r" b="b"/>
              <a:pathLst>
                <a:path w="2807735" h="764804">
                  <a:moveTo>
                    <a:pt x="2807735" y="21787"/>
                  </a:moveTo>
                  <a:lnTo>
                    <a:pt x="2807735" y="743018"/>
                  </a:lnTo>
                  <a:cubicBezTo>
                    <a:pt x="2807735" y="755050"/>
                    <a:pt x="2797981" y="764804"/>
                    <a:pt x="2785949" y="764804"/>
                  </a:cubicBezTo>
                  <a:lnTo>
                    <a:pt x="21787" y="764804"/>
                  </a:lnTo>
                  <a:cubicBezTo>
                    <a:pt x="16008" y="764804"/>
                    <a:pt x="10467" y="762509"/>
                    <a:pt x="6381" y="758423"/>
                  </a:cubicBezTo>
                  <a:cubicBezTo>
                    <a:pt x="2295" y="754337"/>
                    <a:pt x="0" y="748796"/>
                    <a:pt x="0" y="743018"/>
                  </a:cubicBezTo>
                  <a:lnTo>
                    <a:pt x="0" y="21787"/>
                  </a:lnTo>
                  <a:cubicBezTo>
                    <a:pt x="0" y="9754"/>
                    <a:pt x="9754" y="0"/>
                    <a:pt x="21787" y="0"/>
                  </a:cubicBezTo>
                  <a:lnTo>
                    <a:pt x="2785949" y="0"/>
                  </a:lnTo>
                  <a:cubicBezTo>
                    <a:pt x="2797981" y="0"/>
                    <a:pt x="2807735" y="9754"/>
                    <a:pt x="2807735" y="2178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807735" cy="8029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CL" noProof="0" dirty="0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301932" y="8134351"/>
            <a:ext cx="995736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s-CL" sz="24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Quiero </a:t>
            </a:r>
            <a:r>
              <a:rPr lang="es-CL" sz="2499" b="1" noProof="0" dirty="0">
                <a:solidFill>
                  <a:srgbClr val="3B567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administrar usuarios, roles y plantillas</a:t>
            </a:r>
            <a:r>
              <a:rPr lang="es-CL" sz="24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, para mantener controlado los flujos operacionales de mi organización.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083714" y="7138313"/>
            <a:ext cx="3840480" cy="821250"/>
            <a:chOff x="0" y="0"/>
            <a:chExt cx="5120640" cy="1095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20640" cy="1095000"/>
            </a:xfrm>
            <a:custGeom>
              <a:avLst/>
              <a:gdLst/>
              <a:ahLst/>
              <a:cxnLst/>
              <a:rect l="l" t="t" r="r" b="b"/>
              <a:pathLst>
                <a:path w="5120640" h="1095000">
                  <a:moveTo>
                    <a:pt x="279400" y="0"/>
                  </a:moveTo>
                  <a:lnTo>
                    <a:pt x="4841240" y="0"/>
                  </a:lnTo>
                  <a:cubicBezTo>
                    <a:pt x="4915342" y="0"/>
                    <a:pt x="4986408" y="29437"/>
                    <a:pt x="5038806" y="81834"/>
                  </a:cubicBezTo>
                  <a:cubicBezTo>
                    <a:pt x="5091204" y="134232"/>
                    <a:pt x="5120640" y="205299"/>
                    <a:pt x="5120640" y="279400"/>
                  </a:cubicBezTo>
                  <a:lnTo>
                    <a:pt x="5120640" y="815600"/>
                  </a:lnTo>
                  <a:cubicBezTo>
                    <a:pt x="5120640" y="889701"/>
                    <a:pt x="5091204" y="960768"/>
                    <a:pt x="5038806" y="1013165"/>
                  </a:cubicBezTo>
                  <a:cubicBezTo>
                    <a:pt x="4986408" y="1065563"/>
                    <a:pt x="4915342" y="1095000"/>
                    <a:pt x="4841240" y="1095000"/>
                  </a:cubicBezTo>
                  <a:lnTo>
                    <a:pt x="279400" y="1095000"/>
                  </a:lnTo>
                  <a:cubicBezTo>
                    <a:pt x="125092" y="1095000"/>
                    <a:pt x="0" y="969908"/>
                    <a:pt x="0" y="815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4E1F6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5120640" cy="1180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919"/>
                </a:lnSpc>
              </a:pPr>
              <a:r>
                <a:rPr lang="es-CL" sz="4099" b="1" noProof="0" dirty="0">
                  <a:solidFill>
                    <a:srgbClr val="FF75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Administrador</a:t>
              </a:r>
            </a:p>
          </p:txBody>
        </p:sp>
      </p:grpSp>
      <p:sp>
        <p:nvSpPr>
          <p:cNvPr id="34" name="Freeform 34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TextBox 35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08 Arquitectura</a:t>
            </a: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1118" y="26138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Arquitectura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0" y="1772890"/>
            <a:ext cx="18359268" cy="8514110"/>
          </a:xfrm>
          <a:custGeom>
            <a:avLst/>
            <a:gdLst/>
            <a:ahLst/>
            <a:cxnLst/>
            <a:rect l="l" t="t" r="r" b="b"/>
            <a:pathLst>
              <a:path w="18359268" h="8514110">
                <a:moveTo>
                  <a:pt x="0" y="0"/>
                </a:moveTo>
                <a:lnTo>
                  <a:pt x="18359268" y="0"/>
                </a:lnTo>
                <a:lnTo>
                  <a:pt x="18359268" y="8514110"/>
                </a:lnTo>
                <a:lnTo>
                  <a:pt x="0" y="8514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>
            <a:off x="15013417" y="129134"/>
            <a:ext cx="1534993" cy="517904"/>
          </a:xfrm>
          <a:custGeom>
            <a:avLst/>
            <a:gdLst/>
            <a:ahLst/>
            <a:cxnLst/>
            <a:rect l="l" t="t" r="r" b="b"/>
            <a:pathLst>
              <a:path w="1534993" h="517904">
                <a:moveTo>
                  <a:pt x="0" y="0"/>
                </a:moveTo>
                <a:lnTo>
                  <a:pt x="1534993" y="0"/>
                </a:lnTo>
                <a:lnTo>
                  <a:pt x="1534993" y="517904"/>
                </a:lnTo>
                <a:lnTo>
                  <a:pt x="0" y="517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>
            <a:off x="16693148" y="129134"/>
            <a:ext cx="1534993" cy="607276"/>
          </a:xfrm>
          <a:custGeom>
            <a:avLst/>
            <a:gdLst/>
            <a:ahLst/>
            <a:cxnLst/>
            <a:rect l="l" t="t" r="r" b="b"/>
            <a:pathLst>
              <a:path w="1534993" h="607276">
                <a:moveTo>
                  <a:pt x="0" y="0"/>
                </a:moveTo>
                <a:lnTo>
                  <a:pt x="1534993" y="0"/>
                </a:lnTo>
                <a:lnTo>
                  <a:pt x="1534993" y="607276"/>
                </a:lnTo>
                <a:lnTo>
                  <a:pt x="0" y="607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7893" r="-2173" b="-25585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16693148" y="833984"/>
            <a:ext cx="1324611" cy="567690"/>
          </a:xfrm>
          <a:custGeom>
            <a:avLst/>
            <a:gdLst/>
            <a:ahLst/>
            <a:cxnLst/>
            <a:rect l="l" t="t" r="r" b="b"/>
            <a:pathLst>
              <a:path w="1324611" h="567690">
                <a:moveTo>
                  <a:pt x="0" y="0"/>
                </a:moveTo>
                <a:lnTo>
                  <a:pt x="1324611" y="0"/>
                </a:lnTo>
                <a:lnTo>
                  <a:pt x="1324611" y="567691"/>
                </a:lnTo>
                <a:lnTo>
                  <a:pt x="0" y="567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8" name="Freeform 8"/>
          <p:cNvSpPr/>
          <p:nvPr/>
        </p:nvSpPr>
        <p:spPr>
          <a:xfrm>
            <a:off x="16902299" y="1489574"/>
            <a:ext cx="1116692" cy="628698"/>
          </a:xfrm>
          <a:custGeom>
            <a:avLst/>
            <a:gdLst/>
            <a:ahLst/>
            <a:cxnLst/>
            <a:rect l="l" t="t" r="r" b="b"/>
            <a:pathLst>
              <a:path w="1116692" h="628698">
                <a:moveTo>
                  <a:pt x="0" y="0"/>
                </a:moveTo>
                <a:lnTo>
                  <a:pt x="1116692" y="0"/>
                </a:lnTo>
                <a:lnTo>
                  <a:pt x="1116692" y="628698"/>
                </a:lnTo>
                <a:lnTo>
                  <a:pt x="0" y="6286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9" name="Freeform 9"/>
          <p:cNvSpPr/>
          <p:nvPr/>
        </p:nvSpPr>
        <p:spPr>
          <a:xfrm>
            <a:off x="15013417" y="1295654"/>
            <a:ext cx="1431706" cy="954471"/>
          </a:xfrm>
          <a:custGeom>
            <a:avLst/>
            <a:gdLst/>
            <a:ahLst/>
            <a:cxnLst/>
            <a:rect l="l" t="t" r="r" b="b"/>
            <a:pathLst>
              <a:path w="1431706" h="954471">
                <a:moveTo>
                  <a:pt x="0" y="0"/>
                </a:moveTo>
                <a:lnTo>
                  <a:pt x="1431706" y="0"/>
                </a:lnTo>
                <a:lnTo>
                  <a:pt x="1431706" y="954471"/>
                </a:lnTo>
                <a:lnTo>
                  <a:pt x="0" y="9544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15013417" y="736410"/>
            <a:ext cx="1679731" cy="771024"/>
          </a:xfrm>
          <a:custGeom>
            <a:avLst/>
            <a:gdLst/>
            <a:ahLst/>
            <a:cxnLst/>
            <a:rect l="l" t="t" r="r" b="b"/>
            <a:pathLst>
              <a:path w="1679731" h="771024">
                <a:moveTo>
                  <a:pt x="0" y="0"/>
                </a:moveTo>
                <a:lnTo>
                  <a:pt x="1679731" y="0"/>
                </a:lnTo>
                <a:lnTo>
                  <a:pt x="1679731" y="771024"/>
                </a:lnTo>
                <a:lnTo>
                  <a:pt x="0" y="7710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16954698" y="2203997"/>
            <a:ext cx="1011893" cy="865799"/>
          </a:xfrm>
          <a:custGeom>
            <a:avLst/>
            <a:gdLst/>
            <a:ahLst/>
            <a:cxnLst/>
            <a:rect l="l" t="t" r="r" b="b"/>
            <a:pathLst>
              <a:path w="1011893" h="865799">
                <a:moveTo>
                  <a:pt x="0" y="0"/>
                </a:moveTo>
                <a:lnTo>
                  <a:pt x="1011893" y="0"/>
                </a:lnTo>
                <a:lnTo>
                  <a:pt x="1011893" y="865799"/>
                </a:lnTo>
                <a:lnTo>
                  <a:pt x="0" y="8657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Box 12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09 Metodología</a:t>
            </a: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85743" y="45188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Metodología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6741660" y="1641879"/>
            <a:ext cx="4663440" cy="768096"/>
            <a:chOff x="0" y="0"/>
            <a:chExt cx="6217920" cy="1024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7920" cy="1024128"/>
            </a:xfrm>
            <a:custGeom>
              <a:avLst/>
              <a:gdLst/>
              <a:ahLst/>
              <a:cxnLst/>
              <a:rect l="l" t="t" r="r" b="b"/>
              <a:pathLst>
                <a:path w="6217920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5705856" y="0"/>
                  </a:lnTo>
                  <a:cubicBezTo>
                    <a:pt x="5988685" y="0"/>
                    <a:pt x="6217920" y="229235"/>
                    <a:pt x="6217920" y="512064"/>
                  </a:cubicBezTo>
                  <a:cubicBezTo>
                    <a:pt x="6217920" y="794893"/>
                    <a:pt x="5988685" y="1024128"/>
                    <a:pt x="5705856" y="1024128"/>
                  </a:cubicBezTo>
                  <a:lnTo>
                    <a:pt x="512064" y="1024128"/>
                  </a:ln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F69C1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97692" y="1806471"/>
            <a:ext cx="438912" cy="438912"/>
            <a:chOff x="0" y="0"/>
            <a:chExt cx="585216" cy="585216"/>
          </a:xfrm>
        </p:grpSpPr>
        <p:sp>
          <p:nvSpPr>
            <p:cNvPr id="8" name="Freeform 8" descr="icons/scrum.png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806" y="1670454"/>
            <a:ext cx="3749040" cy="768096"/>
            <a:chOff x="0" y="0"/>
            <a:chExt cx="4998720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5105" b="-45105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99872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s-CL" sz="2599" b="1" noProof="0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ágil · Scrum</a:t>
              </a:r>
            </a:p>
          </p:txBody>
        </p:sp>
      </p:grpSp>
      <p:sp>
        <p:nvSpPr>
          <p:cNvPr id="12" name="Freeform 12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Freeform 13"/>
          <p:cNvSpPr/>
          <p:nvPr/>
        </p:nvSpPr>
        <p:spPr>
          <a:xfrm>
            <a:off x="1985743" y="2562375"/>
            <a:ext cx="14446033" cy="7548052"/>
          </a:xfrm>
          <a:custGeom>
            <a:avLst/>
            <a:gdLst/>
            <a:ahLst/>
            <a:cxnLst/>
            <a:rect l="l" t="t" r="r" b="b"/>
            <a:pathLst>
              <a:path w="14446033" h="7548052">
                <a:moveTo>
                  <a:pt x="0" y="0"/>
                </a:moveTo>
                <a:lnTo>
                  <a:pt x="14446033" y="0"/>
                </a:lnTo>
                <a:lnTo>
                  <a:pt x="14446033" y="7548053"/>
                </a:lnTo>
                <a:lnTo>
                  <a:pt x="0" y="7548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1557" y="135533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Roles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oup 5"/>
          <p:cNvGrpSpPr/>
          <p:nvPr/>
        </p:nvGrpSpPr>
        <p:grpSpPr>
          <a:xfrm>
            <a:off x="1289304" y="3725514"/>
            <a:ext cx="4846320" cy="5760720"/>
            <a:chOff x="0" y="0"/>
            <a:chExt cx="6461760" cy="7680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61760" cy="7680960"/>
            </a:xfrm>
            <a:custGeom>
              <a:avLst/>
              <a:gdLst/>
              <a:ahLst/>
              <a:cxnLst/>
              <a:rect l="l" t="t" r="r" b="b"/>
              <a:pathLst>
                <a:path w="6461760" h="76809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6120384" y="0"/>
                  </a:lnTo>
                  <a:cubicBezTo>
                    <a:pt x="6308979" y="0"/>
                    <a:pt x="6461760" y="152781"/>
                    <a:pt x="6461760" y="341376"/>
                  </a:cubicBezTo>
                  <a:lnTo>
                    <a:pt x="6461760" y="7339584"/>
                  </a:lnTo>
                  <a:cubicBezTo>
                    <a:pt x="6461760" y="7528178"/>
                    <a:pt x="6308979" y="7680960"/>
                    <a:pt x="6120384" y="7680960"/>
                  </a:cubicBezTo>
                  <a:lnTo>
                    <a:pt x="341376" y="7680960"/>
                  </a:lnTo>
                  <a:cubicBezTo>
                    <a:pt x="152781" y="7680960"/>
                    <a:pt x="0" y="7528179"/>
                    <a:pt x="0" y="73395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20840" y="3725514"/>
            <a:ext cx="4846320" cy="5760720"/>
            <a:chOff x="0" y="0"/>
            <a:chExt cx="6461760" cy="7680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61760" cy="7680960"/>
            </a:xfrm>
            <a:custGeom>
              <a:avLst/>
              <a:gdLst/>
              <a:ahLst/>
              <a:cxnLst/>
              <a:rect l="l" t="t" r="r" b="b"/>
              <a:pathLst>
                <a:path w="6461760" h="76809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6120384" y="0"/>
                  </a:lnTo>
                  <a:cubicBezTo>
                    <a:pt x="6308979" y="0"/>
                    <a:pt x="6461760" y="152781"/>
                    <a:pt x="6461760" y="341376"/>
                  </a:cubicBezTo>
                  <a:lnTo>
                    <a:pt x="6461760" y="7339584"/>
                  </a:lnTo>
                  <a:cubicBezTo>
                    <a:pt x="6461760" y="7528178"/>
                    <a:pt x="6308979" y="7680960"/>
                    <a:pt x="6120384" y="7680960"/>
                  </a:cubicBezTo>
                  <a:lnTo>
                    <a:pt x="341376" y="7680960"/>
                  </a:lnTo>
                  <a:cubicBezTo>
                    <a:pt x="152781" y="7680960"/>
                    <a:pt x="0" y="7528179"/>
                    <a:pt x="0" y="73395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52376" y="3725514"/>
            <a:ext cx="4846320" cy="5760720"/>
            <a:chOff x="0" y="0"/>
            <a:chExt cx="6461760" cy="76809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61760" cy="7680960"/>
            </a:xfrm>
            <a:custGeom>
              <a:avLst/>
              <a:gdLst/>
              <a:ahLst/>
              <a:cxnLst/>
              <a:rect l="l" t="t" r="r" b="b"/>
              <a:pathLst>
                <a:path w="6461760" h="76809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6120384" y="0"/>
                  </a:lnTo>
                  <a:cubicBezTo>
                    <a:pt x="6308979" y="0"/>
                    <a:pt x="6461760" y="152781"/>
                    <a:pt x="6461760" y="341376"/>
                  </a:cubicBezTo>
                  <a:lnTo>
                    <a:pt x="6461760" y="7339584"/>
                  </a:lnTo>
                  <a:cubicBezTo>
                    <a:pt x="6461760" y="7528178"/>
                    <a:pt x="6308979" y="7680960"/>
                    <a:pt x="6120384" y="7680960"/>
                  </a:cubicBezTo>
                  <a:lnTo>
                    <a:pt x="341376" y="7680960"/>
                  </a:lnTo>
                  <a:cubicBezTo>
                    <a:pt x="152781" y="7680960"/>
                    <a:pt x="0" y="7528179"/>
                    <a:pt x="0" y="73395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935224" y="4082130"/>
            <a:ext cx="1554480" cy="1554480"/>
            <a:chOff x="0" y="0"/>
            <a:chExt cx="2072640" cy="2072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72640" cy="2072640"/>
            </a:xfrm>
            <a:custGeom>
              <a:avLst/>
              <a:gdLst/>
              <a:ahLst/>
              <a:cxnLst/>
              <a:rect l="l" t="t" r="r" b="b"/>
              <a:pathLst>
                <a:path w="2072640" h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98296" y="4082130"/>
            <a:ext cx="1554480" cy="1554480"/>
            <a:chOff x="0" y="0"/>
            <a:chExt cx="2072640" cy="20726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2640" cy="2072640"/>
            </a:xfrm>
            <a:custGeom>
              <a:avLst/>
              <a:gdLst/>
              <a:ahLst/>
              <a:cxnLst/>
              <a:rect l="l" t="t" r="r" b="b"/>
              <a:pathLst>
                <a:path w="2072640" h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24475" y="4371381"/>
            <a:ext cx="975977" cy="975977"/>
            <a:chOff x="0" y="0"/>
            <a:chExt cx="1077773" cy="1077773"/>
          </a:xfrm>
        </p:grpSpPr>
        <p:sp>
          <p:nvSpPr>
            <p:cNvPr id="16" name="Freeform 16" descr="icons/scrummaster.png"/>
            <p:cNvSpPr/>
            <p:nvPr/>
          </p:nvSpPr>
          <p:spPr>
            <a:xfrm>
              <a:off x="0" y="0"/>
              <a:ext cx="1077722" cy="1077722"/>
            </a:xfrm>
            <a:custGeom>
              <a:avLst/>
              <a:gdLst/>
              <a:ahLst/>
              <a:cxnLst/>
              <a:rect l="l" t="t" r="r" b="b"/>
              <a:pathLst>
                <a:path w="1077722" h="1077722">
                  <a:moveTo>
                    <a:pt x="0" y="0"/>
                  </a:moveTo>
                  <a:lnTo>
                    <a:pt x="1077722" y="0"/>
                  </a:lnTo>
                  <a:lnTo>
                    <a:pt x="1077722" y="1077722"/>
                  </a:lnTo>
                  <a:lnTo>
                    <a:pt x="0" y="1077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4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66760" y="4082130"/>
            <a:ext cx="1554480" cy="1554480"/>
            <a:chOff x="0" y="0"/>
            <a:chExt cx="2072640" cy="2072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2640" cy="2072640"/>
            </a:xfrm>
            <a:custGeom>
              <a:avLst/>
              <a:gdLst/>
              <a:ahLst/>
              <a:cxnLst/>
              <a:rect l="l" t="t" r="r" b="b"/>
              <a:pathLst>
                <a:path w="2072640" h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3D5E89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656011" y="4371381"/>
            <a:ext cx="975977" cy="975977"/>
            <a:chOff x="0" y="0"/>
            <a:chExt cx="1077773" cy="1077773"/>
          </a:xfrm>
        </p:grpSpPr>
        <p:sp>
          <p:nvSpPr>
            <p:cNvPr id="20" name="Freeform 20" descr="icons/devteam.png"/>
            <p:cNvSpPr/>
            <p:nvPr/>
          </p:nvSpPr>
          <p:spPr>
            <a:xfrm>
              <a:off x="0" y="0"/>
              <a:ext cx="1077722" cy="1077722"/>
            </a:xfrm>
            <a:custGeom>
              <a:avLst/>
              <a:gdLst/>
              <a:ahLst/>
              <a:cxnLst/>
              <a:rect l="l" t="t" r="r" b="b"/>
              <a:pathLst>
                <a:path w="1077722" h="1077722">
                  <a:moveTo>
                    <a:pt x="0" y="0"/>
                  </a:moveTo>
                  <a:lnTo>
                    <a:pt x="1077722" y="0"/>
                  </a:lnTo>
                  <a:lnTo>
                    <a:pt x="1077722" y="1077722"/>
                  </a:lnTo>
                  <a:lnTo>
                    <a:pt x="0" y="1077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" b="-4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89473" y="6605874"/>
            <a:ext cx="4045982" cy="585216"/>
            <a:chOff x="0" y="0"/>
            <a:chExt cx="5394642" cy="7802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94642" cy="780288"/>
            </a:xfrm>
            <a:custGeom>
              <a:avLst/>
              <a:gdLst/>
              <a:ahLst/>
              <a:cxnLst/>
              <a:rect l="l" t="t" r="r" b="b"/>
              <a:pathLst>
                <a:path w="5394642" h="780288">
                  <a:moveTo>
                    <a:pt x="160446" y="0"/>
                  </a:moveTo>
                  <a:lnTo>
                    <a:pt x="5234196" y="0"/>
                  </a:lnTo>
                  <a:cubicBezTo>
                    <a:pt x="5322808" y="0"/>
                    <a:pt x="5394642" y="71834"/>
                    <a:pt x="5394642" y="160446"/>
                  </a:cubicBezTo>
                  <a:lnTo>
                    <a:pt x="5394642" y="619842"/>
                  </a:lnTo>
                  <a:cubicBezTo>
                    <a:pt x="5394642" y="708454"/>
                    <a:pt x="5322808" y="780288"/>
                    <a:pt x="5234196" y="780288"/>
                  </a:cubicBezTo>
                  <a:lnTo>
                    <a:pt x="160446" y="780288"/>
                  </a:lnTo>
                  <a:cubicBezTo>
                    <a:pt x="71834" y="780288"/>
                    <a:pt x="0" y="708454"/>
                    <a:pt x="0" y="619842"/>
                  </a:cubicBezTo>
                  <a:lnTo>
                    <a:pt x="0" y="160446"/>
                  </a:lnTo>
                  <a:cubicBezTo>
                    <a:pt x="0" y="71834"/>
                    <a:pt x="71834" y="0"/>
                    <a:pt x="160446" y="0"/>
                  </a:cubicBezTo>
                  <a:close/>
                </a:path>
              </a:pathLst>
            </a:custGeom>
            <a:solidFill>
              <a:srgbClr val="D4E1F6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5394642" cy="770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s-CL" sz="1900" noProof="0" dirty="0">
                  <a:solidFill>
                    <a:srgbClr val="3D5E8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Nicolas Vidal Toledo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669328" y="6605874"/>
            <a:ext cx="4045982" cy="585216"/>
            <a:chOff x="0" y="0"/>
            <a:chExt cx="5394642" cy="7802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94642" cy="780288"/>
            </a:xfrm>
            <a:custGeom>
              <a:avLst/>
              <a:gdLst/>
              <a:ahLst/>
              <a:cxnLst/>
              <a:rect l="l" t="t" r="r" b="b"/>
              <a:pathLst>
                <a:path w="5394642" h="780288">
                  <a:moveTo>
                    <a:pt x="160446" y="0"/>
                  </a:moveTo>
                  <a:lnTo>
                    <a:pt x="5234196" y="0"/>
                  </a:lnTo>
                  <a:cubicBezTo>
                    <a:pt x="5322808" y="0"/>
                    <a:pt x="5394642" y="71834"/>
                    <a:pt x="5394642" y="160446"/>
                  </a:cubicBezTo>
                  <a:lnTo>
                    <a:pt x="5394642" y="619842"/>
                  </a:lnTo>
                  <a:cubicBezTo>
                    <a:pt x="5394642" y="708454"/>
                    <a:pt x="5322808" y="780288"/>
                    <a:pt x="5234196" y="780288"/>
                  </a:cubicBezTo>
                  <a:lnTo>
                    <a:pt x="160446" y="780288"/>
                  </a:lnTo>
                  <a:cubicBezTo>
                    <a:pt x="71834" y="780288"/>
                    <a:pt x="0" y="708454"/>
                    <a:pt x="0" y="619842"/>
                  </a:cubicBezTo>
                  <a:lnTo>
                    <a:pt x="0" y="160446"/>
                  </a:lnTo>
                  <a:cubicBezTo>
                    <a:pt x="0" y="71834"/>
                    <a:pt x="71834" y="0"/>
                    <a:pt x="160446" y="0"/>
                  </a:cubicBezTo>
                  <a:close/>
                </a:path>
              </a:pathLst>
            </a:custGeom>
            <a:solidFill>
              <a:srgbClr val="D4E1F6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5394642" cy="770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s-CL" sz="1900" noProof="0" dirty="0">
                  <a:solidFill>
                    <a:srgbClr val="3D5E8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Karin Pohl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21009" y="6605874"/>
            <a:ext cx="4045982" cy="701320"/>
            <a:chOff x="0" y="0"/>
            <a:chExt cx="5394642" cy="93509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94642" cy="935093"/>
            </a:xfrm>
            <a:custGeom>
              <a:avLst/>
              <a:gdLst/>
              <a:ahLst/>
              <a:cxnLst/>
              <a:rect l="l" t="t" r="r" b="b"/>
              <a:pathLst>
                <a:path w="5394642" h="935093">
                  <a:moveTo>
                    <a:pt x="160446" y="0"/>
                  </a:moveTo>
                  <a:lnTo>
                    <a:pt x="5234196" y="0"/>
                  </a:lnTo>
                  <a:cubicBezTo>
                    <a:pt x="5322808" y="0"/>
                    <a:pt x="5394642" y="71834"/>
                    <a:pt x="5394642" y="160446"/>
                  </a:cubicBezTo>
                  <a:lnTo>
                    <a:pt x="5394642" y="774647"/>
                  </a:lnTo>
                  <a:cubicBezTo>
                    <a:pt x="5394642" y="863259"/>
                    <a:pt x="5322808" y="935093"/>
                    <a:pt x="5234196" y="935093"/>
                  </a:cubicBezTo>
                  <a:lnTo>
                    <a:pt x="160446" y="935093"/>
                  </a:lnTo>
                  <a:cubicBezTo>
                    <a:pt x="71834" y="935093"/>
                    <a:pt x="0" y="863259"/>
                    <a:pt x="0" y="774647"/>
                  </a:cubicBezTo>
                  <a:lnTo>
                    <a:pt x="0" y="160446"/>
                  </a:lnTo>
                  <a:cubicBezTo>
                    <a:pt x="0" y="71834"/>
                    <a:pt x="71834" y="0"/>
                    <a:pt x="160446" y="0"/>
                  </a:cubicBezTo>
                  <a:close/>
                </a:path>
              </a:pathLst>
            </a:custGeom>
            <a:solidFill>
              <a:srgbClr val="D4E1F6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5394642" cy="925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s-CL" sz="1900" noProof="0" dirty="0">
                  <a:solidFill>
                    <a:srgbClr val="3D5E8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Eduardo Kusar - Nicolas Vidal - Kevin Soto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14027721" y="4287844"/>
            <a:ext cx="1125287" cy="1085902"/>
          </a:xfrm>
          <a:custGeom>
            <a:avLst/>
            <a:gdLst/>
            <a:ahLst/>
            <a:cxnLst/>
            <a:rect l="l" t="t" r="r" b="b"/>
            <a:pathLst>
              <a:path w="1125287" h="1085902">
                <a:moveTo>
                  <a:pt x="0" y="0"/>
                </a:moveTo>
                <a:lnTo>
                  <a:pt x="1125287" y="0"/>
                </a:lnTo>
                <a:lnTo>
                  <a:pt x="1125287" y="1085902"/>
                </a:lnTo>
                <a:lnTo>
                  <a:pt x="0" y="1085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Box 31"/>
          <p:cNvSpPr txBox="1"/>
          <p:nvPr/>
        </p:nvSpPr>
        <p:spPr>
          <a:xfrm>
            <a:off x="3300331" y="2895099"/>
            <a:ext cx="12020332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Trabajamos bajo los tres roles clave del marco de Scrum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26690" y="5957316"/>
            <a:ext cx="317154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Scrum Master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87337" y="5957316"/>
            <a:ext cx="467982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Equipo de desarrollo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57835" y="5957316"/>
            <a:ext cx="337685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 err="1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</a:t>
            </a: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Owner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43419" y="7457790"/>
            <a:ext cx="3738090" cy="136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Guía del equipo y del cumplimiento de la metodología Scrum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81744" y="7398735"/>
            <a:ext cx="3738090" cy="136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Equipo autogestionado y encargado de generar incrementos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721319" y="7398735"/>
            <a:ext cx="3738090" cy="18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Define prioridades, valida los avances y entregables del producto.</a:t>
            </a:r>
          </a:p>
        </p:txBody>
      </p:sp>
      <p:sp>
        <p:nvSpPr>
          <p:cNvPr id="38" name="Freeform 38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9" name="TextBox 39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 </a:t>
            </a:r>
            <a:r>
              <a:rPr lang="es-CL" sz="8000" b="1" noProof="0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Sprints</a:t>
            </a:r>
            <a:endParaRPr lang="es-CL" sz="8000" b="1" noProof="0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2164" y="854763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Evidencias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4" name="Group 4"/>
          <p:cNvGrpSpPr/>
          <p:nvPr/>
        </p:nvGrpSpPr>
        <p:grpSpPr>
          <a:xfrm>
            <a:off x="12278246" y="3648708"/>
            <a:ext cx="5582429" cy="6301849"/>
            <a:chOff x="0" y="0"/>
            <a:chExt cx="6461760" cy="72945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61760" cy="7294501"/>
            </a:xfrm>
            <a:custGeom>
              <a:avLst/>
              <a:gdLst/>
              <a:ahLst/>
              <a:cxnLst/>
              <a:rect l="l" t="t" r="r" b="b"/>
              <a:pathLst>
                <a:path w="6461760" h="7294501">
                  <a:moveTo>
                    <a:pt x="0" y="324200"/>
                  </a:moveTo>
                  <a:cubicBezTo>
                    <a:pt x="0" y="145094"/>
                    <a:pt x="152781" y="0"/>
                    <a:pt x="341376" y="0"/>
                  </a:cubicBezTo>
                  <a:lnTo>
                    <a:pt x="6120384" y="0"/>
                  </a:lnTo>
                  <a:cubicBezTo>
                    <a:pt x="6308979" y="0"/>
                    <a:pt x="6461760" y="145094"/>
                    <a:pt x="6461760" y="324200"/>
                  </a:cubicBezTo>
                  <a:lnTo>
                    <a:pt x="6461760" y="6970302"/>
                  </a:lnTo>
                  <a:cubicBezTo>
                    <a:pt x="6461760" y="7149407"/>
                    <a:pt x="6308979" y="7294501"/>
                    <a:pt x="6120384" y="7294501"/>
                  </a:cubicBezTo>
                  <a:lnTo>
                    <a:pt x="341376" y="7294501"/>
                  </a:lnTo>
                  <a:cubicBezTo>
                    <a:pt x="152781" y="7294501"/>
                    <a:pt x="0" y="7149408"/>
                    <a:pt x="0" y="6970302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43204" y="3663231"/>
            <a:ext cx="11682617" cy="6287327"/>
            <a:chOff x="0" y="0"/>
            <a:chExt cx="13522835" cy="72776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522835" cy="7277692"/>
            </a:xfrm>
            <a:custGeom>
              <a:avLst/>
              <a:gdLst/>
              <a:ahLst/>
              <a:cxnLst/>
              <a:rect l="l" t="t" r="r" b="b"/>
              <a:pathLst>
                <a:path w="13522835" h="7277692">
                  <a:moveTo>
                    <a:pt x="0" y="323453"/>
                  </a:moveTo>
                  <a:cubicBezTo>
                    <a:pt x="0" y="144760"/>
                    <a:pt x="319732" y="0"/>
                    <a:pt x="714414" y="0"/>
                  </a:cubicBezTo>
                  <a:lnTo>
                    <a:pt x="12808422" y="0"/>
                  </a:lnTo>
                  <a:cubicBezTo>
                    <a:pt x="13203104" y="0"/>
                    <a:pt x="13522835" y="144760"/>
                    <a:pt x="13522835" y="323453"/>
                  </a:cubicBezTo>
                  <a:lnTo>
                    <a:pt x="13522835" y="6954239"/>
                  </a:lnTo>
                  <a:cubicBezTo>
                    <a:pt x="13522835" y="7132932"/>
                    <a:pt x="13203104" y="7277692"/>
                    <a:pt x="12808422" y="7277692"/>
                  </a:cubicBezTo>
                  <a:lnTo>
                    <a:pt x="714414" y="7277692"/>
                  </a:lnTo>
                  <a:cubicBezTo>
                    <a:pt x="319732" y="7277692"/>
                    <a:pt x="0" y="7132933"/>
                    <a:pt x="0" y="6954239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8487" y="4183284"/>
            <a:ext cx="992915" cy="99291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567A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3"/>
                </a:lnSpc>
              </a:pPr>
              <a:endParaRPr lang="es-CL" noProof="0"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780497" y="4343434"/>
            <a:ext cx="628896" cy="672616"/>
          </a:xfrm>
          <a:custGeom>
            <a:avLst/>
            <a:gdLst/>
            <a:ahLst/>
            <a:cxnLst/>
            <a:rect l="l" t="t" r="r" b="b"/>
            <a:pathLst>
              <a:path w="628896" h="672616">
                <a:moveTo>
                  <a:pt x="0" y="0"/>
                </a:moveTo>
                <a:lnTo>
                  <a:pt x="628895" y="0"/>
                </a:lnTo>
                <a:lnTo>
                  <a:pt x="628895" y="672615"/>
                </a:lnTo>
                <a:lnTo>
                  <a:pt x="0" y="6726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12" name="Group 12"/>
          <p:cNvGrpSpPr/>
          <p:nvPr/>
        </p:nvGrpSpPr>
        <p:grpSpPr>
          <a:xfrm>
            <a:off x="598487" y="5331325"/>
            <a:ext cx="4892930" cy="1021490"/>
            <a:chOff x="0" y="0"/>
            <a:chExt cx="6523907" cy="136198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252785" y="107343"/>
              <a:ext cx="944102" cy="1091447"/>
            </a:xfrm>
            <a:custGeom>
              <a:avLst/>
              <a:gdLst/>
              <a:ahLst/>
              <a:cxnLst/>
              <a:rect l="l" t="t" r="r" b="b"/>
              <a:pathLst>
                <a:path w="944102" h="1091447">
                  <a:moveTo>
                    <a:pt x="0" y="0"/>
                  </a:moveTo>
                  <a:lnTo>
                    <a:pt x="944102" y="0"/>
                  </a:lnTo>
                  <a:lnTo>
                    <a:pt x="944102" y="1091448"/>
                  </a:lnTo>
                  <a:lnTo>
                    <a:pt x="0" y="1091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39787" y="173689"/>
              <a:ext cx="4984120" cy="1188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Diagramas y mockups por modulo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499039" y="8854780"/>
            <a:ext cx="4461665" cy="992915"/>
            <a:chOff x="0" y="0"/>
            <a:chExt cx="5948887" cy="1323887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46110" y="225455"/>
              <a:ext cx="949177" cy="949177"/>
            </a:xfrm>
            <a:custGeom>
              <a:avLst/>
              <a:gdLst/>
              <a:ahLst/>
              <a:cxnLst/>
              <a:rect l="l" t="t" r="r" b="b"/>
              <a:pathLst>
                <a:path w="949177" h="949177">
                  <a:moveTo>
                    <a:pt x="0" y="0"/>
                  </a:moveTo>
                  <a:lnTo>
                    <a:pt x="949177" y="0"/>
                  </a:lnTo>
                  <a:lnTo>
                    <a:pt x="949177" y="949177"/>
                  </a:lnTo>
                  <a:lnTo>
                    <a:pt x="0" y="949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4387" y="382120"/>
              <a:ext cx="4434501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Incremento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84512" y="4222889"/>
            <a:ext cx="4620735" cy="992915"/>
            <a:chOff x="0" y="0"/>
            <a:chExt cx="6160980" cy="1323887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128658" y="139700"/>
              <a:ext cx="991937" cy="848106"/>
            </a:xfrm>
            <a:custGeom>
              <a:avLst/>
              <a:gdLst/>
              <a:ahLst/>
              <a:cxnLst/>
              <a:rect l="l" t="t" r="r" b="b"/>
              <a:pathLst>
                <a:path w="991937" h="848106">
                  <a:moveTo>
                    <a:pt x="0" y="0"/>
                  </a:moveTo>
                  <a:lnTo>
                    <a:pt x="991936" y="0"/>
                  </a:lnTo>
                  <a:lnTo>
                    <a:pt x="991936" y="848106"/>
                  </a:lnTo>
                  <a:lnTo>
                    <a:pt x="0" y="848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51669" y="242153"/>
              <a:ext cx="470931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Logs de impedimentos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84512" y="5359900"/>
            <a:ext cx="5018183" cy="992915"/>
            <a:chOff x="0" y="0"/>
            <a:chExt cx="6690911" cy="1323887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138540" y="110974"/>
              <a:ext cx="1046806" cy="1046806"/>
            </a:xfrm>
            <a:custGeom>
              <a:avLst/>
              <a:gdLst/>
              <a:ahLst/>
              <a:cxnLst/>
              <a:rect l="l" t="t" r="r" b="b"/>
              <a:pathLst>
                <a:path w="1046806" h="1046806">
                  <a:moveTo>
                    <a:pt x="0" y="0"/>
                  </a:moveTo>
                  <a:lnTo>
                    <a:pt x="1046806" y="0"/>
                  </a:lnTo>
                  <a:lnTo>
                    <a:pt x="1046806" y="1046806"/>
                  </a:lnTo>
                  <a:lnTo>
                    <a:pt x="0" y="1046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50279" y="66524"/>
              <a:ext cx="5040632" cy="1188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Descripción del proyecto APT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8487" y="6520970"/>
            <a:ext cx="4639198" cy="992915"/>
            <a:chOff x="0" y="0"/>
            <a:chExt cx="6185597" cy="1323887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247135" y="148060"/>
              <a:ext cx="829617" cy="970313"/>
            </a:xfrm>
            <a:custGeom>
              <a:avLst/>
              <a:gdLst/>
              <a:ahLst/>
              <a:cxnLst/>
              <a:rect l="l" t="t" r="r" b="b"/>
              <a:pathLst>
                <a:path w="829617" h="970313">
                  <a:moveTo>
                    <a:pt x="0" y="0"/>
                  </a:moveTo>
                  <a:lnTo>
                    <a:pt x="829617" y="0"/>
                  </a:lnTo>
                  <a:lnTo>
                    <a:pt x="829617" y="970313"/>
                  </a:lnTo>
                  <a:lnTo>
                    <a:pt x="0" y="970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76287" y="49483"/>
              <a:ext cx="4709310" cy="1188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Modelo de Base de Datos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499039" y="5146712"/>
            <a:ext cx="5106730" cy="992915"/>
            <a:chOff x="0" y="0"/>
            <a:chExt cx="6808973" cy="1323887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159195" y="175389"/>
              <a:ext cx="1041438" cy="947709"/>
            </a:xfrm>
            <a:custGeom>
              <a:avLst/>
              <a:gdLst/>
              <a:ahLst/>
              <a:cxnLst/>
              <a:rect l="l" t="t" r="r" b="b"/>
              <a:pathLst>
                <a:path w="1041438" h="947709">
                  <a:moveTo>
                    <a:pt x="0" y="0"/>
                  </a:moveTo>
                  <a:lnTo>
                    <a:pt x="1041438" y="0"/>
                  </a:lnTo>
                  <a:lnTo>
                    <a:pt x="1041438" y="947709"/>
                  </a:lnTo>
                  <a:lnTo>
                    <a:pt x="0" y="947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24853" y="267820"/>
              <a:ext cx="498412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backlog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98487" y="8854780"/>
            <a:ext cx="4892930" cy="992915"/>
            <a:chOff x="0" y="0"/>
            <a:chExt cx="6523907" cy="1323887"/>
          </a:xfrm>
        </p:grpSpPr>
        <p:grpSp>
          <p:nvGrpSpPr>
            <p:cNvPr id="49" name="Group 49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52" name="Freeform 52"/>
            <p:cNvSpPr/>
            <p:nvPr/>
          </p:nvSpPr>
          <p:spPr>
            <a:xfrm>
              <a:off x="126622" y="205621"/>
              <a:ext cx="1070643" cy="1054583"/>
            </a:xfrm>
            <a:custGeom>
              <a:avLst/>
              <a:gdLst/>
              <a:ahLst/>
              <a:cxnLst/>
              <a:rect l="l" t="t" r="r" b="b"/>
              <a:pathLst>
                <a:path w="1070643" h="1054583">
                  <a:moveTo>
                    <a:pt x="0" y="0"/>
                  </a:moveTo>
                  <a:lnTo>
                    <a:pt x="1070643" y="0"/>
                  </a:lnTo>
                  <a:lnTo>
                    <a:pt x="1070643" y="1054584"/>
                  </a:lnTo>
                  <a:lnTo>
                    <a:pt x="0" y="10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39787" y="92883"/>
              <a:ext cx="4984120" cy="1188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Plan de pruebas ejecutado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84512" y="6647393"/>
            <a:ext cx="4686823" cy="992915"/>
            <a:chOff x="0" y="0"/>
            <a:chExt cx="6249097" cy="1323887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58" name="Freeform 58"/>
            <p:cNvSpPr/>
            <p:nvPr/>
          </p:nvSpPr>
          <p:spPr>
            <a:xfrm>
              <a:off x="194776" y="138540"/>
              <a:ext cx="975835" cy="1066487"/>
            </a:xfrm>
            <a:custGeom>
              <a:avLst/>
              <a:gdLst/>
              <a:ahLst/>
              <a:cxnLst/>
              <a:rect l="l" t="t" r="r" b="b"/>
              <a:pathLst>
                <a:path w="975835" h="1066487">
                  <a:moveTo>
                    <a:pt x="0" y="0"/>
                  </a:moveTo>
                  <a:lnTo>
                    <a:pt x="975836" y="0"/>
                  </a:lnTo>
                  <a:lnTo>
                    <a:pt x="975836" y="1066487"/>
                  </a:lnTo>
                  <a:lnTo>
                    <a:pt x="0" y="1066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539787" y="110189"/>
              <a:ext cx="4709310" cy="1188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Producto Mínimo Viable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17537" y="7709465"/>
            <a:ext cx="4620148" cy="992915"/>
            <a:chOff x="0" y="0"/>
            <a:chExt cx="6160197" cy="1323887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64" name="Freeform 64"/>
            <p:cNvSpPr/>
            <p:nvPr/>
          </p:nvSpPr>
          <p:spPr>
            <a:xfrm>
              <a:off x="158459" y="171638"/>
              <a:ext cx="1037684" cy="980611"/>
            </a:xfrm>
            <a:custGeom>
              <a:avLst/>
              <a:gdLst/>
              <a:ahLst/>
              <a:cxnLst/>
              <a:rect l="l" t="t" r="r" b="b"/>
              <a:pathLst>
                <a:path w="1037684" h="980611">
                  <a:moveTo>
                    <a:pt x="0" y="0"/>
                  </a:moveTo>
                  <a:lnTo>
                    <a:pt x="1037684" y="0"/>
                  </a:lnTo>
                  <a:lnTo>
                    <a:pt x="1037684" y="980611"/>
                  </a:lnTo>
                  <a:lnTo>
                    <a:pt x="0" y="98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450887" y="331320"/>
              <a:ext cx="470931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Arquitectura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499039" y="3943983"/>
            <a:ext cx="5106730" cy="992915"/>
            <a:chOff x="0" y="0"/>
            <a:chExt cx="6808973" cy="1323887"/>
          </a:xfrm>
        </p:grpSpPr>
        <p:grpSp>
          <p:nvGrpSpPr>
            <p:cNvPr id="67" name="Group 67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70" name="Freeform 70"/>
            <p:cNvSpPr/>
            <p:nvPr/>
          </p:nvSpPr>
          <p:spPr>
            <a:xfrm>
              <a:off x="159195" y="175389"/>
              <a:ext cx="1041438" cy="947709"/>
            </a:xfrm>
            <a:custGeom>
              <a:avLst/>
              <a:gdLst/>
              <a:ahLst/>
              <a:cxnLst/>
              <a:rect l="l" t="t" r="r" b="b"/>
              <a:pathLst>
                <a:path w="1041438" h="947709">
                  <a:moveTo>
                    <a:pt x="0" y="0"/>
                  </a:moveTo>
                  <a:lnTo>
                    <a:pt x="1041438" y="0"/>
                  </a:lnTo>
                  <a:lnTo>
                    <a:pt x="1041438" y="947709"/>
                  </a:lnTo>
                  <a:lnTo>
                    <a:pt x="0" y="947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824853" y="267820"/>
              <a:ext cx="498412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 err="1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</a:t>
              </a: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 backlog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499039" y="6352815"/>
            <a:ext cx="5106730" cy="992915"/>
            <a:chOff x="0" y="0"/>
            <a:chExt cx="6808973" cy="1323887"/>
          </a:xfrm>
        </p:grpSpPr>
        <p:grpSp>
          <p:nvGrpSpPr>
            <p:cNvPr id="73" name="Group 73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76" name="Freeform 76"/>
            <p:cNvSpPr/>
            <p:nvPr/>
          </p:nvSpPr>
          <p:spPr>
            <a:xfrm>
              <a:off x="159195" y="175389"/>
              <a:ext cx="1041438" cy="947709"/>
            </a:xfrm>
            <a:custGeom>
              <a:avLst/>
              <a:gdLst/>
              <a:ahLst/>
              <a:cxnLst/>
              <a:rect l="l" t="t" r="r" b="b"/>
              <a:pathLst>
                <a:path w="1041438" h="947709">
                  <a:moveTo>
                    <a:pt x="0" y="0"/>
                  </a:moveTo>
                  <a:lnTo>
                    <a:pt x="1041438" y="0"/>
                  </a:lnTo>
                  <a:lnTo>
                    <a:pt x="1041438" y="947709"/>
                  </a:lnTo>
                  <a:lnTo>
                    <a:pt x="0" y="947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824853" y="267820"/>
              <a:ext cx="498412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Sprint Retrospective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499039" y="7640308"/>
            <a:ext cx="5106730" cy="992915"/>
            <a:chOff x="0" y="0"/>
            <a:chExt cx="6808973" cy="1323887"/>
          </a:xfrm>
        </p:grpSpPr>
        <p:grpSp>
          <p:nvGrpSpPr>
            <p:cNvPr id="79" name="Group 79"/>
            <p:cNvGrpSpPr/>
            <p:nvPr/>
          </p:nvGrpSpPr>
          <p:grpSpPr>
            <a:xfrm>
              <a:off x="0" y="0"/>
              <a:ext cx="1323887" cy="1323887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B567A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3"/>
                  </a:lnSpc>
                </a:pPr>
                <a:endParaRPr lang="es-CL" noProof="0" dirty="0"/>
              </a:p>
            </p:txBody>
          </p:sp>
        </p:grpSp>
        <p:sp>
          <p:nvSpPr>
            <p:cNvPr id="82" name="Freeform 82"/>
            <p:cNvSpPr/>
            <p:nvPr/>
          </p:nvSpPr>
          <p:spPr>
            <a:xfrm>
              <a:off x="159195" y="175389"/>
              <a:ext cx="1041438" cy="947709"/>
            </a:xfrm>
            <a:custGeom>
              <a:avLst/>
              <a:gdLst/>
              <a:ahLst/>
              <a:cxnLst/>
              <a:rect l="l" t="t" r="r" b="b"/>
              <a:pathLst>
                <a:path w="1041438" h="947709">
                  <a:moveTo>
                    <a:pt x="0" y="0"/>
                  </a:moveTo>
                  <a:lnTo>
                    <a:pt x="1041438" y="0"/>
                  </a:lnTo>
                  <a:lnTo>
                    <a:pt x="1041438" y="947709"/>
                  </a:lnTo>
                  <a:lnTo>
                    <a:pt x="0" y="947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824853" y="267820"/>
              <a:ext cx="4984120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s-CL" sz="2599" noProof="0" dirty="0" err="1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Burndown</a:t>
              </a:r>
              <a:r>
                <a:rPr lang="es-CL" sz="2599" noProof="0" dirty="0">
                  <a:solidFill>
                    <a:srgbClr val="3B567A"/>
                  </a:solidFill>
                  <a:latin typeface="Open Sans"/>
                  <a:ea typeface="Open Sans"/>
                  <a:cs typeface="Open Sans"/>
                  <a:sym typeface="Open Sans"/>
                </a:rPr>
                <a:t> Chart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24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694889" y="4466616"/>
            <a:ext cx="3738090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Repositorio en </a:t>
            </a:r>
            <a:r>
              <a:rPr lang="es-CL" sz="2599" noProof="0" dirty="0" err="1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Github</a:t>
            </a:r>
            <a:endParaRPr lang="es-CL" sz="2599" noProof="0" dirty="0">
              <a:solidFill>
                <a:srgbClr val="3B567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12278246" y="3090543"/>
            <a:ext cx="2023079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Scrum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80203" y="3090543"/>
            <a:ext cx="2023079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General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Box 3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01557" y="861085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 err="1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Sprints</a:t>
            </a:r>
            <a:endParaRPr lang="es-CL" sz="8000" b="1" noProof="0" dirty="0">
              <a:solidFill>
                <a:srgbClr val="3B567A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90864" y="2404135"/>
            <a:ext cx="1118485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0 — Requisitos, Arquitectura y </a:t>
            </a:r>
            <a:r>
              <a:rPr lang="es-CL" sz="3293" b="1" noProof="0" dirty="0" err="1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Setup</a:t>
            </a: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Base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0864" y="3119622"/>
            <a:ext cx="14264060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Definición de requerimientos, arquitectura y configuración inicial del proyecto.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0864" y="3992112"/>
            <a:ext cx="1118485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1 — Flujo Base con Notificaciones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0864" y="4707599"/>
            <a:ext cx="12844559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Desarrollo del flujo principal de solicitudes y sistema de notificaciones.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0864" y="5580090"/>
            <a:ext cx="1118485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2 — Flujos Configurables y Motor RBAC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0864" y="6295577"/>
            <a:ext cx="12844559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Implementación de flujos configurables y gestión de roles y permisos.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0864" y="7168067"/>
            <a:ext cx="1118485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3 — Plantillas Dinámicas e IA en Flujos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0864" y="7883554"/>
            <a:ext cx="1536302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Incorporación de plantillas dinámicas y funcionalidades de IA para apoyar los flujos.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0864" y="8756044"/>
            <a:ext cx="1118485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1"/>
              </a:lnSpc>
              <a:spcBef>
                <a:spcPct val="0"/>
              </a:spcBef>
            </a:pPr>
            <a:r>
              <a:rPr lang="es-CL" sz="3293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Cierre Formal Flujos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0864" y="9470419"/>
            <a:ext cx="14401431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s-CL" sz="3099" noProof="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Corrección de errores, revisión con el cliente, entrega y defensa del proyecto.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617777" y="2570490"/>
            <a:ext cx="7403821" cy="650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6"/>
              </a:lnSpc>
              <a:spcBef>
                <a:spcPct val="0"/>
              </a:spcBef>
            </a:pPr>
            <a:r>
              <a:rPr lang="es-CL" sz="4205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Cronograma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623359" y="-1963677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4633673" y="0"/>
            <a:ext cx="13654327" cy="10287000"/>
          </a:xfrm>
          <a:custGeom>
            <a:avLst/>
            <a:gdLst/>
            <a:ahLst/>
            <a:cxnLst/>
            <a:rect l="l" t="t" r="r" b="b"/>
            <a:pathLst>
              <a:path w="13654327" h="10287000">
                <a:moveTo>
                  <a:pt x="0" y="0"/>
                </a:moveTo>
                <a:lnTo>
                  <a:pt x="13654327" y="0"/>
                </a:lnTo>
                <a:lnTo>
                  <a:pt x="1365432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Box 5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334" y="3581083"/>
            <a:ext cx="1426533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 Conclusión</a:t>
            </a:r>
          </a:p>
        </p:txBody>
      </p:sp>
      <p:sp>
        <p:nvSpPr>
          <p:cNvPr id="3" name="Freeform 3"/>
          <p:cNvSpPr/>
          <p:nvPr/>
        </p:nvSpPr>
        <p:spPr>
          <a:xfrm rot="9142812">
            <a:off x="-2583699" y="5889479"/>
            <a:ext cx="4709171" cy="6065677"/>
          </a:xfrm>
          <a:custGeom>
            <a:avLst/>
            <a:gdLst/>
            <a:ahLst/>
            <a:cxnLst/>
            <a:rect l="l" t="t" r="r" b="b"/>
            <a:pathLst>
              <a:path w="4709171" h="6065677">
                <a:moveTo>
                  <a:pt x="0" y="0"/>
                </a:moveTo>
                <a:lnTo>
                  <a:pt x="4709171" y="0"/>
                </a:lnTo>
                <a:lnTo>
                  <a:pt x="4709171" y="6065677"/>
                </a:lnTo>
                <a:lnTo>
                  <a:pt x="0" y="606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rot="-2481050">
            <a:off x="16538277" y="-1098609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 rot="-8769296">
            <a:off x="-914399" y="-1062564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Freeform 6"/>
          <p:cNvSpPr/>
          <p:nvPr/>
        </p:nvSpPr>
        <p:spPr>
          <a:xfrm rot="-8769296">
            <a:off x="16342785" y="7723543"/>
            <a:ext cx="3415397" cy="4399223"/>
          </a:xfrm>
          <a:custGeom>
            <a:avLst/>
            <a:gdLst/>
            <a:ahLst/>
            <a:cxnLst/>
            <a:rect l="l" t="t" r="r" b="b"/>
            <a:pathLst>
              <a:path w="3415397" h="4399223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Box 7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1557" y="1355332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Conclusión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-629602" y="-1756079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2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2" y="0"/>
                </a:lnTo>
                <a:lnTo>
                  <a:pt x="4223722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>
            <a:off x="16279176" y="0"/>
            <a:ext cx="2008824" cy="2230954"/>
          </a:xfrm>
          <a:custGeom>
            <a:avLst/>
            <a:gdLst/>
            <a:ahLst/>
            <a:cxnLst/>
            <a:rect l="l" t="t" r="r" b="b"/>
            <a:pathLst>
              <a:path w="2008824" h="2230954">
                <a:moveTo>
                  <a:pt x="0" y="0"/>
                </a:moveTo>
                <a:lnTo>
                  <a:pt x="2008824" y="0"/>
                </a:lnTo>
                <a:lnTo>
                  <a:pt x="2008824" y="2230954"/>
                </a:lnTo>
                <a:lnTo>
                  <a:pt x="0" y="223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Box 5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28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08556" y="2791738"/>
            <a:ext cx="5582429" cy="6466562"/>
            <a:chOff x="0" y="0"/>
            <a:chExt cx="6461760" cy="7485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61760" cy="7485159"/>
            </a:xfrm>
            <a:custGeom>
              <a:avLst/>
              <a:gdLst/>
              <a:ahLst/>
              <a:cxnLst/>
              <a:rect l="l" t="t" r="r" b="b"/>
              <a:pathLst>
                <a:path w="6461760" h="7485159">
                  <a:moveTo>
                    <a:pt x="0" y="332674"/>
                  </a:moveTo>
                  <a:cubicBezTo>
                    <a:pt x="0" y="148886"/>
                    <a:pt x="152781" y="0"/>
                    <a:pt x="341376" y="0"/>
                  </a:cubicBezTo>
                  <a:lnTo>
                    <a:pt x="6120384" y="0"/>
                  </a:lnTo>
                  <a:cubicBezTo>
                    <a:pt x="6308979" y="0"/>
                    <a:pt x="6461760" y="148886"/>
                    <a:pt x="6461760" y="332674"/>
                  </a:cubicBezTo>
                  <a:lnTo>
                    <a:pt x="6461760" y="7152485"/>
                  </a:lnTo>
                  <a:cubicBezTo>
                    <a:pt x="6461760" y="7336272"/>
                    <a:pt x="6308979" y="7485159"/>
                    <a:pt x="6120384" y="7485159"/>
                  </a:cubicBezTo>
                  <a:lnTo>
                    <a:pt x="341376" y="7485159"/>
                  </a:lnTo>
                  <a:cubicBezTo>
                    <a:pt x="152781" y="7485159"/>
                    <a:pt x="0" y="7336273"/>
                    <a:pt x="0" y="7152485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32581" y="2782213"/>
            <a:ext cx="5582429" cy="6476087"/>
            <a:chOff x="0" y="0"/>
            <a:chExt cx="6461760" cy="74961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61760" cy="7496184"/>
            </a:xfrm>
            <a:custGeom>
              <a:avLst/>
              <a:gdLst/>
              <a:ahLst/>
              <a:cxnLst/>
              <a:rect l="l" t="t" r="r" b="b"/>
              <a:pathLst>
                <a:path w="6461760" h="7496184">
                  <a:moveTo>
                    <a:pt x="0" y="333164"/>
                  </a:moveTo>
                  <a:cubicBezTo>
                    <a:pt x="0" y="149106"/>
                    <a:pt x="152781" y="0"/>
                    <a:pt x="341376" y="0"/>
                  </a:cubicBezTo>
                  <a:lnTo>
                    <a:pt x="6120384" y="0"/>
                  </a:lnTo>
                  <a:cubicBezTo>
                    <a:pt x="6308979" y="0"/>
                    <a:pt x="6461760" y="149106"/>
                    <a:pt x="6461760" y="333164"/>
                  </a:cubicBezTo>
                  <a:lnTo>
                    <a:pt x="6461760" y="7163021"/>
                  </a:lnTo>
                  <a:cubicBezTo>
                    <a:pt x="6461760" y="7347079"/>
                    <a:pt x="6308979" y="7496184"/>
                    <a:pt x="6120384" y="7496184"/>
                  </a:cubicBezTo>
                  <a:lnTo>
                    <a:pt x="341376" y="7496184"/>
                  </a:lnTo>
                  <a:cubicBezTo>
                    <a:pt x="152781" y="7496184"/>
                    <a:pt x="0" y="7347079"/>
                    <a:pt x="0" y="7163021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29335" y="2782213"/>
            <a:ext cx="5582429" cy="6476087"/>
            <a:chOff x="0" y="0"/>
            <a:chExt cx="6461760" cy="74961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61760" cy="7496184"/>
            </a:xfrm>
            <a:custGeom>
              <a:avLst/>
              <a:gdLst/>
              <a:ahLst/>
              <a:cxnLst/>
              <a:rect l="l" t="t" r="r" b="b"/>
              <a:pathLst>
                <a:path w="6461760" h="7496184">
                  <a:moveTo>
                    <a:pt x="0" y="333164"/>
                  </a:moveTo>
                  <a:cubicBezTo>
                    <a:pt x="0" y="149106"/>
                    <a:pt x="152781" y="0"/>
                    <a:pt x="341376" y="0"/>
                  </a:cubicBezTo>
                  <a:lnTo>
                    <a:pt x="6120384" y="0"/>
                  </a:lnTo>
                  <a:cubicBezTo>
                    <a:pt x="6308979" y="0"/>
                    <a:pt x="6461760" y="149106"/>
                    <a:pt x="6461760" y="333164"/>
                  </a:cubicBezTo>
                  <a:lnTo>
                    <a:pt x="6461760" y="7163021"/>
                  </a:lnTo>
                  <a:cubicBezTo>
                    <a:pt x="6461760" y="7347079"/>
                    <a:pt x="6308979" y="7496184"/>
                    <a:pt x="6120384" y="7496184"/>
                  </a:cubicBezTo>
                  <a:lnTo>
                    <a:pt x="341376" y="7496184"/>
                  </a:lnTo>
                  <a:cubicBezTo>
                    <a:pt x="152781" y="7496184"/>
                    <a:pt x="0" y="7347079"/>
                    <a:pt x="0" y="7163021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618682" y="3410165"/>
            <a:ext cx="6669318" cy="56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5"/>
              </a:lnSpc>
              <a:spcBef>
                <a:spcPct val="0"/>
              </a:spcBef>
            </a:pPr>
            <a:r>
              <a:rPr lang="es-CL" sz="3788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Nicolas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09341" y="3410165"/>
            <a:ext cx="6669318" cy="56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5"/>
              </a:lnSpc>
              <a:spcBef>
                <a:spcPct val="0"/>
              </a:spcBef>
            </a:pPr>
            <a:r>
              <a:rPr lang="es-CL" sz="3788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Eduardo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3410165"/>
            <a:ext cx="6669318" cy="56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45"/>
              </a:lnSpc>
              <a:spcBef>
                <a:spcPct val="0"/>
              </a:spcBef>
            </a:pPr>
            <a:r>
              <a:rPr lang="es-CL" sz="3788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Kevin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1759" y="4333568"/>
            <a:ext cx="4967582" cy="319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En este proyecto he podido aplicar mis conocimientos en un entorno real, aprendiendo a transformar las necesidades de un cliente en una solución tecnológica, aprendiendo a usar nuevas tecnologías.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16687" y="4176851"/>
            <a:ext cx="5195077" cy="364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Gracias a este proyecto pude entender mejor como se trabaja con un cliente y como sus necesidades se pueden transformar en una buena solución, también aprendí a trabajar de forma ordenada con mi equipo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0004" y="4333568"/>
            <a:ext cx="4967582" cy="364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s-CL" sz="2599" noProof="0" dirty="0">
                <a:solidFill>
                  <a:srgbClr val="3B567A"/>
                </a:solidFill>
                <a:latin typeface="Open Sans"/>
                <a:ea typeface="Open Sans"/>
                <a:cs typeface="Open Sans"/>
                <a:sym typeface="Open Sans"/>
              </a:rPr>
              <a:t>Con este proyecto tengo la oportunidad de consolidar mis habilidades construyendo un sistema que resuelve una necesidad real, incorporando además tecnología de vanguardia mediante la integración de 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1557" y="3258481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s-CL" sz="8000" b="1" noProof="0" dirty="0">
                <a:solidFill>
                  <a:srgbClr val="3B56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¡Gracias por su atención!</a:t>
            </a:r>
          </a:p>
        </p:txBody>
      </p:sp>
      <p:sp>
        <p:nvSpPr>
          <p:cNvPr id="3" name="Freeform 3"/>
          <p:cNvSpPr/>
          <p:nvPr/>
        </p:nvSpPr>
        <p:spPr>
          <a:xfrm rot="-10708336">
            <a:off x="-2226892" y="1406711"/>
            <a:ext cx="3194581" cy="4114800"/>
          </a:xfrm>
          <a:custGeom>
            <a:avLst/>
            <a:gdLst/>
            <a:ahLst/>
            <a:cxnLst/>
            <a:rect l="l" t="t" r="r" b="b"/>
            <a:pathLst>
              <a:path w="3194581" h="4114800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" name="Freeform 4"/>
          <p:cNvSpPr/>
          <p:nvPr/>
        </p:nvSpPr>
        <p:spPr>
          <a:xfrm flipH="1" flipV="1">
            <a:off x="-629602" y="-1756079"/>
            <a:ext cx="4223721" cy="4223721"/>
          </a:xfrm>
          <a:custGeom>
            <a:avLst/>
            <a:gdLst/>
            <a:ahLst/>
            <a:cxnLst/>
            <a:rect l="l" t="t" r="r" b="b"/>
            <a:pathLst>
              <a:path w="4223721" h="4223721">
                <a:moveTo>
                  <a:pt x="4223722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2" y="0"/>
                </a:lnTo>
                <a:lnTo>
                  <a:pt x="4223722" y="4223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" name="Freeform 5"/>
          <p:cNvSpPr/>
          <p:nvPr/>
        </p:nvSpPr>
        <p:spPr>
          <a:xfrm>
            <a:off x="7383791" y="4314720"/>
            <a:ext cx="3520418" cy="3909696"/>
          </a:xfrm>
          <a:custGeom>
            <a:avLst/>
            <a:gdLst/>
            <a:ahLst/>
            <a:cxnLst/>
            <a:rect l="l" t="t" r="r" b="b"/>
            <a:pathLst>
              <a:path w="3520418" h="3909696">
                <a:moveTo>
                  <a:pt x="0" y="0"/>
                </a:moveTo>
                <a:lnTo>
                  <a:pt x="3520418" y="0"/>
                </a:lnTo>
                <a:lnTo>
                  <a:pt x="3520418" y="3909695"/>
                </a:lnTo>
                <a:lnTo>
                  <a:pt x="0" y="3909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280203" y="461407"/>
            <a:ext cx="14969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  <a:spcBef>
                <a:spcPct val="0"/>
              </a:spcBef>
            </a:pPr>
            <a:r>
              <a:rPr lang="es-CL" sz="6800" b="1" noProof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911</Words>
  <Application>Microsoft Office PowerPoint</Application>
  <PresentationFormat>Custom</PresentationFormat>
  <Paragraphs>213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Raleway Bold</vt:lpstr>
      <vt:lpstr>Calibri (MS) Bold</vt:lpstr>
      <vt:lpstr>Open Sans Bold</vt:lpstr>
      <vt:lpstr>Raleway</vt:lpstr>
      <vt:lpstr>Open Sans</vt:lpstr>
      <vt:lpstr>Calibri</vt:lpstr>
      <vt:lpstr>League Spartan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proyecto capstone 25 08 2026</dc:title>
  <cp:lastModifiedBy>Eduardo K</cp:lastModifiedBy>
  <cp:revision>2</cp:revision>
  <dcterms:created xsi:type="dcterms:W3CDTF">2006-08-16T00:00:00Z</dcterms:created>
  <dcterms:modified xsi:type="dcterms:W3CDTF">2026-09-04T15:12:16Z</dcterms:modified>
  <dc:identifier>DAHTKQkrEFk</dc:identifier>
</cp:coreProperties>
</file>